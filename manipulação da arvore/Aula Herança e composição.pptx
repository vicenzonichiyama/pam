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notesMasterIdLst>
    <p:notesMasterId r:id="rId51"/>
  </p:notesMasterIdLst>
  <p:sldIdLst>
    <p:sldId id="263" r:id="rId5"/>
    <p:sldId id="271" r:id="rId6"/>
    <p:sldId id="272" r:id="rId7"/>
    <p:sldId id="613" r:id="rId8"/>
    <p:sldId id="614" r:id="rId9"/>
    <p:sldId id="615" r:id="rId10"/>
    <p:sldId id="616" r:id="rId11"/>
    <p:sldId id="617" r:id="rId12"/>
    <p:sldId id="640" r:id="rId13"/>
    <p:sldId id="643" r:id="rId14"/>
    <p:sldId id="642" r:id="rId15"/>
    <p:sldId id="652" r:id="rId16"/>
    <p:sldId id="278" r:id="rId17"/>
    <p:sldId id="279" r:id="rId18"/>
    <p:sldId id="650" r:id="rId19"/>
    <p:sldId id="619" r:id="rId20"/>
    <p:sldId id="618" r:id="rId21"/>
    <p:sldId id="280" r:id="rId22"/>
    <p:sldId id="281" r:id="rId23"/>
    <p:sldId id="632" r:id="rId24"/>
    <p:sldId id="631" r:id="rId25"/>
    <p:sldId id="651" r:id="rId26"/>
    <p:sldId id="290" r:id="rId27"/>
    <p:sldId id="634" r:id="rId28"/>
    <p:sldId id="282" r:id="rId29"/>
    <p:sldId id="283" r:id="rId30"/>
    <p:sldId id="284" r:id="rId31"/>
    <p:sldId id="638" r:id="rId32"/>
    <p:sldId id="635" r:id="rId33"/>
    <p:sldId id="621" r:id="rId34"/>
    <p:sldId id="622" r:id="rId35"/>
    <p:sldId id="623" r:id="rId36"/>
    <p:sldId id="624" r:id="rId37"/>
    <p:sldId id="625" r:id="rId38"/>
    <p:sldId id="627" r:id="rId39"/>
    <p:sldId id="628" r:id="rId40"/>
    <p:sldId id="288" r:id="rId41"/>
    <p:sldId id="644" r:id="rId42"/>
    <p:sldId id="645" r:id="rId43"/>
    <p:sldId id="646" r:id="rId44"/>
    <p:sldId id="647" r:id="rId45"/>
    <p:sldId id="648" r:id="rId46"/>
    <p:sldId id="633" r:id="rId47"/>
    <p:sldId id="285" r:id="rId48"/>
    <p:sldId id="286" r:id="rId49"/>
    <p:sldId id="287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363F2-35D9-463B-9434-DD95CD619908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203657-B93B-47A0-A988-1D3D915882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8374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354B95ED-7F7E-40C8-9123-15E22DF25971}" type="datetimeFigureOut">
              <a:rPr lang="pt-BR" smtClean="0"/>
              <a:t>21/05/2026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CF973526-B948-4FC3-A3E9-C3059ABF83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9407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8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7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4407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2"/>
            <a:ext cx="12192000" cy="6864351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475" t="-31201" b="-62954"/>
          <a:stretch/>
        </p:blipFill>
        <p:spPr>
          <a:xfrm>
            <a:off x="11176001" y="279400"/>
            <a:ext cx="711199" cy="30479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9" r:id="rId2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mailto:l.bertholdo@ifsp.edu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99E2FC07-A5E7-004D-AF47-CA34106B5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92363" y="-26516"/>
            <a:ext cx="12180721" cy="6851656"/>
          </a:xfrm>
          <a:prstGeom prst="rect">
            <a:avLst/>
          </a:prstGeom>
        </p:spPr>
      </p:pic>
      <p:pic>
        <p:nvPicPr>
          <p:cNvPr id="7" name="Imagem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0153" y="829508"/>
            <a:ext cx="4273221" cy="11494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3435EBB-3F80-A79C-CF2D-3043A7FD6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0510" y="2029952"/>
            <a:ext cx="637555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800" b="1" cap="all">
                <a:solidFill>
                  <a:srgbClr val="FF0066"/>
                </a:solidFill>
                <a:latin typeface="Gotham HTF Light"/>
                <a:cs typeface="Gotham HTF Light"/>
              </a:rPr>
              <a:t>DOMAIN DRIVEN DESIGN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A80DA0-7025-8F27-FBAD-6221DC80291E}"/>
              </a:ext>
            </a:extLst>
          </p:cNvPr>
          <p:cNvSpPr txBox="1"/>
          <p:nvPr/>
        </p:nvSpPr>
        <p:spPr>
          <a:xfrm>
            <a:off x="2096655" y="2890982"/>
            <a:ext cx="850669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spc="-15">
                <a:solidFill>
                  <a:schemeClr val="bg1"/>
                </a:solidFill>
              </a:rPr>
              <a:t>Composição e Herança</a:t>
            </a:r>
            <a:endParaRPr lang="pt-BR" sz="6600">
              <a:solidFill>
                <a:schemeClr val="bg1"/>
              </a:solidFill>
            </a:endParaRPr>
          </a:p>
          <a:p>
            <a:endParaRPr lang="en-US" sz="6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767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5005" y="416314"/>
            <a:ext cx="6529732" cy="636178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spc="-15">
                <a:solidFill>
                  <a:schemeClr val="bg1"/>
                </a:solidFill>
              </a:rPr>
              <a:t>Relacionamentos</a:t>
            </a:r>
            <a:r>
              <a:rPr spc="5">
                <a:solidFill>
                  <a:schemeClr val="bg1"/>
                </a:solidFill>
              </a:rPr>
              <a:t> </a:t>
            </a:r>
            <a:r>
              <a:rPr spc="-20">
                <a:solidFill>
                  <a:schemeClr val="bg1"/>
                </a:solidFill>
              </a:rPr>
              <a:t>entre</a:t>
            </a:r>
            <a:r>
              <a:rPr spc="-30">
                <a:solidFill>
                  <a:schemeClr val="bg1"/>
                </a:solidFill>
              </a:rPr>
              <a:t> </a:t>
            </a:r>
            <a:r>
              <a:rPr spc="-10">
                <a:solidFill>
                  <a:schemeClr val="bg1"/>
                </a:solidFill>
              </a:rPr>
              <a:t>Classes</a:t>
            </a:r>
          </a:p>
        </p:txBody>
      </p:sp>
      <p:sp>
        <p:nvSpPr>
          <p:cNvPr id="3" name="object 3"/>
          <p:cNvSpPr/>
          <p:nvPr/>
        </p:nvSpPr>
        <p:spPr>
          <a:xfrm>
            <a:off x="3063466" y="3633850"/>
            <a:ext cx="6058960" cy="507034"/>
          </a:xfrm>
          <a:custGeom>
            <a:avLst/>
            <a:gdLst/>
            <a:ahLst/>
            <a:cxnLst/>
            <a:rect l="l" t="t" r="r" b="b"/>
            <a:pathLst>
              <a:path w="6047740" h="506095">
                <a:moveTo>
                  <a:pt x="5838571" y="0"/>
                </a:moveTo>
                <a:lnTo>
                  <a:pt x="208661" y="0"/>
                </a:lnTo>
                <a:lnTo>
                  <a:pt x="160833" y="5513"/>
                </a:lnTo>
                <a:lnTo>
                  <a:pt x="116919" y="21217"/>
                </a:lnTo>
                <a:lnTo>
                  <a:pt x="78175" y="45856"/>
                </a:lnTo>
                <a:lnTo>
                  <a:pt x="45856" y="78175"/>
                </a:lnTo>
                <a:lnTo>
                  <a:pt x="21217" y="116919"/>
                </a:lnTo>
                <a:lnTo>
                  <a:pt x="5513" y="160833"/>
                </a:lnTo>
                <a:lnTo>
                  <a:pt x="0" y="208661"/>
                </a:lnTo>
                <a:lnTo>
                  <a:pt x="0" y="297307"/>
                </a:lnTo>
                <a:lnTo>
                  <a:pt x="5513" y="345134"/>
                </a:lnTo>
                <a:lnTo>
                  <a:pt x="21217" y="389048"/>
                </a:lnTo>
                <a:lnTo>
                  <a:pt x="45856" y="427792"/>
                </a:lnTo>
                <a:lnTo>
                  <a:pt x="78175" y="460111"/>
                </a:lnTo>
                <a:lnTo>
                  <a:pt x="116919" y="484750"/>
                </a:lnTo>
                <a:lnTo>
                  <a:pt x="160833" y="500454"/>
                </a:lnTo>
                <a:lnTo>
                  <a:pt x="208661" y="505968"/>
                </a:lnTo>
                <a:lnTo>
                  <a:pt x="5838571" y="505968"/>
                </a:lnTo>
                <a:lnTo>
                  <a:pt x="5886398" y="500454"/>
                </a:lnTo>
                <a:lnTo>
                  <a:pt x="5930312" y="484750"/>
                </a:lnTo>
                <a:lnTo>
                  <a:pt x="5969056" y="460111"/>
                </a:lnTo>
                <a:lnTo>
                  <a:pt x="6001375" y="427792"/>
                </a:lnTo>
                <a:lnTo>
                  <a:pt x="6026014" y="389048"/>
                </a:lnTo>
                <a:lnTo>
                  <a:pt x="6041718" y="345134"/>
                </a:lnTo>
                <a:lnTo>
                  <a:pt x="6047232" y="297307"/>
                </a:lnTo>
                <a:lnTo>
                  <a:pt x="6047232" y="208661"/>
                </a:lnTo>
                <a:lnTo>
                  <a:pt x="6041718" y="160833"/>
                </a:lnTo>
                <a:lnTo>
                  <a:pt x="6026014" y="116919"/>
                </a:lnTo>
                <a:lnTo>
                  <a:pt x="6001375" y="78175"/>
                </a:lnTo>
                <a:lnTo>
                  <a:pt x="5969056" y="45856"/>
                </a:lnTo>
                <a:lnTo>
                  <a:pt x="5930312" y="21217"/>
                </a:lnTo>
                <a:lnTo>
                  <a:pt x="5886398" y="5513"/>
                </a:lnTo>
                <a:lnTo>
                  <a:pt x="58385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4" name="object 4"/>
          <p:cNvSpPr/>
          <p:nvPr/>
        </p:nvSpPr>
        <p:spPr>
          <a:xfrm>
            <a:off x="3063466" y="5382067"/>
            <a:ext cx="6058960" cy="505762"/>
          </a:xfrm>
          <a:custGeom>
            <a:avLst/>
            <a:gdLst/>
            <a:ahLst/>
            <a:cxnLst/>
            <a:rect l="l" t="t" r="r" b="b"/>
            <a:pathLst>
              <a:path w="6047740" h="504825">
                <a:moveTo>
                  <a:pt x="5839206" y="0"/>
                </a:moveTo>
                <a:lnTo>
                  <a:pt x="208025" y="0"/>
                </a:lnTo>
                <a:lnTo>
                  <a:pt x="160313" y="5491"/>
                </a:lnTo>
                <a:lnTo>
                  <a:pt x="116521" y="21136"/>
                </a:lnTo>
                <a:lnTo>
                  <a:pt x="77897" y="45688"/>
                </a:lnTo>
                <a:lnTo>
                  <a:pt x="45686" y="77902"/>
                </a:lnTo>
                <a:lnTo>
                  <a:pt x="21136" y="116530"/>
                </a:lnTo>
                <a:lnTo>
                  <a:pt x="5491" y="160329"/>
                </a:lnTo>
                <a:lnTo>
                  <a:pt x="0" y="208051"/>
                </a:lnTo>
                <a:lnTo>
                  <a:pt x="0" y="296392"/>
                </a:lnTo>
                <a:lnTo>
                  <a:pt x="5491" y="344098"/>
                </a:lnTo>
                <a:lnTo>
                  <a:pt x="21136" y="387890"/>
                </a:lnTo>
                <a:lnTo>
                  <a:pt x="45686" y="426520"/>
                </a:lnTo>
                <a:lnTo>
                  <a:pt x="77897" y="458739"/>
                </a:lnTo>
                <a:lnTo>
                  <a:pt x="116521" y="483298"/>
                </a:lnTo>
                <a:lnTo>
                  <a:pt x="160313" y="498949"/>
                </a:lnTo>
                <a:lnTo>
                  <a:pt x="208025" y="504444"/>
                </a:lnTo>
                <a:lnTo>
                  <a:pt x="5839206" y="504444"/>
                </a:lnTo>
                <a:lnTo>
                  <a:pt x="5886918" y="498949"/>
                </a:lnTo>
                <a:lnTo>
                  <a:pt x="5930710" y="483298"/>
                </a:lnTo>
                <a:lnTo>
                  <a:pt x="5969334" y="458739"/>
                </a:lnTo>
                <a:lnTo>
                  <a:pt x="6001545" y="426520"/>
                </a:lnTo>
                <a:lnTo>
                  <a:pt x="6026095" y="387890"/>
                </a:lnTo>
                <a:lnTo>
                  <a:pt x="6041740" y="344098"/>
                </a:lnTo>
                <a:lnTo>
                  <a:pt x="6047232" y="296392"/>
                </a:lnTo>
                <a:lnTo>
                  <a:pt x="6047232" y="208051"/>
                </a:lnTo>
                <a:lnTo>
                  <a:pt x="6041740" y="160329"/>
                </a:lnTo>
                <a:lnTo>
                  <a:pt x="6026095" y="116530"/>
                </a:lnTo>
                <a:lnTo>
                  <a:pt x="6001545" y="77902"/>
                </a:lnTo>
                <a:lnTo>
                  <a:pt x="5969334" y="45688"/>
                </a:lnTo>
                <a:lnTo>
                  <a:pt x="5930710" y="21136"/>
                </a:lnTo>
                <a:lnTo>
                  <a:pt x="5886918" y="5491"/>
                </a:lnTo>
                <a:lnTo>
                  <a:pt x="58392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5" name="object 5"/>
          <p:cNvSpPr txBox="1"/>
          <p:nvPr/>
        </p:nvSpPr>
        <p:spPr>
          <a:xfrm>
            <a:off x="1825005" y="1397428"/>
            <a:ext cx="8778340" cy="4374105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365183" marR="5090" indent="-353095">
              <a:spcBef>
                <a:spcPts val="95"/>
              </a:spcBef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r>
              <a:rPr sz="2455" spc="-5">
                <a:solidFill>
                  <a:schemeClr val="bg1"/>
                </a:solidFill>
                <a:latin typeface="Calibri"/>
                <a:cs typeface="Calibri"/>
              </a:rPr>
              <a:t>Classes</a:t>
            </a:r>
            <a:r>
              <a:rPr sz="2455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55" spc="-5">
                <a:solidFill>
                  <a:schemeClr val="bg1"/>
                </a:solidFill>
                <a:latin typeface="Calibri"/>
                <a:cs typeface="Calibri"/>
              </a:rPr>
              <a:t>podem</a:t>
            </a:r>
            <a:r>
              <a:rPr sz="245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55" spc="-5">
                <a:solidFill>
                  <a:schemeClr val="bg1"/>
                </a:solidFill>
                <a:latin typeface="Calibri"/>
                <a:cs typeface="Calibri"/>
              </a:rPr>
              <a:t>se </a:t>
            </a:r>
            <a:r>
              <a:rPr sz="2455" spc="-5">
                <a:solidFill>
                  <a:srgbClr val="FF0000"/>
                </a:solidFill>
                <a:latin typeface="Calibri"/>
                <a:cs typeface="Calibri"/>
              </a:rPr>
              <a:t>relacionar</a:t>
            </a:r>
            <a:r>
              <a:rPr sz="24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5" spc="-15">
                <a:solidFill>
                  <a:srgbClr val="FF0000"/>
                </a:solidFill>
                <a:latin typeface="Calibri"/>
                <a:cs typeface="Calibri"/>
              </a:rPr>
              <a:t>entre</a:t>
            </a:r>
            <a:r>
              <a:rPr sz="2455" spc="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5" spc="-5">
                <a:solidFill>
                  <a:srgbClr val="FF0000"/>
                </a:solidFill>
                <a:latin typeface="Calibri"/>
                <a:cs typeface="Calibri"/>
              </a:rPr>
              <a:t>si</a:t>
            </a:r>
            <a:r>
              <a:rPr sz="2455" spc="-5">
                <a:solidFill>
                  <a:schemeClr val="bg1"/>
                </a:solidFill>
                <a:latin typeface="Calibri"/>
                <a:cs typeface="Calibri"/>
              </a:rPr>
              <a:t>, de</a:t>
            </a:r>
            <a:r>
              <a:rPr sz="2455" spc="-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55" spc="-5">
                <a:solidFill>
                  <a:schemeClr val="bg1"/>
                </a:solidFill>
                <a:latin typeface="Calibri"/>
                <a:cs typeface="Calibri"/>
              </a:rPr>
              <a:t>modo</a:t>
            </a:r>
            <a:r>
              <a:rPr sz="2455" spc="-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55" spc="-5">
                <a:solidFill>
                  <a:schemeClr val="bg1"/>
                </a:solidFill>
                <a:latin typeface="Calibri"/>
                <a:cs typeface="Calibri"/>
              </a:rPr>
              <a:t>que</a:t>
            </a:r>
            <a:r>
              <a:rPr sz="2455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55" spc="-5">
                <a:solidFill>
                  <a:schemeClr val="bg1"/>
                </a:solidFill>
                <a:latin typeface="Calibri"/>
                <a:cs typeface="Calibri"/>
              </a:rPr>
              <a:t>umas</a:t>
            </a:r>
            <a:r>
              <a:rPr sz="2455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55" spc="-10">
                <a:solidFill>
                  <a:schemeClr val="bg1"/>
                </a:solidFill>
                <a:latin typeface="Calibri"/>
                <a:cs typeface="Calibri"/>
              </a:rPr>
              <a:t>possam </a:t>
            </a:r>
            <a:r>
              <a:rPr sz="2455" spc="-541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55" spc="-10">
                <a:solidFill>
                  <a:schemeClr val="bg1"/>
                </a:solidFill>
                <a:latin typeface="Calibri"/>
                <a:cs typeface="Calibri"/>
              </a:rPr>
              <a:t>utilizar</a:t>
            </a:r>
            <a:r>
              <a:rPr sz="2455" spc="-2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55" spc="-5">
                <a:solidFill>
                  <a:schemeClr val="bg1"/>
                </a:solidFill>
                <a:latin typeface="Calibri"/>
                <a:cs typeface="Calibri"/>
              </a:rPr>
              <a:t>os</a:t>
            </a:r>
            <a:r>
              <a:rPr sz="2455" spc="-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55" spc="-5">
                <a:solidFill>
                  <a:schemeClr val="bg1"/>
                </a:solidFill>
                <a:latin typeface="Calibri"/>
                <a:cs typeface="Calibri"/>
              </a:rPr>
              <a:t>serviços</a:t>
            </a:r>
            <a:r>
              <a:rPr sz="2455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55" spc="-5">
                <a:solidFill>
                  <a:schemeClr val="bg1"/>
                </a:solidFill>
                <a:latin typeface="Calibri"/>
                <a:cs typeface="Calibri"/>
              </a:rPr>
              <a:t>das </a:t>
            </a:r>
            <a:r>
              <a:rPr sz="2455" spc="-15">
                <a:solidFill>
                  <a:schemeClr val="bg1"/>
                </a:solidFill>
                <a:latin typeface="Calibri"/>
                <a:cs typeface="Calibri"/>
              </a:rPr>
              <a:t>outras.</a:t>
            </a:r>
            <a:endParaRPr sz="2455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spcBef>
                <a:spcPts val="25"/>
              </a:spcBef>
              <a:buClr>
                <a:srgbClr val="204F52"/>
              </a:buClr>
              <a:buFont typeface="Symbol"/>
              <a:buChar char=""/>
            </a:pPr>
            <a:endParaRPr sz="1954">
              <a:solidFill>
                <a:schemeClr val="bg1"/>
              </a:solidFill>
              <a:latin typeface="Calibri"/>
              <a:cs typeface="Calibri"/>
            </a:endParaRPr>
          </a:p>
          <a:p>
            <a:pPr marL="365183" indent="-353095"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r>
              <a:rPr sz="2455" spc="-5">
                <a:solidFill>
                  <a:schemeClr val="bg1"/>
                </a:solidFill>
                <a:latin typeface="Calibri"/>
                <a:cs typeface="Calibri"/>
              </a:rPr>
              <a:t>Alguns</a:t>
            </a:r>
            <a:r>
              <a:rPr sz="245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55" spc="-15">
                <a:solidFill>
                  <a:schemeClr val="bg1"/>
                </a:solidFill>
                <a:latin typeface="Calibri"/>
                <a:cs typeface="Calibri"/>
              </a:rPr>
              <a:t>exemplos</a:t>
            </a:r>
            <a:r>
              <a:rPr sz="2455" spc="-5">
                <a:solidFill>
                  <a:schemeClr val="bg1"/>
                </a:solidFill>
                <a:latin typeface="Calibri"/>
                <a:cs typeface="Calibri"/>
              </a:rPr>
              <a:t> de</a:t>
            </a:r>
            <a:r>
              <a:rPr sz="2455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55" spc="-10">
                <a:solidFill>
                  <a:schemeClr val="bg1"/>
                </a:solidFill>
                <a:latin typeface="Calibri"/>
                <a:cs typeface="Calibri"/>
              </a:rPr>
              <a:t>relacionamentos:</a:t>
            </a:r>
            <a:endParaRPr sz="2455">
              <a:solidFill>
                <a:schemeClr val="bg1"/>
              </a:solidFill>
              <a:latin typeface="Calibri"/>
              <a:cs typeface="Calibri"/>
            </a:endParaRPr>
          </a:p>
          <a:p>
            <a:pPr marL="823251" lvl="1" indent="-353095">
              <a:spcBef>
                <a:spcPts val="1808"/>
              </a:spcBef>
              <a:buClr>
                <a:srgbClr val="204F52"/>
              </a:buClr>
              <a:buFont typeface="Symbol"/>
              <a:buChar char=""/>
              <a:tabLst>
                <a:tab pos="823251" algn="l"/>
                <a:tab pos="823887" algn="l"/>
              </a:tabLst>
            </a:pPr>
            <a:r>
              <a:rPr sz="2354" spc="-5">
                <a:solidFill>
                  <a:schemeClr val="bg1"/>
                </a:solidFill>
                <a:latin typeface="Calibri"/>
                <a:cs typeface="Calibri"/>
              </a:rPr>
              <a:t>Classes</a:t>
            </a:r>
            <a:r>
              <a:rPr sz="235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spc="-5">
                <a:solidFill>
                  <a:schemeClr val="bg1"/>
                </a:solidFill>
                <a:latin typeface="Calibri"/>
                <a:cs typeface="Calibri"/>
              </a:rPr>
              <a:t>podem</a:t>
            </a:r>
            <a:r>
              <a:rPr sz="2354" spc="2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b="1">
                <a:solidFill>
                  <a:srgbClr val="FF0000"/>
                </a:solidFill>
                <a:latin typeface="Calibri"/>
                <a:cs typeface="Calibri"/>
              </a:rPr>
              <a:t>ser</a:t>
            </a:r>
            <a:r>
              <a:rPr sz="2354" b="1" spc="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54" b="1" spc="-10">
                <a:solidFill>
                  <a:srgbClr val="FF0000"/>
                </a:solidFill>
                <a:latin typeface="Calibri"/>
                <a:cs typeface="Calibri"/>
              </a:rPr>
              <a:t>compostas</a:t>
            </a:r>
            <a:r>
              <a:rPr sz="2354" b="1" spc="2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54" spc="-5">
                <a:solidFill>
                  <a:schemeClr val="bg1"/>
                </a:solidFill>
                <a:latin typeface="Calibri"/>
                <a:cs typeface="Calibri"/>
              </a:rPr>
              <a:t>por</a:t>
            </a:r>
            <a:r>
              <a:rPr sz="235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spc="-15">
                <a:solidFill>
                  <a:schemeClr val="bg1"/>
                </a:solidFill>
                <a:latin typeface="Calibri"/>
                <a:cs typeface="Calibri"/>
              </a:rPr>
              <a:t>outras</a:t>
            </a:r>
            <a:r>
              <a:rPr sz="2354" spc="2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>
                <a:solidFill>
                  <a:schemeClr val="bg1"/>
                </a:solidFill>
                <a:latin typeface="Calibri"/>
                <a:cs typeface="Calibri"/>
              </a:rPr>
              <a:t>classes</a:t>
            </a:r>
            <a:r>
              <a:rPr sz="2354" spc="-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spc="-10">
                <a:solidFill>
                  <a:schemeClr val="bg1"/>
                </a:solidFill>
                <a:latin typeface="Calibri"/>
                <a:cs typeface="Calibri"/>
              </a:rPr>
              <a:t>(composição)</a:t>
            </a:r>
            <a:r>
              <a:rPr sz="2354" spc="-10">
                <a:latin typeface="Calibri"/>
                <a:cs typeface="Calibri"/>
              </a:rPr>
              <a:t>.</a:t>
            </a:r>
            <a:endParaRPr sz="2354">
              <a:latin typeface="Calibri"/>
              <a:cs typeface="Calibri"/>
            </a:endParaRPr>
          </a:p>
          <a:p>
            <a:pPr marR="38172" algn="ctr">
              <a:spcBef>
                <a:spcPts val="2364"/>
              </a:spcBef>
            </a:pPr>
            <a:r>
              <a:rPr sz="1803" i="1">
                <a:latin typeface="Calibri"/>
                <a:cs typeface="Calibri"/>
              </a:rPr>
              <a:t>Um</a:t>
            </a:r>
            <a:r>
              <a:rPr sz="1803" i="1" spc="-5">
                <a:latin typeface="Calibri"/>
                <a:cs typeface="Calibri"/>
              </a:rPr>
              <a:t> </a:t>
            </a:r>
            <a:r>
              <a:rPr sz="1803" i="1" spc="-10">
                <a:latin typeface="Calibri"/>
                <a:cs typeface="Calibri"/>
              </a:rPr>
              <a:t>objeto</a:t>
            </a:r>
            <a:r>
              <a:rPr sz="1803" i="1">
                <a:latin typeface="Calibri"/>
                <a:cs typeface="Calibri"/>
              </a:rPr>
              <a:t> </a:t>
            </a:r>
            <a:r>
              <a:rPr sz="1803" b="1" i="1" spc="-5">
                <a:latin typeface="Calibri"/>
                <a:cs typeface="Calibri"/>
              </a:rPr>
              <a:t>Cliente</a:t>
            </a:r>
            <a:r>
              <a:rPr sz="1803" b="1" i="1" spc="-15">
                <a:latin typeface="Calibri"/>
                <a:cs typeface="Calibri"/>
              </a:rPr>
              <a:t> </a:t>
            </a:r>
            <a:r>
              <a:rPr sz="1803" i="1" spc="-5">
                <a:latin typeface="Calibri"/>
                <a:cs typeface="Calibri"/>
              </a:rPr>
              <a:t>pode</a:t>
            </a:r>
            <a:r>
              <a:rPr sz="1803" i="1" spc="10">
                <a:latin typeface="Calibri"/>
                <a:cs typeface="Calibri"/>
              </a:rPr>
              <a:t> </a:t>
            </a:r>
            <a:r>
              <a:rPr sz="1803" i="1" spc="-5">
                <a:latin typeface="Calibri"/>
                <a:cs typeface="Calibri"/>
              </a:rPr>
              <a:t>ser </a:t>
            </a:r>
            <a:r>
              <a:rPr sz="1803" i="1" u="sng" spc="-1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composto</a:t>
            </a:r>
            <a:r>
              <a:rPr sz="1803" i="1" spc="20">
                <a:latin typeface="Calibri"/>
                <a:cs typeface="Calibri"/>
              </a:rPr>
              <a:t> </a:t>
            </a:r>
            <a:r>
              <a:rPr sz="1803" i="1" spc="-5">
                <a:latin typeface="Calibri"/>
                <a:cs typeface="Calibri"/>
              </a:rPr>
              <a:t>por</a:t>
            </a:r>
            <a:r>
              <a:rPr sz="1803" i="1" spc="-10">
                <a:latin typeface="Calibri"/>
                <a:cs typeface="Calibri"/>
              </a:rPr>
              <a:t> </a:t>
            </a:r>
            <a:r>
              <a:rPr sz="1803" i="1" spc="-5">
                <a:latin typeface="Calibri"/>
                <a:cs typeface="Calibri"/>
              </a:rPr>
              <a:t>um</a:t>
            </a:r>
            <a:r>
              <a:rPr sz="1803" i="1" spc="10">
                <a:latin typeface="Calibri"/>
                <a:cs typeface="Calibri"/>
              </a:rPr>
              <a:t> </a:t>
            </a:r>
            <a:r>
              <a:rPr sz="1803" i="1" spc="-10">
                <a:latin typeface="Calibri"/>
                <a:cs typeface="Calibri"/>
              </a:rPr>
              <a:t>objeto</a:t>
            </a:r>
            <a:r>
              <a:rPr sz="1803" i="1" spc="5">
                <a:latin typeface="Calibri"/>
                <a:cs typeface="Calibri"/>
              </a:rPr>
              <a:t> </a:t>
            </a:r>
            <a:r>
              <a:rPr sz="1803" b="1" i="1" spc="-10">
                <a:latin typeface="Calibri"/>
                <a:cs typeface="Calibri"/>
              </a:rPr>
              <a:t>Contato</a:t>
            </a:r>
            <a:r>
              <a:rPr sz="1803" i="1" spc="-10">
                <a:latin typeface="Calibri"/>
                <a:cs typeface="Calibri"/>
              </a:rPr>
              <a:t>.</a:t>
            </a:r>
            <a:endParaRPr sz="1803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3">
              <a:latin typeface="Calibri"/>
              <a:cs typeface="Calibri"/>
            </a:endParaRPr>
          </a:p>
          <a:p>
            <a:pPr marL="823251" marR="1277503" lvl="1" indent="-353095">
              <a:spcBef>
                <a:spcPts val="1207"/>
              </a:spcBef>
              <a:buClr>
                <a:srgbClr val="204F52"/>
              </a:buClr>
              <a:buFont typeface="Symbol"/>
              <a:buChar char=""/>
              <a:tabLst>
                <a:tab pos="823251" algn="l"/>
                <a:tab pos="823887" algn="l"/>
              </a:tabLst>
            </a:pPr>
            <a:r>
              <a:rPr sz="2354" spc="-5">
                <a:solidFill>
                  <a:schemeClr val="bg1"/>
                </a:solidFill>
                <a:latin typeface="Calibri"/>
                <a:cs typeface="Calibri"/>
              </a:rPr>
              <a:t>Classes</a:t>
            </a:r>
            <a:r>
              <a:rPr sz="2354" spc="-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spc="-5">
                <a:solidFill>
                  <a:schemeClr val="bg1"/>
                </a:solidFill>
                <a:latin typeface="Calibri"/>
                <a:cs typeface="Calibri"/>
              </a:rPr>
              <a:t>podem</a:t>
            </a:r>
            <a:r>
              <a:rPr sz="2354" spc="1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b="1">
                <a:solidFill>
                  <a:srgbClr val="FF0000"/>
                </a:solidFill>
                <a:latin typeface="Calibri"/>
                <a:cs typeface="Calibri"/>
              </a:rPr>
              <a:t>ser</a:t>
            </a:r>
            <a:r>
              <a:rPr sz="2354" b="1" spc="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54" b="1">
                <a:solidFill>
                  <a:srgbClr val="FF0000"/>
                </a:solidFill>
                <a:latin typeface="Calibri"/>
                <a:cs typeface="Calibri"/>
              </a:rPr>
              <a:t>do mesmo</a:t>
            </a:r>
            <a:r>
              <a:rPr sz="2354" b="1" spc="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54" b="1">
                <a:solidFill>
                  <a:srgbClr val="FF0000"/>
                </a:solidFill>
                <a:latin typeface="Calibri"/>
                <a:cs typeface="Calibri"/>
              </a:rPr>
              <a:t>tipo</a:t>
            </a:r>
            <a:r>
              <a:rPr sz="2354" b="1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54" spc="-5">
                <a:solidFill>
                  <a:schemeClr val="bg1"/>
                </a:solidFill>
                <a:latin typeface="Calibri"/>
                <a:cs typeface="Calibri"/>
              </a:rPr>
              <a:t>que</a:t>
            </a:r>
            <a:r>
              <a:rPr sz="2354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spc="-15">
                <a:solidFill>
                  <a:schemeClr val="bg1"/>
                </a:solidFill>
                <a:latin typeface="Calibri"/>
                <a:cs typeface="Calibri"/>
              </a:rPr>
              <a:t>outras</a:t>
            </a:r>
            <a:r>
              <a:rPr sz="2354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>
                <a:solidFill>
                  <a:schemeClr val="bg1"/>
                </a:solidFill>
                <a:latin typeface="Calibri"/>
                <a:cs typeface="Calibri"/>
              </a:rPr>
              <a:t>classes </a:t>
            </a:r>
            <a:r>
              <a:rPr sz="2354" spc="-516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spc="-10">
                <a:solidFill>
                  <a:schemeClr val="bg1"/>
                </a:solidFill>
                <a:latin typeface="Calibri"/>
                <a:cs typeface="Calibri"/>
              </a:rPr>
              <a:t>(generalização/especialização</a:t>
            </a:r>
            <a:r>
              <a:rPr sz="2354" spc="-4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spc="-5">
                <a:solidFill>
                  <a:schemeClr val="bg1"/>
                </a:solidFill>
                <a:latin typeface="Calibri"/>
                <a:cs typeface="Calibri"/>
              </a:rPr>
              <a:t>ou </a:t>
            </a:r>
            <a:r>
              <a:rPr sz="2354" spc="-10">
                <a:solidFill>
                  <a:schemeClr val="bg1"/>
                </a:solidFill>
                <a:latin typeface="Calibri"/>
                <a:cs typeface="Calibri"/>
              </a:rPr>
              <a:t>herança).</a:t>
            </a:r>
            <a:endParaRPr sz="2354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spcBef>
                <a:spcPts val="35"/>
              </a:spcBef>
            </a:pPr>
            <a:endParaRPr sz="2054">
              <a:latin typeface="Calibri"/>
              <a:cs typeface="Calibri"/>
            </a:endParaRPr>
          </a:p>
          <a:p>
            <a:pPr marR="38172" algn="ctr"/>
            <a:r>
              <a:rPr sz="1803" i="1">
                <a:latin typeface="Calibri"/>
                <a:cs typeface="Calibri"/>
              </a:rPr>
              <a:t>Um</a:t>
            </a:r>
            <a:r>
              <a:rPr sz="1803" i="1" spc="-10">
                <a:latin typeface="Calibri"/>
                <a:cs typeface="Calibri"/>
              </a:rPr>
              <a:t> objeto </a:t>
            </a:r>
            <a:r>
              <a:rPr sz="1803" b="1" i="1">
                <a:latin typeface="Calibri"/>
                <a:cs typeface="Calibri"/>
              </a:rPr>
              <a:t>Casa </a:t>
            </a:r>
            <a:r>
              <a:rPr sz="1803" i="1" u="sng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é</a:t>
            </a:r>
            <a:r>
              <a:rPr sz="1803" i="1" u="sng" spc="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3" i="1" u="sng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também</a:t>
            </a:r>
            <a:r>
              <a:rPr sz="1803" i="1">
                <a:latin typeface="Calibri"/>
                <a:cs typeface="Calibri"/>
              </a:rPr>
              <a:t> </a:t>
            </a:r>
            <a:r>
              <a:rPr sz="1803" i="1" spc="-5">
                <a:latin typeface="Calibri"/>
                <a:cs typeface="Calibri"/>
              </a:rPr>
              <a:t>um</a:t>
            </a:r>
            <a:r>
              <a:rPr sz="1803" i="1" spc="-10">
                <a:latin typeface="Calibri"/>
                <a:cs typeface="Calibri"/>
              </a:rPr>
              <a:t> objeto </a:t>
            </a:r>
            <a:r>
              <a:rPr sz="1803" b="1" i="1">
                <a:latin typeface="Calibri"/>
                <a:cs typeface="Calibri"/>
              </a:rPr>
              <a:t>Imovel</a:t>
            </a:r>
            <a:r>
              <a:rPr sz="1803" i="1">
                <a:latin typeface="Calibri"/>
                <a:cs typeface="Calibri"/>
              </a:rPr>
              <a:t>.</a:t>
            </a:r>
            <a:endParaRPr sz="1803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2172" y="1424275"/>
            <a:ext cx="10871200" cy="5245050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365183" indent="-353095">
              <a:spcBef>
                <a:spcPts val="100"/>
              </a:spcBef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Na </a:t>
            </a:r>
            <a:r>
              <a:rPr sz="2800" spc="-15" dirty="0" err="1">
                <a:solidFill>
                  <a:schemeClr val="bg1"/>
                </a:solidFill>
                <a:latin typeface="Calibri"/>
                <a:cs typeface="Calibri"/>
              </a:rPr>
              <a:t>composição</a:t>
            </a:r>
            <a:r>
              <a:rPr sz="2800" spc="-15" dirty="0">
                <a:solidFill>
                  <a:schemeClr val="bg1"/>
                </a:solidFill>
                <a:latin typeface="Calibri"/>
                <a:cs typeface="Calibri"/>
              </a:rPr>
              <a:t>,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as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entidades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são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b="1" spc="-10" dirty="0" err="1">
                <a:solidFill>
                  <a:srgbClr val="FF0000"/>
                </a:solidFill>
                <a:latin typeface="Calibri"/>
                <a:cs typeface="Calibri"/>
              </a:rPr>
              <a:t>dependentes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.</a:t>
            </a:r>
            <a:r>
              <a:rPr sz="2800" spc="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Seus </a:t>
            </a:r>
            <a:r>
              <a:rPr sz="2800" spc="-10" dirty="0" err="1">
                <a:solidFill>
                  <a:schemeClr val="bg1"/>
                </a:solidFill>
                <a:latin typeface="Calibri"/>
                <a:cs typeface="Calibri"/>
              </a:rPr>
              <a:t>objetos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0" dirty="0" err="1">
                <a:solidFill>
                  <a:schemeClr val="bg1"/>
                </a:solidFill>
                <a:latin typeface="Calibri"/>
                <a:cs typeface="Calibri"/>
              </a:rPr>
              <a:t>têm</a:t>
            </a:r>
            <a:endParaRPr sz="28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65183"/>
            <a:r>
              <a:rPr sz="2800" b="1" spc="-5" dirty="0" err="1">
                <a:solidFill>
                  <a:srgbClr val="FF0000"/>
                </a:solidFill>
                <a:latin typeface="Calibri"/>
                <a:cs typeface="Calibri"/>
              </a:rPr>
              <a:t>ciclos</a:t>
            </a:r>
            <a:r>
              <a:rPr sz="2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de </a:t>
            </a:r>
            <a:r>
              <a:rPr sz="2800" b="1" spc="-5" dirty="0" err="1">
                <a:solidFill>
                  <a:srgbClr val="FF0000"/>
                </a:solidFill>
                <a:latin typeface="Calibri"/>
                <a:cs typeface="Calibri"/>
              </a:rPr>
              <a:t>vida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 err="1">
                <a:solidFill>
                  <a:srgbClr val="FF0000"/>
                </a:solidFill>
                <a:latin typeface="Calibri"/>
                <a:cs typeface="Calibri"/>
              </a:rPr>
              <a:t>atrelados</a:t>
            </a:r>
            <a:r>
              <a:rPr sz="2800" b="1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e 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um</a:t>
            </a:r>
            <a:r>
              <a:rPr sz="2800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dos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0" dirty="0" err="1">
                <a:solidFill>
                  <a:schemeClr val="bg1"/>
                </a:solidFill>
                <a:latin typeface="Calibri"/>
                <a:cs typeface="Calibri"/>
              </a:rPr>
              <a:t>objetos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não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20" dirty="0" err="1">
                <a:solidFill>
                  <a:schemeClr val="bg1"/>
                </a:solidFill>
                <a:latin typeface="Calibri"/>
                <a:cs typeface="Calibri"/>
              </a:rPr>
              <a:t>existe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sem</a:t>
            </a:r>
            <a:r>
              <a:rPr sz="2800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o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chemeClr val="bg1"/>
                </a:solidFill>
                <a:latin typeface="Calibri"/>
                <a:cs typeface="Calibri"/>
              </a:rPr>
              <a:t>outro.</a:t>
            </a:r>
            <a:endParaRPr sz="28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65183" marR="146327" indent="-353095">
              <a:spcBef>
                <a:spcPts val="1803"/>
              </a:spcBef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O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vínculo</a:t>
            </a:r>
            <a:r>
              <a:rPr sz="2800" spc="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chemeClr val="bg1"/>
                </a:solidFill>
                <a:latin typeface="Calibri"/>
                <a:cs typeface="Calibri"/>
              </a:rPr>
              <a:t>entre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 as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entidades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 é </a:t>
            </a:r>
            <a:r>
              <a:rPr sz="2800" spc="-20" dirty="0">
                <a:solidFill>
                  <a:schemeClr val="bg1"/>
                </a:solidFill>
                <a:latin typeface="Calibri"/>
                <a:cs typeface="Calibri"/>
              </a:rPr>
              <a:t>forte,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pois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0" dirty="0" err="1">
                <a:solidFill>
                  <a:schemeClr val="bg1"/>
                </a:solidFill>
                <a:latin typeface="Calibri"/>
                <a:cs typeface="Calibri"/>
              </a:rPr>
              <a:t>existência</a:t>
            </a:r>
            <a:r>
              <a:rPr sz="2800" spc="-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do</a:t>
            </a:r>
            <a:r>
              <a:rPr sz="2800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b="1" spc="-10" dirty="0" err="1">
                <a:solidFill>
                  <a:srgbClr val="FF0000"/>
                </a:solidFill>
                <a:latin typeface="Calibri"/>
                <a:cs typeface="Calibri"/>
              </a:rPr>
              <a:t>objeto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2800" b="1" spc="-52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 err="1">
                <a:solidFill>
                  <a:srgbClr val="FF0000"/>
                </a:solidFill>
                <a:latin typeface="Calibri"/>
                <a:cs typeface="Calibri"/>
              </a:rPr>
              <a:t>parte</a:t>
            </a:r>
            <a:r>
              <a:rPr sz="2800" b="1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só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20" dirty="0" err="1">
                <a:solidFill>
                  <a:schemeClr val="bg1"/>
                </a:solidFill>
                <a:latin typeface="Calibri"/>
                <a:cs typeface="Calibri"/>
              </a:rPr>
              <a:t>faz</a:t>
            </a:r>
            <a:r>
              <a:rPr sz="2800" spc="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sentido</a:t>
            </a:r>
            <a:r>
              <a:rPr sz="2800" spc="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se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 err="1">
                <a:solidFill>
                  <a:schemeClr val="bg1"/>
                </a:solidFill>
                <a:latin typeface="Calibri"/>
                <a:cs typeface="Calibri"/>
              </a:rPr>
              <a:t>ele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0" dirty="0" err="1">
                <a:solidFill>
                  <a:schemeClr val="bg1"/>
                </a:solidFill>
                <a:latin typeface="Calibri"/>
                <a:cs typeface="Calibri"/>
              </a:rPr>
              <a:t>estiver</a:t>
            </a:r>
            <a:r>
              <a:rPr sz="2800" spc="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associado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800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um</a:t>
            </a:r>
            <a:r>
              <a:rPr sz="2800" spc="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b="1" spc="-10" dirty="0" err="1">
                <a:solidFill>
                  <a:srgbClr val="FF0000"/>
                </a:solidFill>
                <a:latin typeface="Calibri"/>
                <a:cs typeface="Calibri"/>
              </a:rPr>
              <a:t>objeto-todo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.</a:t>
            </a:r>
            <a:endParaRPr sz="28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65183" marR="180046" indent="-353095">
              <a:spcBef>
                <a:spcPts val="1803"/>
              </a:spcBef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A </a:t>
            </a:r>
            <a:r>
              <a:rPr sz="2800" spc="-10" dirty="0" err="1">
                <a:solidFill>
                  <a:schemeClr val="bg1"/>
                </a:solidFill>
                <a:latin typeface="Calibri"/>
                <a:cs typeface="Calibri"/>
              </a:rPr>
              <a:t>composição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é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implementada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 err="1">
                <a:solidFill>
                  <a:schemeClr val="bg1"/>
                </a:solidFill>
                <a:latin typeface="Calibri"/>
                <a:cs typeface="Calibri"/>
              </a:rPr>
              <a:t>incluindo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um </a:t>
            </a:r>
            <a:r>
              <a:rPr sz="2800" b="1" spc="-10" dirty="0" err="1">
                <a:solidFill>
                  <a:srgbClr val="FF0000"/>
                </a:solidFill>
                <a:latin typeface="Calibri"/>
                <a:cs typeface="Calibri"/>
              </a:rPr>
              <a:t>objeto-parte</a:t>
            </a:r>
            <a:r>
              <a:rPr sz="2800" b="1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0" dirty="0" err="1">
                <a:solidFill>
                  <a:schemeClr val="bg1"/>
                </a:solidFill>
                <a:latin typeface="Calibri"/>
                <a:cs typeface="Calibri"/>
              </a:rPr>
              <a:t>como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31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0" dirty="0" err="1">
                <a:solidFill>
                  <a:schemeClr val="bg1"/>
                </a:solidFill>
                <a:latin typeface="Calibri"/>
                <a:cs typeface="Calibri"/>
              </a:rPr>
              <a:t>atributo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de um </a:t>
            </a:r>
            <a:r>
              <a:rPr sz="2800" b="1" spc="-10" dirty="0" err="1">
                <a:solidFill>
                  <a:srgbClr val="FF0000"/>
                </a:solidFill>
                <a:latin typeface="Calibri"/>
                <a:cs typeface="Calibri"/>
              </a:rPr>
              <a:t>objeto-todo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,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e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instanciando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5" dirty="0" err="1">
                <a:solidFill>
                  <a:schemeClr val="bg1"/>
                </a:solidFill>
                <a:latin typeface="Calibri"/>
                <a:cs typeface="Calibri"/>
              </a:rPr>
              <a:t>este</a:t>
            </a:r>
            <a:r>
              <a:rPr sz="2800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0" dirty="0" err="1">
                <a:solidFill>
                  <a:schemeClr val="bg1"/>
                </a:solidFill>
                <a:latin typeface="Calibri"/>
                <a:cs typeface="Calibri"/>
              </a:rPr>
              <a:t>atributo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no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0" dirty="0" err="1">
                <a:solidFill>
                  <a:schemeClr val="bg1"/>
                </a:solidFill>
                <a:latin typeface="Calibri"/>
                <a:cs typeface="Calibri"/>
              </a:rPr>
              <a:t>construtor</a:t>
            </a:r>
            <a:r>
              <a:rPr sz="2800" spc="-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do </a:t>
            </a:r>
            <a:r>
              <a:rPr sz="2800" b="1" spc="-10" dirty="0" err="1">
                <a:solidFill>
                  <a:srgbClr val="FF0000"/>
                </a:solidFill>
                <a:latin typeface="Calibri"/>
                <a:cs typeface="Calibri"/>
              </a:rPr>
              <a:t>objeto-todo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.</a:t>
            </a:r>
            <a:endParaRPr sz="28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65183" indent="-353095">
              <a:spcBef>
                <a:spcPts val="1808"/>
              </a:spcBef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r>
              <a:rPr sz="2800" dirty="0" err="1">
                <a:solidFill>
                  <a:schemeClr val="bg1"/>
                </a:solidFill>
                <a:latin typeface="Calibri"/>
                <a:cs typeface="Calibri"/>
              </a:rPr>
              <a:t>Assim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,</a:t>
            </a:r>
            <a:r>
              <a:rPr sz="2800" spc="-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o</a:t>
            </a:r>
            <a:r>
              <a:rPr sz="2800" spc="-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b="1" spc="-10" dirty="0" err="1">
                <a:solidFill>
                  <a:srgbClr val="FF0000"/>
                </a:solidFill>
                <a:latin typeface="Calibri"/>
                <a:cs typeface="Calibri"/>
              </a:rPr>
              <a:t>objeto-todo</a:t>
            </a:r>
            <a:r>
              <a:rPr sz="2800" b="1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é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0" dirty="0" err="1">
                <a:solidFill>
                  <a:schemeClr val="bg1"/>
                </a:solidFill>
                <a:latin typeface="Calibri"/>
                <a:cs typeface="Calibri"/>
              </a:rPr>
              <a:t>responsável</a:t>
            </a:r>
            <a:r>
              <a:rPr sz="2800" spc="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por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 err="1">
                <a:solidFill>
                  <a:schemeClr val="bg1"/>
                </a:solidFill>
                <a:latin typeface="Calibri"/>
                <a:cs typeface="Calibri"/>
              </a:rPr>
              <a:t>criar</a:t>
            </a:r>
            <a:r>
              <a:rPr sz="2800" spc="-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e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destruir</a:t>
            </a:r>
            <a:r>
              <a:rPr sz="2800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seus</a:t>
            </a:r>
            <a:endParaRPr sz="28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65183"/>
            <a:r>
              <a:rPr sz="2800" b="1" spc="-10" dirty="0" err="1">
                <a:solidFill>
                  <a:srgbClr val="FF0000"/>
                </a:solidFill>
                <a:latin typeface="Calibri"/>
                <a:cs typeface="Calibri"/>
              </a:rPr>
              <a:t>objetos-parte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.</a:t>
            </a:r>
            <a:endParaRPr sz="28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65183" indent="-353095">
              <a:spcBef>
                <a:spcPts val="1803"/>
              </a:spcBef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Esse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0" dirty="0" err="1">
                <a:solidFill>
                  <a:schemeClr val="bg1"/>
                </a:solidFill>
                <a:latin typeface="Calibri"/>
                <a:cs typeface="Calibri"/>
              </a:rPr>
              <a:t>relacionamento</a:t>
            </a:r>
            <a:r>
              <a:rPr sz="2800" spc="-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também</a:t>
            </a:r>
            <a:r>
              <a:rPr sz="2800" spc="-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é</a:t>
            </a:r>
            <a:r>
              <a:rPr sz="2800" spc="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chamado</a:t>
            </a:r>
            <a:r>
              <a:rPr sz="2800" spc="-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de</a:t>
            </a:r>
            <a:r>
              <a:rPr sz="2800" spc="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5" dirty="0">
                <a:solidFill>
                  <a:srgbClr val="FF0000"/>
                </a:solidFill>
                <a:latin typeface="Calibri"/>
                <a:cs typeface="Calibri"/>
              </a:rPr>
              <a:t>“</a:t>
            </a:r>
            <a:r>
              <a:rPr sz="2800" b="1" spc="-55" dirty="0" err="1">
                <a:solidFill>
                  <a:srgbClr val="FF0000"/>
                </a:solidFill>
                <a:latin typeface="Calibri"/>
                <a:cs typeface="Calibri"/>
              </a:rPr>
              <a:t>tem</a:t>
            </a:r>
            <a:r>
              <a:rPr sz="2800" b="1" spc="-55" dirty="0">
                <a:solidFill>
                  <a:srgbClr val="FF0000"/>
                </a:solidFill>
                <a:latin typeface="Calibri"/>
                <a:cs typeface="Calibri"/>
              </a:rPr>
              <a:t>-um</a:t>
            </a:r>
            <a:r>
              <a:rPr sz="2800" spc="-55" dirty="0">
                <a:solidFill>
                  <a:srgbClr val="FF0000"/>
                </a:solidFill>
                <a:latin typeface="Calibri"/>
                <a:cs typeface="Calibri"/>
              </a:rPr>
              <a:t>”.</a:t>
            </a:r>
            <a:endParaRPr sz="28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25005" y="396796"/>
            <a:ext cx="2589245" cy="636178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spc="-10">
                <a:solidFill>
                  <a:schemeClr val="bg1"/>
                </a:solidFill>
              </a:rPr>
              <a:t>Composição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E8EBB96-5FAE-102F-C229-BBC9FB7FE664}"/>
              </a:ext>
            </a:extLst>
          </p:cNvPr>
          <p:cNvSpPr/>
          <p:nvPr/>
        </p:nvSpPr>
        <p:spPr>
          <a:xfrm>
            <a:off x="1708727" y="1874982"/>
            <a:ext cx="9236364" cy="4544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object 2"/>
          <p:cNvGrpSpPr/>
          <p:nvPr/>
        </p:nvGrpSpPr>
        <p:grpSpPr>
          <a:xfrm>
            <a:off x="3063466" y="2818523"/>
            <a:ext cx="5891009" cy="1948614"/>
            <a:chOff x="1818132" y="2813303"/>
            <a:chExt cx="5880100" cy="19450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18132" y="2813303"/>
              <a:ext cx="5879592" cy="19446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50898" y="4124705"/>
              <a:ext cx="2303145" cy="253365"/>
            </a:xfrm>
            <a:custGeom>
              <a:avLst/>
              <a:gdLst/>
              <a:ahLst/>
              <a:cxnLst/>
              <a:rect l="l" t="t" r="r" b="b"/>
              <a:pathLst>
                <a:path w="2303145" h="253364">
                  <a:moveTo>
                    <a:pt x="0" y="42163"/>
                  </a:moveTo>
                  <a:lnTo>
                    <a:pt x="3319" y="25771"/>
                  </a:lnTo>
                  <a:lnTo>
                    <a:pt x="12366" y="12366"/>
                  </a:lnTo>
                  <a:lnTo>
                    <a:pt x="25771" y="3319"/>
                  </a:lnTo>
                  <a:lnTo>
                    <a:pt x="42163" y="0"/>
                  </a:lnTo>
                  <a:lnTo>
                    <a:pt x="2260600" y="0"/>
                  </a:lnTo>
                  <a:lnTo>
                    <a:pt x="2276992" y="3319"/>
                  </a:lnTo>
                  <a:lnTo>
                    <a:pt x="2290397" y="12366"/>
                  </a:lnTo>
                  <a:lnTo>
                    <a:pt x="2299444" y="25771"/>
                  </a:lnTo>
                  <a:lnTo>
                    <a:pt x="2302764" y="42163"/>
                  </a:lnTo>
                  <a:lnTo>
                    <a:pt x="2302764" y="210819"/>
                  </a:lnTo>
                  <a:lnTo>
                    <a:pt x="2299444" y="227212"/>
                  </a:lnTo>
                  <a:lnTo>
                    <a:pt x="2290397" y="240617"/>
                  </a:lnTo>
                  <a:lnTo>
                    <a:pt x="2276992" y="249664"/>
                  </a:lnTo>
                  <a:lnTo>
                    <a:pt x="2260600" y="252983"/>
                  </a:lnTo>
                  <a:lnTo>
                    <a:pt x="42163" y="252983"/>
                  </a:lnTo>
                  <a:lnTo>
                    <a:pt x="25771" y="249664"/>
                  </a:lnTo>
                  <a:lnTo>
                    <a:pt x="12366" y="240617"/>
                  </a:lnTo>
                  <a:lnTo>
                    <a:pt x="3319" y="227212"/>
                  </a:lnTo>
                  <a:lnTo>
                    <a:pt x="0" y="210819"/>
                  </a:lnTo>
                  <a:lnTo>
                    <a:pt x="0" y="42163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825005" y="1303401"/>
            <a:ext cx="1461937" cy="399520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365183" indent="-353095">
              <a:spcBef>
                <a:spcPts val="95"/>
              </a:spcBef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r>
              <a:rPr sz="2455" spc="-15">
                <a:solidFill>
                  <a:schemeClr val="bg1"/>
                </a:solidFill>
                <a:latin typeface="Calibri"/>
                <a:cs typeface="Calibri"/>
              </a:rPr>
              <a:t>Exemplo</a:t>
            </a:r>
            <a:endParaRPr sz="2455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825005" y="396796"/>
            <a:ext cx="2589245" cy="636178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spc="-10">
                <a:solidFill>
                  <a:schemeClr val="bg1"/>
                </a:solidFill>
              </a:rPr>
              <a:t>Composição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647987" y="2598150"/>
            <a:ext cx="1167387" cy="30027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1803" spc="-10">
                <a:solidFill>
                  <a:srgbClr val="C00000"/>
                </a:solidFill>
                <a:latin typeface="Calibri"/>
                <a:cs typeface="Calibri"/>
              </a:rPr>
              <a:t>Objeto-todo</a:t>
            </a:r>
            <a:endParaRPr sz="1803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16063" y="2723301"/>
            <a:ext cx="1228460" cy="300912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1803" spc="-10">
                <a:solidFill>
                  <a:srgbClr val="C00000"/>
                </a:solidFill>
                <a:latin typeface="Calibri"/>
                <a:cs typeface="Calibri"/>
              </a:rPr>
              <a:t>Objeto-parte</a:t>
            </a:r>
            <a:endParaRPr sz="1803">
              <a:latin typeface="Calibri"/>
              <a:cs typeface="Calibri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941718" y="2084373"/>
          <a:ext cx="2380578" cy="16372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1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447">
                <a:tc gridSpan="2">
                  <a:txBody>
                    <a:bodyPr/>
                    <a:lstStyle/>
                    <a:p>
                      <a:pPr marL="11938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700" spc="-5">
                          <a:latin typeface="Calibri"/>
                          <a:cs typeface="Calibri"/>
                        </a:rPr>
                        <a:t>Cliente</a:t>
                      </a:r>
                      <a:r>
                        <a:rPr sz="17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b="1" spc="-15">
                          <a:latin typeface="Calibri"/>
                          <a:cs typeface="Calibri"/>
                        </a:rPr>
                        <a:t>tem</a:t>
                      </a:r>
                      <a:r>
                        <a:rPr sz="1700" b="1" spc="-5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b="1">
                          <a:latin typeface="Calibri"/>
                          <a:cs typeface="Calibri"/>
                        </a:rPr>
                        <a:t>um</a:t>
                      </a:r>
                      <a:r>
                        <a:rPr sz="1700" b="1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10">
                          <a:latin typeface="Calibri"/>
                          <a:cs typeface="Calibri"/>
                        </a:rPr>
                        <a:t>contato.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4711" marB="0">
                    <a:lnL w="28575">
                      <a:solidFill>
                        <a:srgbClr val="C00000"/>
                      </a:solidFill>
                      <a:prstDash val="solid"/>
                    </a:lnL>
                    <a:lnR w="28575">
                      <a:solidFill>
                        <a:srgbClr val="C00000"/>
                      </a:solidFill>
                      <a:prstDash val="solid"/>
                    </a:lnR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18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3975">
                      <a:solidFill>
                        <a:srgbClr val="C00000"/>
                      </a:solidFill>
                      <a:prstDash val="solid"/>
                    </a:lnR>
                    <a:lnT w="28575">
                      <a:solidFill>
                        <a:srgbClr val="C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C00000"/>
                      </a:solidFill>
                      <a:prstDash val="solid"/>
                    </a:lnL>
                    <a:lnT w="28575">
                      <a:solidFill>
                        <a:srgbClr val="C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2342803" y="5012573"/>
            <a:ext cx="7501812" cy="938999"/>
          </a:xfrm>
          <a:custGeom>
            <a:avLst/>
            <a:gdLst/>
            <a:ahLst/>
            <a:cxnLst/>
            <a:rect l="l" t="t" r="r" b="b"/>
            <a:pathLst>
              <a:path w="7487920" h="937260">
                <a:moveTo>
                  <a:pt x="7170801" y="0"/>
                </a:moveTo>
                <a:lnTo>
                  <a:pt x="316611" y="0"/>
                </a:lnTo>
                <a:lnTo>
                  <a:pt x="269820" y="3432"/>
                </a:lnTo>
                <a:lnTo>
                  <a:pt x="225162" y="13403"/>
                </a:lnTo>
                <a:lnTo>
                  <a:pt x="183127" y="29423"/>
                </a:lnTo>
                <a:lnTo>
                  <a:pt x="144204" y="51003"/>
                </a:lnTo>
                <a:lnTo>
                  <a:pt x="108882" y="77652"/>
                </a:lnTo>
                <a:lnTo>
                  <a:pt x="77652" y="108882"/>
                </a:lnTo>
                <a:lnTo>
                  <a:pt x="51003" y="144204"/>
                </a:lnTo>
                <a:lnTo>
                  <a:pt x="29423" y="183127"/>
                </a:lnTo>
                <a:lnTo>
                  <a:pt x="13403" y="225162"/>
                </a:lnTo>
                <a:lnTo>
                  <a:pt x="3432" y="269820"/>
                </a:lnTo>
                <a:lnTo>
                  <a:pt x="0" y="316611"/>
                </a:lnTo>
                <a:lnTo>
                  <a:pt x="0" y="620687"/>
                </a:lnTo>
                <a:lnTo>
                  <a:pt x="3432" y="667468"/>
                </a:lnTo>
                <a:lnTo>
                  <a:pt x="13403" y="712118"/>
                </a:lnTo>
                <a:lnTo>
                  <a:pt x="29423" y="754147"/>
                </a:lnTo>
                <a:lnTo>
                  <a:pt x="51003" y="793065"/>
                </a:lnTo>
                <a:lnTo>
                  <a:pt x="77652" y="828383"/>
                </a:lnTo>
                <a:lnTo>
                  <a:pt x="108882" y="859610"/>
                </a:lnTo>
                <a:lnTo>
                  <a:pt x="144204" y="886258"/>
                </a:lnTo>
                <a:lnTo>
                  <a:pt x="183127" y="907837"/>
                </a:lnTo>
                <a:lnTo>
                  <a:pt x="225162" y="923856"/>
                </a:lnTo>
                <a:lnTo>
                  <a:pt x="269820" y="933827"/>
                </a:lnTo>
                <a:lnTo>
                  <a:pt x="316611" y="937260"/>
                </a:lnTo>
                <a:lnTo>
                  <a:pt x="7170801" y="937260"/>
                </a:lnTo>
                <a:lnTo>
                  <a:pt x="7217591" y="933827"/>
                </a:lnTo>
                <a:lnTo>
                  <a:pt x="7262249" y="923856"/>
                </a:lnTo>
                <a:lnTo>
                  <a:pt x="7304284" y="907837"/>
                </a:lnTo>
                <a:lnTo>
                  <a:pt x="7343207" y="886258"/>
                </a:lnTo>
                <a:lnTo>
                  <a:pt x="7378529" y="859610"/>
                </a:lnTo>
                <a:lnTo>
                  <a:pt x="7409759" y="828383"/>
                </a:lnTo>
                <a:lnTo>
                  <a:pt x="7436408" y="793065"/>
                </a:lnTo>
                <a:lnTo>
                  <a:pt x="7457988" y="754147"/>
                </a:lnTo>
                <a:lnTo>
                  <a:pt x="7474008" y="712118"/>
                </a:lnTo>
                <a:lnTo>
                  <a:pt x="7483979" y="667468"/>
                </a:lnTo>
                <a:lnTo>
                  <a:pt x="7487412" y="620687"/>
                </a:lnTo>
                <a:lnTo>
                  <a:pt x="7487412" y="316611"/>
                </a:lnTo>
                <a:lnTo>
                  <a:pt x="7483979" y="269820"/>
                </a:lnTo>
                <a:lnTo>
                  <a:pt x="7474008" y="225162"/>
                </a:lnTo>
                <a:lnTo>
                  <a:pt x="7457988" y="183127"/>
                </a:lnTo>
                <a:lnTo>
                  <a:pt x="7436408" y="144204"/>
                </a:lnTo>
                <a:lnTo>
                  <a:pt x="7409759" y="108882"/>
                </a:lnTo>
                <a:lnTo>
                  <a:pt x="7378529" y="77652"/>
                </a:lnTo>
                <a:lnTo>
                  <a:pt x="7343207" y="51003"/>
                </a:lnTo>
                <a:lnTo>
                  <a:pt x="7304284" y="29423"/>
                </a:lnTo>
                <a:lnTo>
                  <a:pt x="7262249" y="13403"/>
                </a:lnTo>
                <a:lnTo>
                  <a:pt x="7217591" y="3432"/>
                </a:lnTo>
                <a:lnTo>
                  <a:pt x="7170801" y="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11" name="object 11"/>
          <p:cNvSpPr txBox="1"/>
          <p:nvPr/>
        </p:nvSpPr>
        <p:spPr>
          <a:xfrm>
            <a:off x="2581753" y="5048200"/>
            <a:ext cx="7021498" cy="728424"/>
          </a:xfrm>
          <a:prstGeom prst="rect">
            <a:avLst/>
          </a:prstGeom>
        </p:spPr>
        <p:txBody>
          <a:bodyPr vert="horz" wrap="square" lIns="0" tIns="89065" rIns="0" bIns="0" rtlCol="0">
            <a:spAutoFit/>
          </a:bodyPr>
          <a:lstStyle/>
          <a:p>
            <a:pPr marL="3181" algn="ctr">
              <a:spcBef>
                <a:spcPts val="701"/>
              </a:spcBef>
            </a:pPr>
            <a:r>
              <a:rPr sz="1803" b="1" i="1" spc="-10">
                <a:latin typeface="Calibri"/>
                <a:cs typeface="Calibri"/>
              </a:rPr>
              <a:t>Contatos</a:t>
            </a:r>
            <a:r>
              <a:rPr sz="1803" b="1" i="1" spc="10">
                <a:latin typeface="Calibri"/>
                <a:cs typeface="Calibri"/>
              </a:rPr>
              <a:t> </a:t>
            </a:r>
            <a:r>
              <a:rPr sz="1803" i="1" spc="-5">
                <a:latin typeface="Calibri"/>
                <a:cs typeface="Calibri"/>
              </a:rPr>
              <a:t>dependem</a:t>
            </a:r>
            <a:r>
              <a:rPr sz="1803" i="1" spc="-10">
                <a:latin typeface="Calibri"/>
                <a:cs typeface="Calibri"/>
              </a:rPr>
              <a:t> </a:t>
            </a:r>
            <a:r>
              <a:rPr sz="1803" i="1" spc="-5">
                <a:latin typeface="Calibri"/>
                <a:cs typeface="Calibri"/>
              </a:rPr>
              <a:t>de</a:t>
            </a:r>
            <a:r>
              <a:rPr sz="1803" i="1">
                <a:latin typeface="Calibri"/>
                <a:cs typeface="Calibri"/>
              </a:rPr>
              <a:t> </a:t>
            </a:r>
            <a:r>
              <a:rPr sz="1803" b="1" i="1" spc="-5">
                <a:latin typeface="Calibri"/>
                <a:cs typeface="Calibri"/>
              </a:rPr>
              <a:t>Clientes </a:t>
            </a:r>
            <a:r>
              <a:rPr sz="1803" i="1" spc="-5">
                <a:latin typeface="Calibri"/>
                <a:cs typeface="Calibri"/>
              </a:rPr>
              <a:t>para</a:t>
            </a:r>
            <a:r>
              <a:rPr sz="1803" i="1" spc="-15">
                <a:latin typeface="Calibri"/>
                <a:cs typeface="Calibri"/>
              </a:rPr>
              <a:t> </a:t>
            </a:r>
            <a:r>
              <a:rPr sz="1803" i="1" spc="-10">
                <a:latin typeface="Calibri"/>
                <a:cs typeface="Calibri"/>
              </a:rPr>
              <a:t>existirem.</a:t>
            </a:r>
            <a:endParaRPr sz="1803">
              <a:latin typeface="Calibri"/>
              <a:cs typeface="Calibri"/>
            </a:endParaRPr>
          </a:p>
          <a:p>
            <a:pPr algn="ctr">
              <a:spcBef>
                <a:spcPts val="606"/>
              </a:spcBef>
            </a:pPr>
            <a:r>
              <a:rPr sz="1803" i="1">
                <a:latin typeface="Calibri"/>
                <a:cs typeface="Calibri"/>
              </a:rPr>
              <a:t>Ao </a:t>
            </a:r>
            <a:r>
              <a:rPr sz="1803" i="1" spc="-15">
                <a:latin typeface="Calibri"/>
                <a:cs typeface="Calibri"/>
              </a:rPr>
              <a:t>excluir</a:t>
            </a:r>
            <a:r>
              <a:rPr sz="1803" i="1" spc="5">
                <a:latin typeface="Calibri"/>
                <a:cs typeface="Calibri"/>
              </a:rPr>
              <a:t> </a:t>
            </a:r>
            <a:r>
              <a:rPr sz="1803" i="1" spc="-5">
                <a:latin typeface="Calibri"/>
                <a:cs typeface="Calibri"/>
              </a:rPr>
              <a:t>um</a:t>
            </a:r>
            <a:r>
              <a:rPr sz="1803" i="1" spc="5">
                <a:latin typeface="Calibri"/>
                <a:cs typeface="Calibri"/>
              </a:rPr>
              <a:t> </a:t>
            </a:r>
            <a:r>
              <a:rPr sz="1803" b="1" i="1" spc="-5">
                <a:latin typeface="Calibri"/>
                <a:cs typeface="Calibri"/>
              </a:rPr>
              <a:t>cliente</a:t>
            </a:r>
            <a:r>
              <a:rPr sz="1803" i="1" spc="-5">
                <a:latin typeface="Calibri"/>
                <a:cs typeface="Calibri"/>
              </a:rPr>
              <a:t>,</a:t>
            </a:r>
            <a:r>
              <a:rPr sz="1803" i="1" spc="-20">
                <a:latin typeface="Calibri"/>
                <a:cs typeface="Calibri"/>
              </a:rPr>
              <a:t> </a:t>
            </a:r>
            <a:r>
              <a:rPr sz="1803" i="1" spc="-5">
                <a:latin typeface="Calibri"/>
                <a:cs typeface="Calibri"/>
              </a:rPr>
              <a:t>seu respectivo</a:t>
            </a:r>
            <a:r>
              <a:rPr sz="1803" i="1" spc="20">
                <a:latin typeface="Calibri"/>
                <a:cs typeface="Calibri"/>
              </a:rPr>
              <a:t> </a:t>
            </a:r>
            <a:r>
              <a:rPr sz="1803" b="1" i="1" spc="-15">
                <a:latin typeface="Calibri"/>
                <a:cs typeface="Calibri"/>
              </a:rPr>
              <a:t>contato</a:t>
            </a:r>
            <a:r>
              <a:rPr sz="1803" b="1" i="1" spc="-5">
                <a:latin typeface="Calibri"/>
                <a:cs typeface="Calibri"/>
              </a:rPr>
              <a:t> </a:t>
            </a:r>
            <a:r>
              <a:rPr sz="1803" i="1" spc="-10">
                <a:latin typeface="Calibri"/>
                <a:cs typeface="Calibri"/>
              </a:rPr>
              <a:t>também</a:t>
            </a:r>
            <a:r>
              <a:rPr sz="1803" i="1">
                <a:latin typeface="Calibri"/>
                <a:cs typeface="Calibri"/>
              </a:rPr>
              <a:t> </a:t>
            </a:r>
            <a:r>
              <a:rPr sz="1803" i="1" spc="-5">
                <a:latin typeface="Calibri"/>
                <a:cs typeface="Calibri"/>
              </a:rPr>
              <a:t>deve</a:t>
            </a:r>
            <a:r>
              <a:rPr sz="1803" i="1">
                <a:latin typeface="Calibri"/>
                <a:cs typeface="Calibri"/>
              </a:rPr>
              <a:t> </a:t>
            </a:r>
            <a:r>
              <a:rPr sz="1803" i="1" spc="-10">
                <a:latin typeface="Calibri"/>
                <a:cs typeface="Calibri"/>
              </a:rPr>
              <a:t>deixar </a:t>
            </a:r>
            <a:r>
              <a:rPr sz="1803" i="1" spc="-5">
                <a:latin typeface="Calibri"/>
                <a:cs typeface="Calibri"/>
              </a:rPr>
              <a:t>de </a:t>
            </a:r>
            <a:r>
              <a:rPr sz="1803" i="1" spc="-30">
                <a:latin typeface="Calibri"/>
                <a:cs typeface="Calibri"/>
              </a:rPr>
              <a:t>existir.</a:t>
            </a:r>
            <a:endParaRPr sz="1803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22172" y="6594138"/>
            <a:ext cx="86520" cy="1787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8"/>
              </a:lnSpc>
            </a:pPr>
            <a:r>
              <a:rPr sz="1403" i="1">
                <a:solidFill>
                  <a:srgbClr val="5F5F5F"/>
                </a:solidFill>
                <a:latin typeface="Calibri"/>
                <a:cs typeface="Calibri"/>
              </a:rPr>
              <a:t>l.</a:t>
            </a:r>
            <a:endParaRPr sz="1403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26325" y="2836463"/>
            <a:ext cx="9262117" cy="3914403"/>
            <a:chOff x="184022" y="2831210"/>
            <a:chExt cx="9244965" cy="390715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3547" y="2840734"/>
              <a:ext cx="7775448" cy="38877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8785" y="2835973"/>
              <a:ext cx="7785100" cy="3897629"/>
            </a:xfrm>
            <a:custGeom>
              <a:avLst/>
              <a:gdLst/>
              <a:ahLst/>
              <a:cxnLst/>
              <a:rect l="l" t="t" r="r" b="b"/>
              <a:pathLst>
                <a:path w="7785100" h="3897629">
                  <a:moveTo>
                    <a:pt x="0" y="3897249"/>
                  </a:moveTo>
                  <a:lnTo>
                    <a:pt x="7784973" y="3897249"/>
                  </a:lnTo>
                  <a:lnTo>
                    <a:pt x="7784973" y="0"/>
                  </a:lnTo>
                  <a:lnTo>
                    <a:pt x="0" y="0"/>
                  </a:lnTo>
                  <a:lnTo>
                    <a:pt x="0" y="38972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7" name="object 7"/>
            <p:cNvSpPr/>
            <p:nvPr/>
          </p:nvSpPr>
          <p:spPr>
            <a:xfrm>
              <a:off x="532638" y="5918453"/>
              <a:ext cx="6193790" cy="612775"/>
            </a:xfrm>
            <a:custGeom>
              <a:avLst/>
              <a:gdLst/>
              <a:ahLst/>
              <a:cxnLst/>
              <a:rect l="l" t="t" r="r" b="b"/>
              <a:pathLst>
                <a:path w="6193790" h="612775">
                  <a:moveTo>
                    <a:pt x="0" y="58686"/>
                  </a:moveTo>
                  <a:lnTo>
                    <a:pt x="4612" y="35843"/>
                  </a:lnTo>
                  <a:lnTo>
                    <a:pt x="17189" y="17189"/>
                  </a:lnTo>
                  <a:lnTo>
                    <a:pt x="35843" y="4612"/>
                  </a:lnTo>
                  <a:lnTo>
                    <a:pt x="58686" y="0"/>
                  </a:lnTo>
                  <a:lnTo>
                    <a:pt x="6134862" y="0"/>
                  </a:lnTo>
                  <a:lnTo>
                    <a:pt x="6157692" y="4612"/>
                  </a:lnTo>
                  <a:lnTo>
                    <a:pt x="6176343" y="17189"/>
                  </a:lnTo>
                  <a:lnTo>
                    <a:pt x="6188922" y="35843"/>
                  </a:lnTo>
                  <a:lnTo>
                    <a:pt x="6193536" y="58686"/>
                  </a:lnTo>
                  <a:lnTo>
                    <a:pt x="6193536" y="553961"/>
                  </a:lnTo>
                  <a:lnTo>
                    <a:pt x="6188922" y="576804"/>
                  </a:lnTo>
                  <a:lnTo>
                    <a:pt x="6176343" y="595458"/>
                  </a:lnTo>
                  <a:lnTo>
                    <a:pt x="6157692" y="608035"/>
                  </a:lnTo>
                  <a:lnTo>
                    <a:pt x="6134862" y="612647"/>
                  </a:lnTo>
                  <a:lnTo>
                    <a:pt x="58686" y="612647"/>
                  </a:lnTo>
                  <a:lnTo>
                    <a:pt x="35843" y="608035"/>
                  </a:lnTo>
                  <a:lnTo>
                    <a:pt x="17189" y="595458"/>
                  </a:lnTo>
                  <a:lnTo>
                    <a:pt x="4612" y="576804"/>
                  </a:lnTo>
                  <a:lnTo>
                    <a:pt x="0" y="553961"/>
                  </a:lnTo>
                  <a:lnTo>
                    <a:pt x="0" y="58686"/>
                  </a:lnTo>
                  <a:close/>
                </a:path>
              </a:pathLst>
            </a:custGeom>
            <a:ln w="2857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8" name="object 8"/>
            <p:cNvSpPr/>
            <p:nvPr/>
          </p:nvSpPr>
          <p:spPr>
            <a:xfrm>
              <a:off x="6787133" y="4097273"/>
              <a:ext cx="2628900" cy="1152525"/>
            </a:xfrm>
            <a:custGeom>
              <a:avLst/>
              <a:gdLst/>
              <a:ahLst/>
              <a:cxnLst/>
              <a:rect l="l" t="t" r="r" b="b"/>
              <a:pathLst>
                <a:path w="2628900" h="1152525">
                  <a:moveTo>
                    <a:pt x="2628900" y="0"/>
                  </a:moveTo>
                  <a:lnTo>
                    <a:pt x="0" y="0"/>
                  </a:lnTo>
                  <a:lnTo>
                    <a:pt x="0" y="1152144"/>
                  </a:lnTo>
                  <a:lnTo>
                    <a:pt x="2628900" y="1152144"/>
                  </a:lnTo>
                  <a:lnTo>
                    <a:pt x="26289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9" name="object 9"/>
            <p:cNvSpPr/>
            <p:nvPr/>
          </p:nvSpPr>
          <p:spPr>
            <a:xfrm>
              <a:off x="4682489" y="4097273"/>
              <a:ext cx="4733925" cy="1152525"/>
            </a:xfrm>
            <a:custGeom>
              <a:avLst/>
              <a:gdLst/>
              <a:ahLst/>
              <a:cxnLst/>
              <a:rect l="l" t="t" r="r" b="b"/>
              <a:pathLst>
                <a:path w="4733925" h="1152525">
                  <a:moveTo>
                    <a:pt x="2104643" y="1152144"/>
                  </a:moveTo>
                  <a:lnTo>
                    <a:pt x="4733544" y="1152144"/>
                  </a:lnTo>
                  <a:lnTo>
                    <a:pt x="4733544" y="0"/>
                  </a:lnTo>
                  <a:lnTo>
                    <a:pt x="2104643" y="0"/>
                  </a:lnTo>
                  <a:lnTo>
                    <a:pt x="2104643" y="1152144"/>
                  </a:lnTo>
                  <a:close/>
                </a:path>
                <a:path w="4733925" h="1152525">
                  <a:moveTo>
                    <a:pt x="2108581" y="611378"/>
                  </a:moveTo>
                  <a:lnTo>
                    <a:pt x="1026540" y="17272"/>
                  </a:lnTo>
                  <a:lnTo>
                    <a:pt x="0" y="18923"/>
                  </a:lnTo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699500" y="325595"/>
            <a:ext cx="2588609" cy="636178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spc="-10">
                <a:solidFill>
                  <a:schemeClr val="bg1"/>
                </a:solidFill>
              </a:rPr>
              <a:t>Composição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155181" y="4135920"/>
            <a:ext cx="2406026" cy="1064962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 marR="5090" algn="ctr">
              <a:spcBef>
                <a:spcPts val="100"/>
              </a:spcBef>
            </a:pPr>
            <a:r>
              <a:rPr sz="1703">
                <a:latin typeface="Calibri"/>
                <a:cs typeface="Calibri"/>
              </a:rPr>
              <a:t>A </a:t>
            </a:r>
            <a:r>
              <a:rPr sz="1703" spc="-5">
                <a:latin typeface="Calibri"/>
                <a:cs typeface="Calibri"/>
              </a:rPr>
              <a:t>instanciação </a:t>
            </a:r>
            <a:r>
              <a:rPr sz="1703">
                <a:latin typeface="Calibri"/>
                <a:cs typeface="Calibri"/>
              </a:rPr>
              <a:t>do </a:t>
            </a:r>
            <a:r>
              <a:rPr sz="1703" spc="-5">
                <a:latin typeface="Calibri"/>
                <a:cs typeface="Calibri"/>
              </a:rPr>
              <a:t>atributo </a:t>
            </a:r>
            <a:r>
              <a:rPr sz="1703">
                <a:latin typeface="Calibri"/>
                <a:cs typeface="Calibri"/>
              </a:rPr>
              <a:t> </a:t>
            </a:r>
            <a:r>
              <a:rPr sz="1703" b="1" spc="-15">
                <a:latin typeface="Calibri"/>
                <a:cs typeface="Calibri"/>
              </a:rPr>
              <a:t>contato </a:t>
            </a:r>
            <a:r>
              <a:rPr sz="1703">
                <a:latin typeface="Calibri"/>
                <a:cs typeface="Calibri"/>
              </a:rPr>
              <a:t>no </a:t>
            </a:r>
            <a:r>
              <a:rPr sz="1703" spc="-5">
                <a:latin typeface="Calibri"/>
                <a:cs typeface="Calibri"/>
              </a:rPr>
              <a:t>construtor </a:t>
            </a:r>
            <a:r>
              <a:rPr sz="1703">
                <a:latin typeface="Calibri"/>
                <a:cs typeface="Calibri"/>
              </a:rPr>
              <a:t>da </a:t>
            </a:r>
            <a:r>
              <a:rPr sz="1703" spc="5">
                <a:latin typeface="Calibri"/>
                <a:cs typeface="Calibri"/>
              </a:rPr>
              <a:t> </a:t>
            </a:r>
            <a:r>
              <a:rPr sz="1703">
                <a:latin typeface="Calibri"/>
                <a:cs typeface="Calibri"/>
              </a:rPr>
              <a:t>classe</a:t>
            </a:r>
            <a:r>
              <a:rPr sz="1703" spc="-35">
                <a:latin typeface="Calibri"/>
                <a:cs typeface="Calibri"/>
              </a:rPr>
              <a:t> </a:t>
            </a:r>
            <a:r>
              <a:rPr sz="1703" spc="-5">
                <a:latin typeface="Calibri"/>
                <a:cs typeface="Calibri"/>
              </a:rPr>
              <a:t>define</a:t>
            </a:r>
            <a:r>
              <a:rPr sz="1703" spc="-30">
                <a:latin typeface="Calibri"/>
                <a:cs typeface="Calibri"/>
              </a:rPr>
              <a:t> </a:t>
            </a:r>
            <a:r>
              <a:rPr sz="1703">
                <a:latin typeface="Calibri"/>
                <a:cs typeface="Calibri"/>
              </a:rPr>
              <a:t>a </a:t>
            </a:r>
            <a:r>
              <a:rPr sz="1703" u="sng" spc="-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composição </a:t>
            </a:r>
            <a:r>
              <a:rPr sz="1703" spc="-371">
                <a:latin typeface="Calibri"/>
                <a:cs typeface="Calibri"/>
              </a:rPr>
              <a:t> </a:t>
            </a:r>
            <a:r>
              <a:rPr sz="1703" spc="-5">
                <a:latin typeface="Calibri"/>
                <a:cs typeface="Calibri"/>
              </a:rPr>
              <a:t>entre</a:t>
            </a:r>
            <a:r>
              <a:rPr sz="1703" spc="-25">
                <a:latin typeface="Calibri"/>
                <a:cs typeface="Calibri"/>
              </a:rPr>
              <a:t> </a:t>
            </a:r>
            <a:r>
              <a:rPr sz="1703">
                <a:latin typeface="Calibri"/>
                <a:cs typeface="Calibri"/>
              </a:rPr>
              <a:t>as</a:t>
            </a:r>
            <a:r>
              <a:rPr sz="1703" spc="-15">
                <a:latin typeface="Calibri"/>
                <a:cs typeface="Calibri"/>
              </a:rPr>
              <a:t> </a:t>
            </a:r>
            <a:r>
              <a:rPr sz="1703">
                <a:latin typeface="Calibri"/>
                <a:cs typeface="Calibri"/>
              </a:rPr>
              <a:t>duas</a:t>
            </a:r>
            <a:r>
              <a:rPr sz="1703" spc="-40">
                <a:latin typeface="Calibri"/>
                <a:cs typeface="Calibri"/>
              </a:rPr>
              <a:t> </a:t>
            </a:r>
            <a:r>
              <a:rPr sz="1703">
                <a:latin typeface="Calibri"/>
                <a:cs typeface="Calibri"/>
              </a:rPr>
              <a:t>classes.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1785521" y="188686"/>
            <a:ext cx="10275850" cy="4988277"/>
            <a:chOff x="528066" y="188336"/>
            <a:chExt cx="10256821" cy="4979039"/>
          </a:xfrm>
        </p:grpSpPr>
        <p:sp>
          <p:nvSpPr>
            <p:cNvPr id="13" name="object 13"/>
            <p:cNvSpPr/>
            <p:nvPr/>
          </p:nvSpPr>
          <p:spPr>
            <a:xfrm>
              <a:off x="528066" y="3637025"/>
              <a:ext cx="5408930" cy="1530350"/>
            </a:xfrm>
            <a:custGeom>
              <a:avLst/>
              <a:gdLst/>
              <a:ahLst/>
              <a:cxnLst/>
              <a:rect l="l" t="t" r="r" b="b"/>
              <a:pathLst>
                <a:path w="5408930" h="1530350">
                  <a:moveTo>
                    <a:pt x="9143" y="1349756"/>
                  </a:moveTo>
                  <a:lnTo>
                    <a:pt x="11977" y="1335708"/>
                  </a:lnTo>
                  <a:lnTo>
                    <a:pt x="19705" y="1324244"/>
                  </a:lnTo>
                  <a:lnTo>
                    <a:pt x="31169" y="1316519"/>
                  </a:lnTo>
                  <a:lnTo>
                    <a:pt x="45212" y="1313688"/>
                  </a:lnTo>
                  <a:lnTo>
                    <a:pt x="5372608" y="1313688"/>
                  </a:lnTo>
                  <a:lnTo>
                    <a:pt x="5386655" y="1316519"/>
                  </a:lnTo>
                  <a:lnTo>
                    <a:pt x="5398119" y="1324244"/>
                  </a:lnTo>
                  <a:lnTo>
                    <a:pt x="5405844" y="1335708"/>
                  </a:lnTo>
                  <a:lnTo>
                    <a:pt x="5408676" y="1349756"/>
                  </a:lnTo>
                  <a:lnTo>
                    <a:pt x="5408676" y="1494028"/>
                  </a:lnTo>
                  <a:lnTo>
                    <a:pt x="5405844" y="1508075"/>
                  </a:lnTo>
                  <a:lnTo>
                    <a:pt x="5398119" y="1519539"/>
                  </a:lnTo>
                  <a:lnTo>
                    <a:pt x="5386655" y="1527264"/>
                  </a:lnTo>
                  <a:lnTo>
                    <a:pt x="5372608" y="1530096"/>
                  </a:lnTo>
                  <a:lnTo>
                    <a:pt x="45212" y="1530096"/>
                  </a:lnTo>
                  <a:lnTo>
                    <a:pt x="31169" y="1527264"/>
                  </a:lnTo>
                  <a:lnTo>
                    <a:pt x="19705" y="1519539"/>
                  </a:lnTo>
                  <a:lnTo>
                    <a:pt x="11977" y="1508075"/>
                  </a:lnTo>
                  <a:lnTo>
                    <a:pt x="9143" y="1494028"/>
                  </a:lnTo>
                  <a:lnTo>
                    <a:pt x="9143" y="1349756"/>
                  </a:lnTo>
                  <a:close/>
                </a:path>
                <a:path w="5408930" h="1530350">
                  <a:moveTo>
                    <a:pt x="4571" y="36068"/>
                  </a:moveTo>
                  <a:lnTo>
                    <a:pt x="7407" y="22020"/>
                  </a:lnTo>
                  <a:lnTo>
                    <a:pt x="15138" y="10556"/>
                  </a:lnTo>
                  <a:lnTo>
                    <a:pt x="26603" y="2831"/>
                  </a:lnTo>
                  <a:lnTo>
                    <a:pt x="40640" y="0"/>
                  </a:lnTo>
                  <a:lnTo>
                    <a:pt x="2201164" y="0"/>
                  </a:lnTo>
                  <a:lnTo>
                    <a:pt x="2215211" y="2831"/>
                  </a:lnTo>
                  <a:lnTo>
                    <a:pt x="2226675" y="10556"/>
                  </a:lnTo>
                  <a:lnTo>
                    <a:pt x="2234400" y="22020"/>
                  </a:lnTo>
                  <a:lnTo>
                    <a:pt x="2237232" y="36068"/>
                  </a:lnTo>
                  <a:lnTo>
                    <a:pt x="2237232" y="180340"/>
                  </a:lnTo>
                  <a:lnTo>
                    <a:pt x="2234400" y="194387"/>
                  </a:lnTo>
                  <a:lnTo>
                    <a:pt x="2226675" y="205851"/>
                  </a:lnTo>
                  <a:lnTo>
                    <a:pt x="2215211" y="213576"/>
                  </a:lnTo>
                  <a:lnTo>
                    <a:pt x="2201164" y="216408"/>
                  </a:lnTo>
                  <a:lnTo>
                    <a:pt x="40640" y="216408"/>
                  </a:lnTo>
                  <a:lnTo>
                    <a:pt x="26603" y="213576"/>
                  </a:lnTo>
                  <a:lnTo>
                    <a:pt x="15138" y="205851"/>
                  </a:lnTo>
                  <a:lnTo>
                    <a:pt x="7407" y="194387"/>
                  </a:lnTo>
                  <a:lnTo>
                    <a:pt x="4571" y="180340"/>
                  </a:lnTo>
                  <a:lnTo>
                    <a:pt x="4571" y="36068"/>
                  </a:lnTo>
                  <a:close/>
                </a:path>
                <a:path w="5408930" h="1530350">
                  <a:moveTo>
                    <a:pt x="0" y="403606"/>
                  </a:moveTo>
                  <a:lnTo>
                    <a:pt x="2853" y="389465"/>
                  </a:lnTo>
                  <a:lnTo>
                    <a:pt x="10636" y="377920"/>
                  </a:lnTo>
                  <a:lnTo>
                    <a:pt x="22181" y="370137"/>
                  </a:lnTo>
                  <a:lnTo>
                    <a:pt x="36321" y="367284"/>
                  </a:lnTo>
                  <a:lnTo>
                    <a:pt x="4102862" y="367284"/>
                  </a:lnTo>
                  <a:lnTo>
                    <a:pt x="4117002" y="370137"/>
                  </a:lnTo>
                  <a:lnTo>
                    <a:pt x="4128547" y="377920"/>
                  </a:lnTo>
                  <a:lnTo>
                    <a:pt x="4136330" y="389465"/>
                  </a:lnTo>
                  <a:lnTo>
                    <a:pt x="4139184" y="403606"/>
                  </a:lnTo>
                  <a:lnTo>
                    <a:pt x="4139184" y="548894"/>
                  </a:lnTo>
                  <a:lnTo>
                    <a:pt x="4136330" y="563034"/>
                  </a:lnTo>
                  <a:lnTo>
                    <a:pt x="4128547" y="574579"/>
                  </a:lnTo>
                  <a:lnTo>
                    <a:pt x="4117002" y="582362"/>
                  </a:lnTo>
                  <a:lnTo>
                    <a:pt x="4102862" y="585216"/>
                  </a:lnTo>
                  <a:lnTo>
                    <a:pt x="36321" y="585216"/>
                  </a:lnTo>
                  <a:lnTo>
                    <a:pt x="22181" y="582362"/>
                  </a:lnTo>
                  <a:lnTo>
                    <a:pt x="10636" y="574579"/>
                  </a:lnTo>
                  <a:lnTo>
                    <a:pt x="2853" y="563034"/>
                  </a:lnTo>
                  <a:lnTo>
                    <a:pt x="0" y="548894"/>
                  </a:lnTo>
                  <a:lnTo>
                    <a:pt x="0" y="403606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803" dirty="0"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7372" y="188336"/>
              <a:ext cx="7427515" cy="341592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1D39E20-02F1-06CE-5E09-C4C582352F41}"/>
              </a:ext>
            </a:extLst>
          </p:cNvPr>
          <p:cNvSpPr txBox="1"/>
          <p:nvPr/>
        </p:nvSpPr>
        <p:spPr>
          <a:xfrm>
            <a:off x="833534" y="1333680"/>
            <a:ext cx="21602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Pessoa</a:t>
            </a:r>
          </a:p>
          <a:p>
            <a:r>
              <a:rPr lang="pt-BR" dirty="0"/>
              <a:t>Nome str</a:t>
            </a:r>
          </a:p>
          <a:p>
            <a:r>
              <a:rPr lang="pt-BR" dirty="0"/>
              <a:t>Endereco Endereco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FD1BF5-AEDA-F7B8-8216-3DA2BC94D384}"/>
              </a:ext>
            </a:extLst>
          </p:cNvPr>
          <p:cNvSpPr txBox="1"/>
          <p:nvPr/>
        </p:nvSpPr>
        <p:spPr>
          <a:xfrm>
            <a:off x="4389120" y="1333680"/>
            <a:ext cx="21602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Endereco</a:t>
            </a:r>
          </a:p>
          <a:p>
            <a:r>
              <a:rPr lang="pt-BR" dirty="0"/>
              <a:t>rua str</a:t>
            </a:r>
          </a:p>
          <a:p>
            <a:r>
              <a:rPr lang="pt-BR" dirty="0"/>
              <a:t>Cidade str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88212" y="4667129"/>
            <a:ext cx="4680999" cy="2001416"/>
            <a:chOff x="944499" y="4658486"/>
            <a:chExt cx="4672330" cy="19977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4024" y="4668011"/>
              <a:ext cx="4652772" cy="197815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49261" y="4663249"/>
              <a:ext cx="4662805" cy="1988185"/>
            </a:xfrm>
            <a:custGeom>
              <a:avLst/>
              <a:gdLst/>
              <a:ahLst/>
              <a:cxnLst/>
              <a:rect l="l" t="t" r="r" b="b"/>
              <a:pathLst>
                <a:path w="4662805" h="1988184">
                  <a:moveTo>
                    <a:pt x="0" y="1987677"/>
                  </a:moveTo>
                  <a:lnTo>
                    <a:pt x="4662297" y="1987677"/>
                  </a:lnTo>
                  <a:lnTo>
                    <a:pt x="4662297" y="0"/>
                  </a:lnTo>
                  <a:lnTo>
                    <a:pt x="0" y="0"/>
                  </a:lnTo>
                  <a:lnTo>
                    <a:pt x="0" y="1987677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467549" y="908716"/>
            <a:ext cx="9283747" cy="3570232"/>
            <a:chOff x="225170" y="907033"/>
            <a:chExt cx="9266555" cy="356362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4695" y="1255775"/>
              <a:ext cx="8575548" cy="320497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29933" y="1250949"/>
              <a:ext cx="8585200" cy="3215005"/>
            </a:xfrm>
            <a:custGeom>
              <a:avLst/>
              <a:gdLst/>
              <a:ahLst/>
              <a:cxnLst/>
              <a:rect l="l" t="t" r="r" b="b"/>
              <a:pathLst>
                <a:path w="8585200" h="3215004">
                  <a:moveTo>
                    <a:pt x="0" y="3214497"/>
                  </a:moveTo>
                  <a:lnTo>
                    <a:pt x="8585073" y="3214497"/>
                  </a:lnTo>
                  <a:lnTo>
                    <a:pt x="8585073" y="0"/>
                  </a:lnTo>
                  <a:lnTo>
                    <a:pt x="0" y="0"/>
                  </a:lnTo>
                  <a:lnTo>
                    <a:pt x="0" y="321449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8" name="object 8"/>
            <p:cNvSpPr/>
            <p:nvPr/>
          </p:nvSpPr>
          <p:spPr>
            <a:xfrm>
              <a:off x="6814565" y="919733"/>
              <a:ext cx="2664460" cy="647700"/>
            </a:xfrm>
            <a:custGeom>
              <a:avLst/>
              <a:gdLst/>
              <a:ahLst/>
              <a:cxnLst/>
              <a:rect l="l" t="t" r="r" b="b"/>
              <a:pathLst>
                <a:path w="2664459" h="647700">
                  <a:moveTo>
                    <a:pt x="2663952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2663952" y="647700"/>
                  </a:lnTo>
                  <a:lnTo>
                    <a:pt x="26639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9" name="object 9"/>
            <p:cNvSpPr/>
            <p:nvPr/>
          </p:nvSpPr>
          <p:spPr>
            <a:xfrm>
              <a:off x="6814565" y="919733"/>
              <a:ext cx="2664460" cy="1591310"/>
            </a:xfrm>
            <a:custGeom>
              <a:avLst/>
              <a:gdLst/>
              <a:ahLst/>
              <a:cxnLst/>
              <a:rect l="l" t="t" r="r" b="b"/>
              <a:pathLst>
                <a:path w="2664459" h="1591310">
                  <a:moveTo>
                    <a:pt x="0" y="647700"/>
                  </a:moveTo>
                  <a:lnTo>
                    <a:pt x="2663952" y="647700"/>
                  </a:lnTo>
                  <a:lnTo>
                    <a:pt x="2663952" y="0"/>
                  </a:lnTo>
                  <a:lnTo>
                    <a:pt x="0" y="0"/>
                  </a:lnTo>
                  <a:lnTo>
                    <a:pt x="0" y="647700"/>
                  </a:lnTo>
                  <a:close/>
                </a:path>
                <a:path w="2664459" h="1591310">
                  <a:moveTo>
                    <a:pt x="1440687" y="643763"/>
                  </a:moveTo>
                  <a:lnTo>
                    <a:pt x="1443608" y="943228"/>
                  </a:lnTo>
                  <a:lnTo>
                    <a:pt x="291973" y="1591310"/>
                  </a:lnTo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825005" y="325595"/>
            <a:ext cx="2588609" cy="636178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spc="-10">
                <a:solidFill>
                  <a:schemeClr val="bg1"/>
                </a:solidFill>
              </a:rPr>
              <a:t>Composição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433446" y="959611"/>
            <a:ext cx="1942887" cy="285644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1703">
                <a:latin typeface="Calibri"/>
                <a:cs typeface="Calibri"/>
              </a:rPr>
              <a:t>O</a:t>
            </a:r>
            <a:r>
              <a:rPr sz="1703" spc="-25">
                <a:latin typeface="Calibri"/>
                <a:cs typeface="Calibri"/>
              </a:rPr>
              <a:t> </a:t>
            </a:r>
            <a:r>
              <a:rPr sz="1703" spc="-5">
                <a:latin typeface="Calibri"/>
                <a:cs typeface="Calibri"/>
              </a:rPr>
              <a:t>método</a:t>
            </a:r>
            <a:r>
              <a:rPr sz="1703" spc="-35">
                <a:latin typeface="Calibri"/>
                <a:cs typeface="Calibri"/>
              </a:rPr>
              <a:t> </a:t>
            </a:r>
            <a:r>
              <a:rPr sz="1703" b="1" spc="-10">
                <a:latin typeface="Calibri"/>
                <a:cs typeface="Calibri"/>
              </a:rPr>
              <a:t>setContato</a:t>
            </a:r>
            <a:endParaRPr sz="1703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81894" y="1258042"/>
            <a:ext cx="2037678" cy="2312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89069">
              <a:lnSpc>
                <a:spcPts val="1842"/>
              </a:lnSpc>
            </a:pPr>
            <a:r>
              <a:rPr sz="1703" spc="-5">
                <a:latin typeface="Calibri"/>
                <a:cs typeface="Calibri"/>
              </a:rPr>
              <a:t>define</a:t>
            </a:r>
            <a:r>
              <a:rPr sz="1703" spc="-30">
                <a:latin typeface="Calibri"/>
                <a:cs typeface="Calibri"/>
              </a:rPr>
              <a:t> </a:t>
            </a:r>
            <a:r>
              <a:rPr sz="1703" spc="-5">
                <a:latin typeface="Calibri"/>
                <a:cs typeface="Calibri"/>
              </a:rPr>
              <a:t>os</a:t>
            </a:r>
            <a:r>
              <a:rPr sz="1703" spc="-25">
                <a:latin typeface="Calibri"/>
                <a:cs typeface="Calibri"/>
              </a:rPr>
              <a:t> </a:t>
            </a:r>
            <a:r>
              <a:rPr sz="1703">
                <a:latin typeface="Calibri"/>
                <a:cs typeface="Calibri"/>
              </a:rPr>
              <a:t>dados</a:t>
            </a:r>
            <a:r>
              <a:rPr sz="1703" spc="-45">
                <a:latin typeface="Calibri"/>
                <a:cs typeface="Calibri"/>
              </a:rPr>
              <a:t> </a:t>
            </a:r>
            <a:r>
              <a:rPr sz="1703">
                <a:latin typeface="Calibri"/>
                <a:cs typeface="Calibri"/>
              </a:rPr>
              <a:t>do</a:t>
            </a:r>
            <a:r>
              <a:rPr sz="1703" spc="-20">
                <a:latin typeface="Calibri"/>
                <a:cs typeface="Calibri"/>
              </a:rPr>
              <a:t> </a:t>
            </a:r>
            <a:r>
              <a:rPr sz="1703" spc="-5">
                <a:latin typeface="Calibri"/>
                <a:cs typeface="Calibri"/>
              </a:rPr>
              <a:t>Co</a:t>
            </a:r>
            <a:endParaRPr sz="1703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96606" y="1219171"/>
            <a:ext cx="551566" cy="285644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12724">
              <a:spcBef>
                <a:spcPts val="105"/>
              </a:spcBef>
            </a:pPr>
            <a:r>
              <a:rPr sz="1703" spc="-10">
                <a:latin typeface="Calibri"/>
                <a:cs typeface="Calibri"/>
              </a:rPr>
              <a:t>n</a:t>
            </a:r>
            <a:r>
              <a:rPr sz="1703" spc="-20">
                <a:latin typeface="Calibri"/>
                <a:cs typeface="Calibri"/>
              </a:rPr>
              <a:t>t</a:t>
            </a:r>
            <a:r>
              <a:rPr sz="1703" spc="-15">
                <a:latin typeface="Calibri"/>
                <a:cs typeface="Calibri"/>
              </a:rPr>
              <a:t>a</a:t>
            </a:r>
            <a:r>
              <a:rPr sz="1703" spc="-10">
                <a:latin typeface="Calibri"/>
                <a:cs typeface="Calibri"/>
              </a:rPr>
              <a:t>t</a:t>
            </a:r>
            <a:r>
              <a:rPr sz="1703" spc="-5">
                <a:latin typeface="Calibri"/>
                <a:cs typeface="Calibri"/>
              </a:rPr>
              <a:t>o.</a:t>
            </a:r>
            <a:endParaRPr sz="1703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242223" y="2516402"/>
            <a:ext cx="7818629" cy="2491273"/>
            <a:chOff x="998410" y="2511742"/>
            <a:chExt cx="7804150" cy="2486660"/>
          </a:xfrm>
        </p:grpSpPr>
        <p:sp>
          <p:nvSpPr>
            <p:cNvPr id="15" name="object 15"/>
            <p:cNvSpPr/>
            <p:nvPr/>
          </p:nvSpPr>
          <p:spPr>
            <a:xfrm>
              <a:off x="1012697" y="2526029"/>
              <a:ext cx="7775575" cy="1507490"/>
            </a:xfrm>
            <a:custGeom>
              <a:avLst/>
              <a:gdLst/>
              <a:ahLst/>
              <a:cxnLst/>
              <a:rect l="l" t="t" r="r" b="b"/>
              <a:pathLst>
                <a:path w="7775575" h="1507489">
                  <a:moveTo>
                    <a:pt x="0" y="42163"/>
                  </a:moveTo>
                  <a:lnTo>
                    <a:pt x="3314" y="25771"/>
                  </a:lnTo>
                  <a:lnTo>
                    <a:pt x="12352" y="12366"/>
                  </a:lnTo>
                  <a:lnTo>
                    <a:pt x="25755" y="3319"/>
                  </a:lnTo>
                  <a:lnTo>
                    <a:pt x="42164" y="0"/>
                  </a:lnTo>
                  <a:lnTo>
                    <a:pt x="7733283" y="0"/>
                  </a:lnTo>
                  <a:lnTo>
                    <a:pt x="7749676" y="3319"/>
                  </a:lnTo>
                  <a:lnTo>
                    <a:pt x="7763081" y="12366"/>
                  </a:lnTo>
                  <a:lnTo>
                    <a:pt x="7772128" y="25771"/>
                  </a:lnTo>
                  <a:lnTo>
                    <a:pt x="7775448" y="42163"/>
                  </a:lnTo>
                  <a:lnTo>
                    <a:pt x="7775448" y="210819"/>
                  </a:lnTo>
                  <a:lnTo>
                    <a:pt x="7772128" y="227212"/>
                  </a:lnTo>
                  <a:lnTo>
                    <a:pt x="7763081" y="240617"/>
                  </a:lnTo>
                  <a:lnTo>
                    <a:pt x="7749676" y="249664"/>
                  </a:lnTo>
                  <a:lnTo>
                    <a:pt x="7733283" y="252983"/>
                  </a:lnTo>
                  <a:lnTo>
                    <a:pt x="42164" y="252983"/>
                  </a:lnTo>
                  <a:lnTo>
                    <a:pt x="25755" y="249664"/>
                  </a:lnTo>
                  <a:lnTo>
                    <a:pt x="12352" y="240617"/>
                  </a:lnTo>
                  <a:lnTo>
                    <a:pt x="3314" y="227212"/>
                  </a:lnTo>
                  <a:lnTo>
                    <a:pt x="0" y="210819"/>
                  </a:lnTo>
                  <a:lnTo>
                    <a:pt x="0" y="42163"/>
                  </a:lnTo>
                  <a:close/>
                </a:path>
                <a:path w="7775575" h="1507489">
                  <a:moveTo>
                    <a:pt x="4091940" y="1296415"/>
                  </a:moveTo>
                  <a:lnTo>
                    <a:pt x="4095259" y="1280023"/>
                  </a:lnTo>
                  <a:lnTo>
                    <a:pt x="4104306" y="1266618"/>
                  </a:lnTo>
                  <a:lnTo>
                    <a:pt x="4117711" y="1257571"/>
                  </a:lnTo>
                  <a:lnTo>
                    <a:pt x="4134104" y="1254251"/>
                  </a:lnTo>
                  <a:lnTo>
                    <a:pt x="6066028" y="1254251"/>
                  </a:lnTo>
                  <a:lnTo>
                    <a:pt x="6082420" y="1257571"/>
                  </a:lnTo>
                  <a:lnTo>
                    <a:pt x="6095825" y="1266618"/>
                  </a:lnTo>
                  <a:lnTo>
                    <a:pt x="6104872" y="1280023"/>
                  </a:lnTo>
                  <a:lnTo>
                    <a:pt x="6108192" y="1296415"/>
                  </a:lnTo>
                  <a:lnTo>
                    <a:pt x="6108192" y="1465071"/>
                  </a:lnTo>
                  <a:lnTo>
                    <a:pt x="6104872" y="1481464"/>
                  </a:lnTo>
                  <a:lnTo>
                    <a:pt x="6095825" y="1494869"/>
                  </a:lnTo>
                  <a:lnTo>
                    <a:pt x="6082420" y="1503916"/>
                  </a:lnTo>
                  <a:lnTo>
                    <a:pt x="6066028" y="1507235"/>
                  </a:lnTo>
                  <a:lnTo>
                    <a:pt x="4134104" y="1507235"/>
                  </a:lnTo>
                  <a:lnTo>
                    <a:pt x="4117711" y="1503916"/>
                  </a:lnTo>
                  <a:lnTo>
                    <a:pt x="4104306" y="1494869"/>
                  </a:lnTo>
                  <a:lnTo>
                    <a:pt x="4095259" y="1481464"/>
                  </a:lnTo>
                  <a:lnTo>
                    <a:pt x="4091940" y="1465071"/>
                  </a:lnTo>
                  <a:lnTo>
                    <a:pt x="4091940" y="1296415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16" name="object 16"/>
            <p:cNvSpPr/>
            <p:nvPr/>
          </p:nvSpPr>
          <p:spPr>
            <a:xfrm>
              <a:off x="6149720" y="4018406"/>
              <a:ext cx="1697989" cy="967740"/>
            </a:xfrm>
            <a:custGeom>
              <a:avLst/>
              <a:gdLst/>
              <a:ahLst/>
              <a:cxnLst/>
              <a:rect l="l" t="t" r="r" b="b"/>
              <a:pathLst>
                <a:path w="1697990" h="967739">
                  <a:moveTo>
                    <a:pt x="1697989" y="967231"/>
                  </a:moveTo>
                  <a:lnTo>
                    <a:pt x="2539" y="314197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609594" y="4987381"/>
            <a:ext cx="2884432" cy="854444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</a:ln>
        </p:spPr>
        <p:txBody>
          <a:bodyPr vert="horz" wrap="square" lIns="0" tIns="66163" rIns="0" bIns="0" rtlCol="0">
            <a:spAutoFit/>
          </a:bodyPr>
          <a:lstStyle/>
          <a:p>
            <a:pPr marL="114517" marR="107518" indent="636" algn="ctr">
              <a:spcBef>
                <a:spcPts val="521"/>
              </a:spcBef>
            </a:pPr>
            <a:r>
              <a:rPr sz="1703">
                <a:latin typeface="Calibri"/>
                <a:cs typeface="Calibri"/>
              </a:rPr>
              <a:t>O </a:t>
            </a:r>
            <a:r>
              <a:rPr sz="1703" spc="-5">
                <a:latin typeface="Calibri"/>
                <a:cs typeface="Calibri"/>
              </a:rPr>
              <a:t>método </a:t>
            </a:r>
            <a:r>
              <a:rPr sz="1703" b="1" spc="-15">
                <a:latin typeface="Calibri"/>
                <a:cs typeface="Calibri"/>
              </a:rPr>
              <a:t>getContato </a:t>
            </a:r>
            <a:r>
              <a:rPr sz="1703" spc="-5">
                <a:latin typeface="Calibri"/>
                <a:cs typeface="Calibri"/>
              </a:rPr>
              <a:t>retorna </a:t>
            </a:r>
            <a:r>
              <a:rPr sz="1703" spc="-371">
                <a:latin typeface="Calibri"/>
                <a:cs typeface="Calibri"/>
              </a:rPr>
              <a:t> </a:t>
            </a:r>
            <a:r>
              <a:rPr sz="1703">
                <a:latin typeface="Calibri"/>
                <a:cs typeface="Calibri"/>
              </a:rPr>
              <a:t>uma</a:t>
            </a:r>
            <a:r>
              <a:rPr sz="1703" spc="-30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string</a:t>
            </a:r>
            <a:r>
              <a:rPr sz="1703" i="1" spc="-10">
                <a:latin typeface="Calibri"/>
                <a:cs typeface="Calibri"/>
              </a:rPr>
              <a:t> </a:t>
            </a:r>
            <a:r>
              <a:rPr sz="1703" spc="-5">
                <a:latin typeface="Calibri"/>
                <a:cs typeface="Calibri"/>
              </a:rPr>
              <a:t>contendo</a:t>
            </a:r>
            <a:r>
              <a:rPr sz="1703" spc="-35">
                <a:latin typeface="Calibri"/>
                <a:cs typeface="Calibri"/>
              </a:rPr>
              <a:t> </a:t>
            </a:r>
            <a:r>
              <a:rPr sz="1703">
                <a:latin typeface="Calibri"/>
                <a:cs typeface="Calibri"/>
              </a:rPr>
              <a:t>os</a:t>
            </a:r>
            <a:r>
              <a:rPr sz="1703" spc="-20">
                <a:latin typeface="Calibri"/>
                <a:cs typeface="Calibri"/>
              </a:rPr>
              <a:t> </a:t>
            </a:r>
            <a:r>
              <a:rPr sz="1703" spc="-5">
                <a:latin typeface="Calibri"/>
                <a:cs typeface="Calibri"/>
              </a:rPr>
              <a:t>dados </a:t>
            </a:r>
            <a:r>
              <a:rPr sz="1703" spc="-371">
                <a:latin typeface="Calibri"/>
                <a:cs typeface="Calibri"/>
              </a:rPr>
              <a:t> </a:t>
            </a:r>
            <a:r>
              <a:rPr sz="1703">
                <a:latin typeface="Calibri"/>
                <a:cs typeface="Calibri"/>
              </a:rPr>
              <a:t>do</a:t>
            </a:r>
            <a:r>
              <a:rPr sz="1703" spc="-20">
                <a:latin typeface="Calibri"/>
                <a:cs typeface="Calibri"/>
              </a:rPr>
              <a:t> </a:t>
            </a:r>
            <a:r>
              <a:rPr sz="1703" spc="-5">
                <a:latin typeface="Calibri"/>
                <a:cs typeface="Calibri"/>
              </a:rPr>
              <a:t>objeto</a:t>
            </a:r>
            <a:r>
              <a:rPr sz="1703" spc="-20">
                <a:latin typeface="Calibri"/>
                <a:cs typeface="Calibri"/>
              </a:rPr>
              <a:t> </a:t>
            </a:r>
            <a:r>
              <a:rPr sz="1703" spc="-10">
                <a:latin typeface="Calibri"/>
                <a:cs typeface="Calibri"/>
              </a:rPr>
              <a:t>Contato.</a:t>
            </a:r>
            <a:endParaRPr sz="1703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38540" y="1871890"/>
            <a:ext cx="9024186" cy="4095714"/>
            <a:chOff x="196214" y="1868423"/>
            <a:chExt cx="9007475" cy="408812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739" y="2455163"/>
              <a:ext cx="8260080" cy="349148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00977" y="2450401"/>
              <a:ext cx="8269605" cy="3501390"/>
            </a:xfrm>
            <a:custGeom>
              <a:avLst/>
              <a:gdLst/>
              <a:ahLst/>
              <a:cxnLst/>
              <a:rect l="l" t="t" r="r" b="b"/>
              <a:pathLst>
                <a:path w="8269605" h="3501390">
                  <a:moveTo>
                    <a:pt x="0" y="3501009"/>
                  </a:moveTo>
                  <a:lnTo>
                    <a:pt x="8269605" y="3501009"/>
                  </a:lnTo>
                  <a:lnTo>
                    <a:pt x="8269605" y="0"/>
                  </a:lnTo>
                  <a:lnTo>
                    <a:pt x="0" y="0"/>
                  </a:lnTo>
                  <a:lnTo>
                    <a:pt x="0" y="350100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5" name="object 5"/>
            <p:cNvSpPr/>
            <p:nvPr/>
          </p:nvSpPr>
          <p:spPr>
            <a:xfrm>
              <a:off x="954785" y="4074413"/>
              <a:ext cx="2376170" cy="253365"/>
            </a:xfrm>
            <a:custGeom>
              <a:avLst/>
              <a:gdLst/>
              <a:ahLst/>
              <a:cxnLst/>
              <a:rect l="l" t="t" r="r" b="b"/>
              <a:pathLst>
                <a:path w="2376170" h="253364">
                  <a:moveTo>
                    <a:pt x="0" y="42164"/>
                  </a:moveTo>
                  <a:lnTo>
                    <a:pt x="3312" y="25771"/>
                  </a:lnTo>
                  <a:lnTo>
                    <a:pt x="12347" y="12366"/>
                  </a:lnTo>
                  <a:lnTo>
                    <a:pt x="25749" y="3319"/>
                  </a:lnTo>
                  <a:lnTo>
                    <a:pt x="42163" y="0"/>
                  </a:lnTo>
                  <a:lnTo>
                    <a:pt x="2333752" y="0"/>
                  </a:lnTo>
                  <a:lnTo>
                    <a:pt x="2350144" y="3319"/>
                  </a:lnTo>
                  <a:lnTo>
                    <a:pt x="2363549" y="12366"/>
                  </a:lnTo>
                  <a:lnTo>
                    <a:pt x="2372596" y="25771"/>
                  </a:lnTo>
                  <a:lnTo>
                    <a:pt x="2375916" y="42164"/>
                  </a:lnTo>
                  <a:lnTo>
                    <a:pt x="2375916" y="210820"/>
                  </a:lnTo>
                  <a:lnTo>
                    <a:pt x="2372596" y="227212"/>
                  </a:lnTo>
                  <a:lnTo>
                    <a:pt x="2363549" y="240617"/>
                  </a:lnTo>
                  <a:lnTo>
                    <a:pt x="2350144" y="249664"/>
                  </a:lnTo>
                  <a:lnTo>
                    <a:pt x="2333752" y="252984"/>
                  </a:lnTo>
                  <a:lnTo>
                    <a:pt x="42163" y="252984"/>
                  </a:lnTo>
                  <a:lnTo>
                    <a:pt x="25749" y="249664"/>
                  </a:lnTo>
                  <a:lnTo>
                    <a:pt x="12347" y="240617"/>
                  </a:lnTo>
                  <a:lnTo>
                    <a:pt x="3312" y="227212"/>
                  </a:lnTo>
                  <a:lnTo>
                    <a:pt x="0" y="210820"/>
                  </a:lnTo>
                  <a:lnTo>
                    <a:pt x="0" y="42164"/>
                  </a:lnTo>
                  <a:close/>
                </a:path>
              </a:pathLst>
            </a:custGeom>
            <a:ln w="28574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6" name="object 6"/>
            <p:cNvSpPr/>
            <p:nvPr/>
          </p:nvSpPr>
          <p:spPr>
            <a:xfrm>
              <a:off x="5385816" y="1868423"/>
              <a:ext cx="3817620" cy="1188720"/>
            </a:xfrm>
            <a:custGeom>
              <a:avLst/>
              <a:gdLst/>
              <a:ahLst/>
              <a:cxnLst/>
              <a:rect l="l" t="t" r="r" b="b"/>
              <a:pathLst>
                <a:path w="3817620" h="1188720">
                  <a:moveTo>
                    <a:pt x="3506216" y="0"/>
                  </a:moveTo>
                  <a:lnTo>
                    <a:pt x="311404" y="0"/>
                  </a:lnTo>
                  <a:lnTo>
                    <a:pt x="265392" y="3376"/>
                  </a:lnTo>
                  <a:lnTo>
                    <a:pt x="221475" y="13186"/>
                  </a:lnTo>
                  <a:lnTo>
                    <a:pt x="180135" y="28946"/>
                  </a:lnTo>
                  <a:lnTo>
                    <a:pt x="141852" y="50175"/>
                  </a:lnTo>
                  <a:lnTo>
                    <a:pt x="107110" y="76390"/>
                  </a:lnTo>
                  <a:lnTo>
                    <a:pt x="76390" y="107110"/>
                  </a:lnTo>
                  <a:lnTo>
                    <a:pt x="50175" y="141852"/>
                  </a:lnTo>
                  <a:lnTo>
                    <a:pt x="28946" y="180135"/>
                  </a:lnTo>
                  <a:lnTo>
                    <a:pt x="13186" y="221475"/>
                  </a:lnTo>
                  <a:lnTo>
                    <a:pt x="3376" y="265392"/>
                  </a:lnTo>
                  <a:lnTo>
                    <a:pt x="0" y="311403"/>
                  </a:lnTo>
                  <a:lnTo>
                    <a:pt x="0" y="877315"/>
                  </a:lnTo>
                  <a:lnTo>
                    <a:pt x="3376" y="923327"/>
                  </a:lnTo>
                  <a:lnTo>
                    <a:pt x="13186" y="967244"/>
                  </a:lnTo>
                  <a:lnTo>
                    <a:pt x="28946" y="1008584"/>
                  </a:lnTo>
                  <a:lnTo>
                    <a:pt x="50175" y="1046867"/>
                  </a:lnTo>
                  <a:lnTo>
                    <a:pt x="76390" y="1081609"/>
                  </a:lnTo>
                  <a:lnTo>
                    <a:pt x="107110" y="1112329"/>
                  </a:lnTo>
                  <a:lnTo>
                    <a:pt x="141852" y="1138544"/>
                  </a:lnTo>
                  <a:lnTo>
                    <a:pt x="180135" y="1159773"/>
                  </a:lnTo>
                  <a:lnTo>
                    <a:pt x="221475" y="1175533"/>
                  </a:lnTo>
                  <a:lnTo>
                    <a:pt x="265392" y="1185343"/>
                  </a:lnTo>
                  <a:lnTo>
                    <a:pt x="311404" y="1188720"/>
                  </a:lnTo>
                  <a:lnTo>
                    <a:pt x="3506216" y="1188720"/>
                  </a:lnTo>
                  <a:lnTo>
                    <a:pt x="3552227" y="1185343"/>
                  </a:lnTo>
                  <a:lnTo>
                    <a:pt x="3596144" y="1175533"/>
                  </a:lnTo>
                  <a:lnTo>
                    <a:pt x="3637484" y="1159773"/>
                  </a:lnTo>
                  <a:lnTo>
                    <a:pt x="3675767" y="1138544"/>
                  </a:lnTo>
                  <a:lnTo>
                    <a:pt x="3710509" y="1112329"/>
                  </a:lnTo>
                  <a:lnTo>
                    <a:pt x="3741229" y="1081609"/>
                  </a:lnTo>
                  <a:lnTo>
                    <a:pt x="3767444" y="1046867"/>
                  </a:lnTo>
                  <a:lnTo>
                    <a:pt x="3788673" y="1008584"/>
                  </a:lnTo>
                  <a:lnTo>
                    <a:pt x="3804433" y="967244"/>
                  </a:lnTo>
                  <a:lnTo>
                    <a:pt x="3814243" y="923327"/>
                  </a:lnTo>
                  <a:lnTo>
                    <a:pt x="3817619" y="877315"/>
                  </a:lnTo>
                  <a:lnTo>
                    <a:pt x="3817619" y="311403"/>
                  </a:lnTo>
                  <a:lnTo>
                    <a:pt x="3814243" y="265392"/>
                  </a:lnTo>
                  <a:lnTo>
                    <a:pt x="3804433" y="221475"/>
                  </a:lnTo>
                  <a:lnTo>
                    <a:pt x="3788673" y="180135"/>
                  </a:lnTo>
                  <a:lnTo>
                    <a:pt x="3767444" y="141852"/>
                  </a:lnTo>
                  <a:lnTo>
                    <a:pt x="3741229" y="107110"/>
                  </a:lnTo>
                  <a:lnTo>
                    <a:pt x="3710509" y="76390"/>
                  </a:lnTo>
                  <a:lnTo>
                    <a:pt x="3675767" y="50175"/>
                  </a:lnTo>
                  <a:lnTo>
                    <a:pt x="3637484" y="28946"/>
                  </a:lnTo>
                  <a:lnTo>
                    <a:pt x="3596144" y="13186"/>
                  </a:lnTo>
                  <a:lnTo>
                    <a:pt x="3552227" y="3376"/>
                  </a:lnTo>
                  <a:lnTo>
                    <a:pt x="3506216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 sz="1803"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778823" y="279414"/>
            <a:ext cx="2588609" cy="636178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spc="-10">
                <a:solidFill>
                  <a:schemeClr val="bg1"/>
                </a:solidFill>
              </a:rPr>
              <a:t>Composição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825005" y="1207543"/>
            <a:ext cx="8390553" cy="1624163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365183" indent="-353095">
              <a:spcBef>
                <a:spcPts val="100"/>
              </a:spcBef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r>
              <a:rPr sz="2455" spc="-35">
                <a:solidFill>
                  <a:schemeClr val="bg1"/>
                </a:solidFill>
                <a:latin typeface="Calibri"/>
                <a:cs typeface="Calibri"/>
              </a:rPr>
              <a:t>Testando</a:t>
            </a:r>
            <a:r>
              <a:rPr sz="2455">
                <a:solidFill>
                  <a:schemeClr val="bg1"/>
                </a:solidFill>
                <a:latin typeface="Calibri"/>
                <a:cs typeface="Calibri"/>
              </a:rPr>
              <a:t> a</a:t>
            </a:r>
            <a:r>
              <a:rPr sz="2455" spc="-1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55" b="1" spc="-10">
                <a:solidFill>
                  <a:schemeClr val="bg1"/>
                </a:solidFill>
                <a:latin typeface="Calibri"/>
                <a:cs typeface="Calibri"/>
              </a:rPr>
              <a:t>dependência</a:t>
            </a:r>
            <a:r>
              <a:rPr sz="2455" b="1" spc="3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55" spc="-15">
                <a:solidFill>
                  <a:schemeClr val="bg1"/>
                </a:solidFill>
                <a:latin typeface="Calibri"/>
                <a:cs typeface="Calibri"/>
              </a:rPr>
              <a:t>entre</a:t>
            </a:r>
            <a:r>
              <a:rPr sz="2455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55" spc="-5">
                <a:solidFill>
                  <a:schemeClr val="bg1"/>
                </a:solidFill>
                <a:latin typeface="Calibri"/>
                <a:cs typeface="Calibri"/>
              </a:rPr>
              <a:t>os</a:t>
            </a:r>
            <a:r>
              <a:rPr sz="2455" spc="-10">
                <a:solidFill>
                  <a:schemeClr val="bg1"/>
                </a:solidFill>
                <a:latin typeface="Calibri"/>
                <a:cs typeface="Calibri"/>
              </a:rPr>
              <a:t> objetos.</a:t>
            </a:r>
            <a:endParaRPr sz="2455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spcBef>
                <a:spcPts val="30"/>
              </a:spcBef>
            </a:pPr>
            <a:endParaRPr sz="2555">
              <a:latin typeface="Calibri"/>
              <a:cs typeface="Calibri"/>
            </a:endParaRPr>
          </a:p>
          <a:p>
            <a:pPr marL="5073747" marR="5090" algn="ctr"/>
            <a:r>
              <a:rPr sz="1803" i="1">
                <a:latin typeface="Calibri"/>
                <a:cs typeface="Calibri"/>
              </a:rPr>
              <a:t>Ao </a:t>
            </a:r>
            <a:r>
              <a:rPr sz="1803" i="1" spc="-10">
                <a:latin typeface="Calibri"/>
                <a:cs typeface="Calibri"/>
              </a:rPr>
              <a:t>instanciar </a:t>
            </a:r>
            <a:r>
              <a:rPr sz="1803" b="1" i="1" spc="-5">
                <a:latin typeface="Calibri"/>
                <a:cs typeface="Calibri"/>
              </a:rPr>
              <a:t>cliente </a:t>
            </a:r>
            <a:r>
              <a:rPr sz="1803" i="1" spc="-10">
                <a:latin typeface="Calibri"/>
                <a:cs typeface="Calibri"/>
              </a:rPr>
              <a:t>novamente, </a:t>
            </a:r>
            <a:r>
              <a:rPr sz="1803" i="1" spc="-5">
                <a:latin typeface="Calibri"/>
                <a:cs typeface="Calibri"/>
              </a:rPr>
              <a:t>os </a:t>
            </a:r>
            <a:r>
              <a:rPr sz="1803" i="1" spc="-396">
                <a:latin typeface="Calibri"/>
                <a:cs typeface="Calibri"/>
              </a:rPr>
              <a:t> </a:t>
            </a:r>
            <a:r>
              <a:rPr sz="1803" i="1" u="sng" spc="-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dados</a:t>
            </a:r>
            <a:r>
              <a:rPr sz="1803" i="1" u="sng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3" i="1" u="sng" spc="-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do</a:t>
            </a:r>
            <a:r>
              <a:rPr sz="1803" i="1" u="sng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3" i="1" u="sng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cliente</a:t>
            </a:r>
            <a:r>
              <a:rPr sz="1803" i="1" spc="15">
                <a:latin typeface="Calibri"/>
                <a:cs typeface="Calibri"/>
              </a:rPr>
              <a:t> </a:t>
            </a:r>
            <a:r>
              <a:rPr sz="1803" i="1" spc="-5">
                <a:latin typeface="Calibri"/>
                <a:cs typeface="Calibri"/>
              </a:rPr>
              <a:t>são</a:t>
            </a:r>
            <a:r>
              <a:rPr sz="1803" i="1">
                <a:latin typeface="Calibri"/>
                <a:cs typeface="Calibri"/>
              </a:rPr>
              <a:t> </a:t>
            </a:r>
            <a:r>
              <a:rPr sz="1803" i="1" spc="-25">
                <a:latin typeface="Calibri"/>
                <a:cs typeface="Calibri"/>
              </a:rPr>
              <a:t>“zerados”,</a:t>
            </a:r>
            <a:r>
              <a:rPr sz="1803" i="1" spc="-5">
                <a:latin typeface="Calibri"/>
                <a:cs typeface="Calibri"/>
              </a:rPr>
              <a:t> </a:t>
            </a:r>
            <a:r>
              <a:rPr sz="1803" i="1">
                <a:latin typeface="Calibri"/>
                <a:cs typeface="Calibri"/>
              </a:rPr>
              <a:t>e</a:t>
            </a:r>
            <a:r>
              <a:rPr sz="1803" i="1" spc="-5">
                <a:latin typeface="Calibri"/>
                <a:cs typeface="Calibri"/>
              </a:rPr>
              <a:t> os </a:t>
            </a:r>
            <a:r>
              <a:rPr sz="1803" i="1" spc="-391">
                <a:latin typeface="Calibri"/>
                <a:cs typeface="Calibri"/>
              </a:rPr>
              <a:t> </a:t>
            </a:r>
            <a:r>
              <a:rPr sz="1803" i="1" u="sng" spc="-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dados</a:t>
            </a:r>
            <a:r>
              <a:rPr sz="1803" i="1" u="sng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3" i="1" u="sng" spc="-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</a:t>
            </a:r>
            <a:r>
              <a:rPr sz="1803" i="1" u="sng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3" i="1" u="sng" spc="-1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contato</a:t>
            </a:r>
            <a:r>
              <a:rPr sz="1803" i="1" spc="10">
                <a:latin typeface="Calibri"/>
                <a:cs typeface="Calibri"/>
              </a:rPr>
              <a:t> </a:t>
            </a:r>
            <a:r>
              <a:rPr sz="1803" i="1" spc="-10">
                <a:latin typeface="Calibri"/>
                <a:cs typeface="Calibri"/>
              </a:rPr>
              <a:t>também.</a:t>
            </a:r>
            <a:endParaRPr sz="1803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568760" y="4462534"/>
            <a:ext cx="2164278" cy="2003961"/>
            <a:chOff x="7313231" y="4454270"/>
            <a:chExt cx="2160270" cy="200025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22819" y="4463795"/>
              <a:ext cx="2141220" cy="19812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317993" y="4459033"/>
              <a:ext cx="2150745" cy="1990725"/>
            </a:xfrm>
            <a:custGeom>
              <a:avLst/>
              <a:gdLst/>
              <a:ahLst/>
              <a:cxnLst/>
              <a:rect l="l" t="t" r="r" b="b"/>
              <a:pathLst>
                <a:path w="2150745" h="1990725">
                  <a:moveTo>
                    <a:pt x="0" y="1990725"/>
                  </a:moveTo>
                  <a:lnTo>
                    <a:pt x="2150745" y="1990725"/>
                  </a:lnTo>
                  <a:lnTo>
                    <a:pt x="2150745" y="0"/>
                  </a:lnTo>
                  <a:lnTo>
                    <a:pt x="0" y="0"/>
                  </a:lnTo>
                  <a:lnTo>
                    <a:pt x="0" y="1990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08609" y="164347"/>
            <a:ext cx="6238999" cy="2745135"/>
            <a:chOff x="3260598" y="1122933"/>
            <a:chExt cx="6227445" cy="178371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57372" y="1127759"/>
              <a:ext cx="6048756" cy="177393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52673" y="1122933"/>
              <a:ext cx="6058535" cy="1783714"/>
            </a:xfrm>
            <a:custGeom>
              <a:avLst/>
              <a:gdLst/>
              <a:ahLst/>
              <a:cxnLst/>
              <a:rect l="l" t="t" r="r" b="b"/>
              <a:pathLst>
                <a:path w="6058534" h="1783714">
                  <a:moveTo>
                    <a:pt x="0" y="1783461"/>
                  </a:moveTo>
                  <a:lnTo>
                    <a:pt x="6058281" y="1783461"/>
                  </a:lnTo>
                  <a:lnTo>
                    <a:pt x="6058281" y="0"/>
                  </a:lnTo>
                  <a:lnTo>
                    <a:pt x="0" y="0"/>
                  </a:lnTo>
                  <a:lnTo>
                    <a:pt x="0" y="178346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5" name="object 5"/>
            <p:cNvSpPr/>
            <p:nvPr/>
          </p:nvSpPr>
          <p:spPr>
            <a:xfrm>
              <a:off x="3260598" y="2106929"/>
              <a:ext cx="6227445" cy="564766"/>
            </a:xfrm>
            <a:custGeom>
              <a:avLst/>
              <a:gdLst/>
              <a:ahLst/>
              <a:cxnLst/>
              <a:rect l="l" t="t" r="r" b="b"/>
              <a:pathLst>
                <a:path w="6227445" h="504825">
                  <a:moveTo>
                    <a:pt x="0" y="84073"/>
                  </a:moveTo>
                  <a:lnTo>
                    <a:pt x="6600" y="51327"/>
                  </a:lnTo>
                  <a:lnTo>
                    <a:pt x="24606" y="24606"/>
                  </a:lnTo>
                  <a:lnTo>
                    <a:pt x="51327" y="6600"/>
                  </a:lnTo>
                  <a:lnTo>
                    <a:pt x="84074" y="0"/>
                  </a:lnTo>
                  <a:lnTo>
                    <a:pt x="6142990" y="0"/>
                  </a:lnTo>
                  <a:lnTo>
                    <a:pt x="6175736" y="6600"/>
                  </a:lnTo>
                  <a:lnTo>
                    <a:pt x="6202457" y="24606"/>
                  </a:lnTo>
                  <a:lnTo>
                    <a:pt x="6220463" y="51327"/>
                  </a:lnTo>
                  <a:lnTo>
                    <a:pt x="6227063" y="84073"/>
                  </a:lnTo>
                  <a:lnTo>
                    <a:pt x="6227063" y="420369"/>
                  </a:lnTo>
                  <a:lnTo>
                    <a:pt x="6220463" y="453116"/>
                  </a:lnTo>
                  <a:lnTo>
                    <a:pt x="6202457" y="479837"/>
                  </a:lnTo>
                  <a:lnTo>
                    <a:pt x="6175736" y="497843"/>
                  </a:lnTo>
                  <a:lnTo>
                    <a:pt x="6142990" y="504443"/>
                  </a:lnTo>
                  <a:lnTo>
                    <a:pt x="84074" y="504443"/>
                  </a:lnTo>
                  <a:lnTo>
                    <a:pt x="51327" y="497843"/>
                  </a:lnTo>
                  <a:lnTo>
                    <a:pt x="24606" y="479837"/>
                  </a:lnTo>
                  <a:lnTo>
                    <a:pt x="6600" y="453116"/>
                  </a:lnTo>
                  <a:lnTo>
                    <a:pt x="0" y="420369"/>
                  </a:lnTo>
                  <a:lnTo>
                    <a:pt x="0" y="84073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63616" y="3102322"/>
            <a:ext cx="10494798" cy="3547859"/>
            <a:chOff x="-1076349" y="3096577"/>
            <a:chExt cx="10475364" cy="3541288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45180" y="3101338"/>
              <a:ext cx="6048756" cy="353652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340480" y="3096577"/>
              <a:ext cx="6058535" cy="3188970"/>
            </a:xfrm>
            <a:custGeom>
              <a:avLst/>
              <a:gdLst/>
              <a:ahLst/>
              <a:cxnLst/>
              <a:rect l="l" t="t" r="r" b="b"/>
              <a:pathLst>
                <a:path w="6058534" h="3188970">
                  <a:moveTo>
                    <a:pt x="0" y="3188589"/>
                  </a:moveTo>
                  <a:lnTo>
                    <a:pt x="6058281" y="3188589"/>
                  </a:lnTo>
                  <a:lnTo>
                    <a:pt x="6058281" y="0"/>
                  </a:lnTo>
                  <a:lnTo>
                    <a:pt x="0" y="0"/>
                  </a:lnTo>
                  <a:lnTo>
                    <a:pt x="0" y="318858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9" name="object 9"/>
            <p:cNvSpPr/>
            <p:nvPr/>
          </p:nvSpPr>
          <p:spPr>
            <a:xfrm>
              <a:off x="-1076349" y="4649611"/>
              <a:ext cx="5794963" cy="1800225"/>
            </a:xfrm>
            <a:custGeom>
              <a:avLst/>
              <a:gdLst/>
              <a:ahLst/>
              <a:cxnLst/>
              <a:rect l="l" t="t" r="r" b="b"/>
              <a:pathLst>
                <a:path w="4500880" h="1800225">
                  <a:moveTo>
                    <a:pt x="4104258" y="0"/>
                  </a:moveTo>
                  <a:lnTo>
                    <a:pt x="396125" y="0"/>
                  </a:lnTo>
                  <a:lnTo>
                    <a:pt x="349929" y="2664"/>
                  </a:lnTo>
                  <a:lnTo>
                    <a:pt x="305298" y="10458"/>
                  </a:lnTo>
                  <a:lnTo>
                    <a:pt x="262530" y="23087"/>
                  </a:lnTo>
                  <a:lnTo>
                    <a:pt x="221921" y="40251"/>
                  </a:lnTo>
                  <a:lnTo>
                    <a:pt x="183769" y="61656"/>
                  </a:lnTo>
                  <a:lnTo>
                    <a:pt x="148370" y="87004"/>
                  </a:lnTo>
                  <a:lnTo>
                    <a:pt x="116024" y="115998"/>
                  </a:lnTo>
                  <a:lnTo>
                    <a:pt x="87025" y="148341"/>
                  </a:lnTo>
                  <a:lnTo>
                    <a:pt x="61672" y="183737"/>
                  </a:lnTo>
                  <a:lnTo>
                    <a:pt x="40263" y="221888"/>
                  </a:lnTo>
                  <a:lnTo>
                    <a:pt x="23094" y="262499"/>
                  </a:lnTo>
                  <a:lnTo>
                    <a:pt x="10462" y="305270"/>
                  </a:lnTo>
                  <a:lnTo>
                    <a:pt x="2665" y="349907"/>
                  </a:lnTo>
                  <a:lnTo>
                    <a:pt x="0" y="396112"/>
                  </a:lnTo>
                  <a:lnTo>
                    <a:pt x="0" y="1403718"/>
                  </a:lnTo>
                  <a:lnTo>
                    <a:pt x="2665" y="1449914"/>
                  </a:lnTo>
                  <a:lnTo>
                    <a:pt x="10462" y="1494545"/>
                  </a:lnTo>
                  <a:lnTo>
                    <a:pt x="23094" y="1537313"/>
                  </a:lnTo>
                  <a:lnTo>
                    <a:pt x="40263" y="1577922"/>
                  </a:lnTo>
                  <a:lnTo>
                    <a:pt x="61672" y="1616074"/>
                  </a:lnTo>
                  <a:lnTo>
                    <a:pt x="87025" y="1651473"/>
                  </a:lnTo>
                  <a:lnTo>
                    <a:pt x="116024" y="1683819"/>
                  </a:lnTo>
                  <a:lnTo>
                    <a:pt x="148370" y="1712818"/>
                  </a:lnTo>
                  <a:lnTo>
                    <a:pt x="183769" y="1738171"/>
                  </a:lnTo>
                  <a:lnTo>
                    <a:pt x="221921" y="1759580"/>
                  </a:lnTo>
                  <a:lnTo>
                    <a:pt x="262530" y="1776749"/>
                  </a:lnTo>
                  <a:lnTo>
                    <a:pt x="305298" y="1789381"/>
                  </a:lnTo>
                  <a:lnTo>
                    <a:pt x="349929" y="1797178"/>
                  </a:lnTo>
                  <a:lnTo>
                    <a:pt x="396125" y="1799843"/>
                  </a:lnTo>
                  <a:lnTo>
                    <a:pt x="4104258" y="1799843"/>
                  </a:lnTo>
                  <a:lnTo>
                    <a:pt x="4150464" y="1797178"/>
                  </a:lnTo>
                  <a:lnTo>
                    <a:pt x="4195101" y="1789381"/>
                  </a:lnTo>
                  <a:lnTo>
                    <a:pt x="4237872" y="1776749"/>
                  </a:lnTo>
                  <a:lnTo>
                    <a:pt x="4278483" y="1759580"/>
                  </a:lnTo>
                  <a:lnTo>
                    <a:pt x="4316634" y="1738171"/>
                  </a:lnTo>
                  <a:lnTo>
                    <a:pt x="4352030" y="1712818"/>
                  </a:lnTo>
                  <a:lnTo>
                    <a:pt x="4384373" y="1683819"/>
                  </a:lnTo>
                  <a:lnTo>
                    <a:pt x="4413367" y="1651473"/>
                  </a:lnTo>
                  <a:lnTo>
                    <a:pt x="4438715" y="1616074"/>
                  </a:lnTo>
                  <a:lnTo>
                    <a:pt x="4460120" y="1577922"/>
                  </a:lnTo>
                  <a:lnTo>
                    <a:pt x="4477284" y="1537313"/>
                  </a:lnTo>
                  <a:lnTo>
                    <a:pt x="4489913" y="1494545"/>
                  </a:lnTo>
                  <a:lnTo>
                    <a:pt x="4497707" y="1449914"/>
                  </a:lnTo>
                  <a:lnTo>
                    <a:pt x="4500371" y="1403718"/>
                  </a:lnTo>
                  <a:lnTo>
                    <a:pt x="4500371" y="396112"/>
                  </a:lnTo>
                  <a:lnTo>
                    <a:pt x="4497707" y="349907"/>
                  </a:lnTo>
                  <a:lnTo>
                    <a:pt x="4489913" y="305270"/>
                  </a:lnTo>
                  <a:lnTo>
                    <a:pt x="4477284" y="262499"/>
                  </a:lnTo>
                  <a:lnTo>
                    <a:pt x="4460120" y="221888"/>
                  </a:lnTo>
                  <a:lnTo>
                    <a:pt x="4438715" y="183737"/>
                  </a:lnTo>
                  <a:lnTo>
                    <a:pt x="4413367" y="148341"/>
                  </a:lnTo>
                  <a:lnTo>
                    <a:pt x="4384373" y="115998"/>
                  </a:lnTo>
                  <a:lnTo>
                    <a:pt x="4352030" y="87004"/>
                  </a:lnTo>
                  <a:lnTo>
                    <a:pt x="4316634" y="61656"/>
                  </a:lnTo>
                  <a:lnTo>
                    <a:pt x="4278483" y="40251"/>
                  </a:lnTo>
                  <a:lnTo>
                    <a:pt x="4237872" y="23087"/>
                  </a:lnTo>
                  <a:lnTo>
                    <a:pt x="4195101" y="10458"/>
                  </a:lnTo>
                  <a:lnTo>
                    <a:pt x="4150464" y="2664"/>
                  </a:lnTo>
                  <a:lnTo>
                    <a:pt x="4104258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10" name="object 10"/>
            <p:cNvSpPr/>
            <p:nvPr/>
          </p:nvSpPr>
          <p:spPr>
            <a:xfrm>
              <a:off x="2744978" y="5576227"/>
              <a:ext cx="1682750" cy="254635"/>
            </a:xfrm>
            <a:custGeom>
              <a:avLst/>
              <a:gdLst/>
              <a:ahLst/>
              <a:cxnLst/>
              <a:rect l="l" t="t" r="r" b="b"/>
              <a:pathLst>
                <a:path w="1682750" h="254635">
                  <a:moveTo>
                    <a:pt x="1028700" y="243827"/>
                  </a:moveTo>
                  <a:lnTo>
                    <a:pt x="0" y="243827"/>
                  </a:lnTo>
                  <a:lnTo>
                    <a:pt x="0" y="254495"/>
                  </a:lnTo>
                  <a:lnTo>
                    <a:pt x="1028700" y="254495"/>
                  </a:lnTo>
                  <a:lnTo>
                    <a:pt x="1028700" y="243827"/>
                  </a:lnTo>
                  <a:close/>
                </a:path>
                <a:path w="1682750" h="254635">
                  <a:moveTo>
                    <a:pt x="1682496" y="0"/>
                  </a:moveTo>
                  <a:lnTo>
                    <a:pt x="365760" y="0"/>
                  </a:lnTo>
                  <a:lnTo>
                    <a:pt x="365760" y="10668"/>
                  </a:lnTo>
                  <a:lnTo>
                    <a:pt x="1682496" y="10668"/>
                  </a:lnTo>
                  <a:lnTo>
                    <a:pt x="16824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3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25005" y="1280498"/>
            <a:ext cx="2491910" cy="399520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365183" indent="-353095">
              <a:spcBef>
                <a:spcPts val="95"/>
              </a:spcBef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r>
              <a:rPr sz="2455" spc="-5">
                <a:solidFill>
                  <a:schemeClr val="bg1"/>
                </a:solidFill>
                <a:latin typeface="Calibri"/>
                <a:cs typeface="Calibri"/>
              </a:rPr>
              <a:t>O</a:t>
            </a:r>
            <a:r>
              <a:rPr sz="2455" spc="-2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55" spc="-5">
                <a:solidFill>
                  <a:schemeClr val="bg1"/>
                </a:solidFill>
                <a:latin typeface="Calibri"/>
                <a:cs typeface="Calibri"/>
              </a:rPr>
              <a:t>que</a:t>
            </a:r>
            <a:r>
              <a:rPr sz="2455" spc="-1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55" spc="-5">
                <a:solidFill>
                  <a:schemeClr val="bg1"/>
                </a:solidFill>
                <a:latin typeface="Calibri"/>
                <a:cs typeface="Calibri"/>
              </a:rPr>
              <a:t>é</a:t>
            </a:r>
            <a:r>
              <a:rPr sz="2455" spc="-1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55" spc="-5">
                <a:solidFill>
                  <a:schemeClr val="bg1"/>
                </a:solidFill>
                <a:latin typeface="Calibri"/>
                <a:cs typeface="Calibri"/>
              </a:rPr>
              <a:t>melhor?</a:t>
            </a:r>
            <a:endParaRPr sz="2455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825005" y="344553"/>
            <a:ext cx="2588609" cy="636178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spc="-10">
                <a:solidFill>
                  <a:schemeClr val="bg1"/>
                </a:solidFill>
              </a:rPr>
              <a:t>Composição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22712" y="4641652"/>
            <a:ext cx="5733143" cy="1858864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 marR="5090" indent="636" algn="ctr">
              <a:spcBef>
                <a:spcPts val="95"/>
              </a:spcBef>
            </a:pPr>
            <a:r>
              <a:rPr sz="2000" i="1" spc="-5">
                <a:latin typeface="Calibri"/>
                <a:cs typeface="Calibri"/>
              </a:rPr>
              <a:t>A</a:t>
            </a:r>
            <a:r>
              <a:rPr sz="2000" i="1" spc="-10">
                <a:latin typeface="Calibri"/>
                <a:cs typeface="Calibri"/>
              </a:rPr>
              <a:t> </a:t>
            </a:r>
            <a:r>
              <a:rPr sz="2000" b="1" i="1" spc="-10">
                <a:latin typeface="Calibri"/>
                <a:cs typeface="Calibri"/>
              </a:rPr>
              <a:t>composição</a:t>
            </a:r>
            <a:r>
              <a:rPr sz="2000" b="1" i="1" spc="40">
                <a:latin typeface="Calibri"/>
                <a:cs typeface="Calibri"/>
              </a:rPr>
              <a:t> </a:t>
            </a:r>
            <a:r>
              <a:rPr sz="2000" i="1" spc="-10">
                <a:latin typeface="Calibri"/>
                <a:cs typeface="Calibri"/>
              </a:rPr>
              <a:t>evita</a:t>
            </a:r>
            <a:r>
              <a:rPr sz="2000" i="1">
                <a:latin typeface="Calibri"/>
                <a:cs typeface="Calibri"/>
              </a:rPr>
              <a:t> </a:t>
            </a:r>
            <a:r>
              <a:rPr sz="2000" i="1" spc="-5">
                <a:latin typeface="Calibri"/>
                <a:cs typeface="Calibri"/>
              </a:rPr>
              <a:t>a </a:t>
            </a:r>
            <a:r>
              <a:rPr sz="2000" i="1" spc="-10">
                <a:latin typeface="Calibri"/>
                <a:cs typeface="Calibri"/>
              </a:rPr>
              <a:t>duplicação</a:t>
            </a:r>
            <a:r>
              <a:rPr sz="2000" i="1" spc="30">
                <a:latin typeface="Calibri"/>
                <a:cs typeface="Calibri"/>
              </a:rPr>
              <a:t> </a:t>
            </a:r>
            <a:r>
              <a:rPr sz="2000" i="1" spc="-5">
                <a:latin typeface="Calibri"/>
                <a:cs typeface="Calibri"/>
              </a:rPr>
              <a:t>de </a:t>
            </a:r>
            <a:r>
              <a:rPr sz="2000" i="1" spc="-10">
                <a:latin typeface="Calibri"/>
                <a:cs typeface="Calibri"/>
              </a:rPr>
              <a:t>dados</a:t>
            </a:r>
            <a:r>
              <a:rPr sz="2000" i="1" spc="30">
                <a:latin typeface="Calibri"/>
                <a:cs typeface="Calibri"/>
              </a:rPr>
              <a:t> </a:t>
            </a:r>
            <a:r>
              <a:rPr sz="2000" i="1" spc="-5">
                <a:latin typeface="Calibri"/>
                <a:cs typeface="Calibri"/>
              </a:rPr>
              <a:t>e de </a:t>
            </a:r>
            <a:r>
              <a:rPr sz="2000" i="1">
                <a:latin typeface="Calibri"/>
                <a:cs typeface="Calibri"/>
              </a:rPr>
              <a:t> </a:t>
            </a:r>
            <a:r>
              <a:rPr sz="2000" i="1" spc="-10">
                <a:latin typeface="Calibri"/>
                <a:cs typeface="Calibri"/>
              </a:rPr>
              <a:t>métodos</a:t>
            </a:r>
            <a:r>
              <a:rPr sz="2000" i="1" spc="25">
                <a:latin typeface="Calibri"/>
                <a:cs typeface="Calibri"/>
              </a:rPr>
              <a:t> </a:t>
            </a:r>
            <a:r>
              <a:rPr sz="2000" i="1" spc="-10">
                <a:latin typeface="Calibri"/>
                <a:cs typeface="Calibri"/>
              </a:rPr>
              <a:t>que</a:t>
            </a:r>
            <a:r>
              <a:rPr sz="2000" i="1" spc="10">
                <a:latin typeface="Calibri"/>
                <a:cs typeface="Calibri"/>
              </a:rPr>
              <a:t> </a:t>
            </a:r>
            <a:r>
              <a:rPr sz="2000" i="1" spc="-10">
                <a:latin typeface="Calibri"/>
                <a:cs typeface="Calibri"/>
              </a:rPr>
              <a:t>têm</a:t>
            </a:r>
            <a:r>
              <a:rPr sz="2000" i="1" spc="-20">
                <a:latin typeface="Calibri"/>
                <a:cs typeface="Calibri"/>
              </a:rPr>
              <a:t> </a:t>
            </a:r>
            <a:r>
              <a:rPr sz="2000" i="1" spc="-5">
                <a:latin typeface="Calibri"/>
                <a:cs typeface="Calibri"/>
              </a:rPr>
              <a:t>a</a:t>
            </a:r>
            <a:r>
              <a:rPr sz="2000" i="1">
                <a:latin typeface="Calibri"/>
                <a:cs typeface="Calibri"/>
              </a:rPr>
              <a:t> </a:t>
            </a:r>
            <a:r>
              <a:rPr sz="2000" i="1" spc="-5">
                <a:latin typeface="Calibri"/>
                <a:cs typeface="Calibri"/>
              </a:rPr>
              <a:t>mesma</a:t>
            </a:r>
            <a:r>
              <a:rPr sz="2000" i="1">
                <a:latin typeface="Calibri"/>
                <a:cs typeface="Calibri"/>
              </a:rPr>
              <a:t> </a:t>
            </a:r>
            <a:r>
              <a:rPr sz="2000" i="1" spc="-15">
                <a:latin typeface="Calibri"/>
                <a:cs typeface="Calibri"/>
              </a:rPr>
              <a:t>função,</a:t>
            </a:r>
            <a:r>
              <a:rPr sz="2000" i="1" spc="30">
                <a:latin typeface="Calibri"/>
                <a:cs typeface="Calibri"/>
              </a:rPr>
              <a:t> </a:t>
            </a:r>
            <a:r>
              <a:rPr sz="2000" i="1" spc="-10">
                <a:latin typeface="Calibri"/>
                <a:cs typeface="Calibri"/>
              </a:rPr>
              <a:t>diminuindo</a:t>
            </a:r>
            <a:r>
              <a:rPr sz="2000" i="1" spc="25">
                <a:latin typeface="Calibri"/>
                <a:cs typeface="Calibri"/>
              </a:rPr>
              <a:t> </a:t>
            </a:r>
            <a:r>
              <a:rPr sz="2000" i="1" spc="-5">
                <a:latin typeface="Calibri"/>
                <a:cs typeface="Calibri"/>
              </a:rPr>
              <a:t>o </a:t>
            </a:r>
            <a:r>
              <a:rPr sz="2000" i="1" spc="-346">
                <a:latin typeface="Calibri"/>
                <a:cs typeface="Calibri"/>
              </a:rPr>
              <a:t> </a:t>
            </a:r>
            <a:r>
              <a:rPr sz="2000" i="1" u="sng" spc="-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trabalho</a:t>
            </a:r>
            <a:r>
              <a:rPr sz="2000" i="1" spc="30">
                <a:latin typeface="Calibri"/>
                <a:cs typeface="Calibri"/>
              </a:rPr>
              <a:t> </a:t>
            </a:r>
            <a:r>
              <a:rPr sz="2000" i="1" spc="-5">
                <a:latin typeface="Calibri"/>
                <a:cs typeface="Calibri"/>
              </a:rPr>
              <a:t>do</a:t>
            </a:r>
            <a:r>
              <a:rPr sz="2000" i="1" spc="5">
                <a:latin typeface="Calibri"/>
                <a:cs typeface="Calibri"/>
              </a:rPr>
              <a:t> </a:t>
            </a:r>
            <a:r>
              <a:rPr sz="2000" i="1" spc="-10">
                <a:latin typeface="Calibri"/>
                <a:cs typeface="Calibri"/>
              </a:rPr>
              <a:t>programador</a:t>
            </a:r>
            <a:r>
              <a:rPr sz="2000" i="1" spc="55">
                <a:latin typeface="Calibri"/>
                <a:cs typeface="Calibri"/>
              </a:rPr>
              <a:t> </a:t>
            </a:r>
            <a:r>
              <a:rPr sz="2000" i="1" spc="-5">
                <a:latin typeface="Calibri"/>
                <a:cs typeface="Calibri"/>
              </a:rPr>
              <a:t>e a</a:t>
            </a:r>
            <a:r>
              <a:rPr sz="2000" i="1" spc="15">
                <a:latin typeface="Calibri"/>
                <a:cs typeface="Calibri"/>
              </a:rPr>
              <a:t> </a:t>
            </a:r>
            <a:r>
              <a:rPr sz="2000" i="1" spc="-10">
                <a:latin typeface="Calibri"/>
                <a:cs typeface="Calibri"/>
              </a:rPr>
              <a:t>possibilidade</a:t>
            </a:r>
            <a:r>
              <a:rPr sz="2000" i="1" spc="20">
                <a:latin typeface="Calibri"/>
                <a:cs typeface="Calibri"/>
              </a:rPr>
              <a:t> </a:t>
            </a:r>
            <a:r>
              <a:rPr sz="2000" i="1" spc="-10">
                <a:latin typeface="Calibri"/>
                <a:cs typeface="Calibri"/>
              </a:rPr>
              <a:t>de </a:t>
            </a:r>
            <a:r>
              <a:rPr sz="2000" i="1" spc="-5">
                <a:latin typeface="Calibri"/>
                <a:cs typeface="Calibri"/>
              </a:rPr>
              <a:t> </a:t>
            </a:r>
            <a:r>
              <a:rPr sz="2000" i="1" u="sng" spc="-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erros</a:t>
            </a:r>
            <a:r>
              <a:rPr sz="2000" i="1" spc="-5">
                <a:latin typeface="Calibri"/>
                <a:cs typeface="Calibri"/>
              </a:rPr>
              <a:t>,</a:t>
            </a:r>
            <a:r>
              <a:rPr sz="2000" i="1" spc="25">
                <a:latin typeface="Calibri"/>
                <a:cs typeface="Calibri"/>
              </a:rPr>
              <a:t> </a:t>
            </a:r>
            <a:r>
              <a:rPr sz="2000" i="1" spc="-5">
                <a:latin typeface="Calibri"/>
                <a:cs typeface="Calibri"/>
              </a:rPr>
              <a:t>além</a:t>
            </a:r>
            <a:r>
              <a:rPr sz="2000" i="1">
                <a:latin typeface="Calibri"/>
                <a:cs typeface="Calibri"/>
              </a:rPr>
              <a:t> </a:t>
            </a:r>
            <a:r>
              <a:rPr sz="2000" i="1" spc="-5">
                <a:latin typeface="Calibri"/>
                <a:cs typeface="Calibri"/>
              </a:rPr>
              <a:t>de</a:t>
            </a:r>
            <a:r>
              <a:rPr sz="2000" i="1" spc="25">
                <a:latin typeface="Calibri"/>
                <a:cs typeface="Calibri"/>
              </a:rPr>
              <a:t> </a:t>
            </a:r>
            <a:r>
              <a:rPr sz="2000" i="1" spc="-10">
                <a:latin typeface="Calibri"/>
                <a:cs typeface="Calibri"/>
              </a:rPr>
              <a:t>facilitar</a:t>
            </a:r>
            <a:r>
              <a:rPr sz="2000" i="1" spc="10">
                <a:latin typeface="Calibri"/>
                <a:cs typeface="Calibri"/>
              </a:rPr>
              <a:t> </a:t>
            </a:r>
            <a:r>
              <a:rPr sz="2000" i="1" spc="-5">
                <a:latin typeface="Calibri"/>
                <a:cs typeface="Calibri"/>
              </a:rPr>
              <a:t>a</a:t>
            </a:r>
            <a:r>
              <a:rPr sz="2000" i="1" spc="40">
                <a:latin typeface="Calibri"/>
                <a:cs typeface="Calibri"/>
              </a:rPr>
              <a:t> </a:t>
            </a:r>
            <a:r>
              <a:rPr sz="2000" i="1" spc="-10">
                <a:latin typeface="Calibri"/>
                <a:cs typeface="Calibri"/>
              </a:rPr>
              <a:t>manutenção.</a:t>
            </a:r>
            <a:r>
              <a:rPr sz="2000" i="1" spc="65">
                <a:latin typeface="Calibri"/>
                <a:cs typeface="Calibri"/>
              </a:rPr>
              <a:t> </a:t>
            </a:r>
            <a:r>
              <a:rPr sz="2000" i="1" spc="-5">
                <a:latin typeface="Calibri"/>
                <a:cs typeface="Calibri"/>
              </a:rPr>
              <a:t>Essa</a:t>
            </a:r>
            <a:r>
              <a:rPr sz="2000" i="1" spc="35">
                <a:latin typeface="Calibri"/>
                <a:cs typeface="Calibri"/>
              </a:rPr>
              <a:t> </a:t>
            </a:r>
            <a:r>
              <a:rPr sz="2000" i="1" spc="-5">
                <a:latin typeface="Calibri"/>
                <a:cs typeface="Calibri"/>
              </a:rPr>
              <a:t>é </a:t>
            </a:r>
            <a:r>
              <a:rPr sz="2000" i="1">
                <a:latin typeface="Calibri"/>
                <a:cs typeface="Calibri"/>
              </a:rPr>
              <a:t> </a:t>
            </a:r>
            <a:r>
              <a:rPr sz="2000" i="1" spc="-10">
                <a:latin typeface="Calibri"/>
                <a:cs typeface="Calibri"/>
              </a:rPr>
              <a:t>uma</a:t>
            </a:r>
            <a:r>
              <a:rPr sz="2000" i="1" spc="20">
                <a:latin typeface="Calibri"/>
                <a:cs typeface="Calibri"/>
              </a:rPr>
              <a:t> </a:t>
            </a:r>
            <a:r>
              <a:rPr sz="2000" i="1" spc="-10">
                <a:latin typeface="Calibri"/>
                <a:cs typeface="Calibri"/>
              </a:rPr>
              <a:t>das</a:t>
            </a:r>
            <a:r>
              <a:rPr sz="2000" i="1" spc="30">
                <a:latin typeface="Calibri"/>
                <a:cs typeface="Calibri"/>
              </a:rPr>
              <a:t> </a:t>
            </a:r>
            <a:r>
              <a:rPr sz="2000" i="1" spc="-10">
                <a:latin typeface="Calibri"/>
                <a:cs typeface="Calibri"/>
              </a:rPr>
              <a:t>principais</a:t>
            </a:r>
            <a:r>
              <a:rPr sz="2000" i="1" spc="20">
                <a:latin typeface="Calibri"/>
                <a:cs typeface="Calibri"/>
              </a:rPr>
              <a:t> </a:t>
            </a:r>
            <a:r>
              <a:rPr sz="2000" i="1" spc="-10">
                <a:latin typeface="Calibri"/>
                <a:cs typeface="Calibri"/>
              </a:rPr>
              <a:t>características</a:t>
            </a:r>
            <a:r>
              <a:rPr sz="2000" i="1">
                <a:latin typeface="Calibri"/>
                <a:cs typeface="Calibri"/>
              </a:rPr>
              <a:t> </a:t>
            </a:r>
            <a:r>
              <a:rPr sz="2000" i="1" spc="-10">
                <a:latin typeface="Calibri"/>
                <a:cs typeface="Calibri"/>
              </a:rPr>
              <a:t>das</a:t>
            </a:r>
            <a:r>
              <a:rPr sz="2000" i="1" spc="15">
                <a:latin typeface="Calibri"/>
                <a:cs typeface="Calibri"/>
              </a:rPr>
              <a:t> </a:t>
            </a:r>
            <a:r>
              <a:rPr sz="2000" i="1" spc="-10">
                <a:latin typeface="Calibri"/>
                <a:cs typeface="Calibri"/>
              </a:rPr>
              <a:t>linguagens </a:t>
            </a:r>
            <a:r>
              <a:rPr sz="2000" i="1" spc="-351">
                <a:latin typeface="Calibri"/>
                <a:cs typeface="Calibri"/>
              </a:rPr>
              <a:t> </a:t>
            </a:r>
            <a:r>
              <a:rPr sz="2000" i="1" spc="-10">
                <a:latin typeface="Calibri"/>
                <a:cs typeface="Calibri"/>
              </a:rPr>
              <a:t>orientadas</a:t>
            </a:r>
            <a:r>
              <a:rPr sz="2000" i="1" spc="10">
                <a:latin typeface="Calibri"/>
                <a:cs typeface="Calibri"/>
              </a:rPr>
              <a:t> </a:t>
            </a:r>
            <a:r>
              <a:rPr sz="2000" i="1" spc="-5">
                <a:latin typeface="Calibri"/>
                <a:cs typeface="Calibri"/>
              </a:rPr>
              <a:t>a</a:t>
            </a:r>
            <a:r>
              <a:rPr sz="2000" i="1">
                <a:latin typeface="Calibri"/>
                <a:cs typeface="Calibri"/>
              </a:rPr>
              <a:t> </a:t>
            </a:r>
            <a:r>
              <a:rPr sz="2000" i="1" spc="-10">
                <a:latin typeface="Calibri"/>
                <a:cs typeface="Calibri"/>
              </a:rPr>
              <a:t>objetos:</a:t>
            </a:r>
            <a:r>
              <a:rPr sz="2000" i="1" spc="35">
                <a:latin typeface="Calibri"/>
                <a:cs typeface="Calibri"/>
              </a:rPr>
              <a:t> </a:t>
            </a:r>
            <a:r>
              <a:rPr sz="2000" i="1" spc="-5">
                <a:latin typeface="Calibri"/>
                <a:cs typeface="Calibri"/>
              </a:rPr>
              <a:t>a</a:t>
            </a:r>
            <a:r>
              <a:rPr sz="2000" i="1" spc="5">
                <a:latin typeface="Calibri"/>
                <a:cs typeface="Calibri"/>
              </a:rPr>
              <a:t> </a:t>
            </a:r>
            <a:r>
              <a:rPr sz="2000" b="1" i="1" spc="-10">
                <a:latin typeface="Calibri"/>
                <a:cs typeface="Calibri"/>
              </a:rPr>
              <a:t>reutilização</a:t>
            </a:r>
            <a:r>
              <a:rPr sz="2000" b="1" i="1" spc="25">
                <a:latin typeface="Calibri"/>
                <a:cs typeface="Calibri"/>
              </a:rPr>
              <a:t> </a:t>
            </a:r>
            <a:r>
              <a:rPr sz="2000" b="1" i="1" spc="-5">
                <a:latin typeface="Calibri"/>
                <a:cs typeface="Calibri"/>
              </a:rPr>
              <a:t>de</a:t>
            </a:r>
            <a:r>
              <a:rPr sz="2000" b="1" i="1">
                <a:latin typeface="Calibri"/>
                <a:cs typeface="Calibri"/>
              </a:rPr>
              <a:t> </a:t>
            </a:r>
            <a:r>
              <a:rPr sz="2000" b="1" i="1" spc="-10">
                <a:latin typeface="Calibri"/>
                <a:cs typeface="Calibri"/>
              </a:rPr>
              <a:t>código</a:t>
            </a:r>
            <a:r>
              <a:rPr sz="2000" i="1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8947" y="0"/>
            <a:ext cx="2746996" cy="628977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lang="en-US" spc="-5" dirty="0" err="1">
                <a:solidFill>
                  <a:schemeClr val="bg1"/>
                </a:solidFill>
              </a:rPr>
              <a:t>Exercício</a:t>
            </a:r>
            <a:r>
              <a:rPr lang="en-US" spc="-5" dirty="0">
                <a:solidFill>
                  <a:schemeClr val="bg1"/>
                </a:solidFill>
              </a:rPr>
              <a:t> 1</a:t>
            </a:r>
            <a:endParaRPr spc="-5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78DA8-A201-81BD-3408-F8F9A8E48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712" y="276388"/>
            <a:ext cx="4143375" cy="51339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6EA98B-2C65-DEC8-DA0C-5B65C37F2113}"/>
              </a:ext>
            </a:extLst>
          </p:cNvPr>
          <p:cNvSpPr txBox="1"/>
          <p:nvPr/>
        </p:nvSpPr>
        <p:spPr>
          <a:xfrm>
            <a:off x="681038" y="1276350"/>
            <a:ext cx="54149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Implementar o exercício representado no diagrama de classes ao lado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01AA05-E50A-A3BD-8CA9-0898EDEF124A}"/>
              </a:ext>
            </a:extLst>
          </p:cNvPr>
          <p:cNvSpPr txBox="1"/>
          <p:nvPr/>
        </p:nvSpPr>
        <p:spPr>
          <a:xfrm>
            <a:off x="681038" y="3451860"/>
            <a:ext cx="53073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Contrutor:  atualizar modelo e bateria (adicionar um obj a variável de classe)</a:t>
            </a:r>
          </a:p>
          <a:p>
            <a:r>
              <a:rPr lang="pt-BR" dirty="0">
                <a:solidFill>
                  <a:schemeClr val="bg1"/>
                </a:solidFill>
              </a:rPr>
              <a:t>getModelo: retornar o modelo do cel</a:t>
            </a:r>
          </a:p>
          <a:p>
            <a:r>
              <a:rPr lang="pt-BR" dirty="0">
                <a:solidFill>
                  <a:schemeClr val="bg1"/>
                </a:solidFill>
              </a:rPr>
              <a:t>getInfoBateria: retornar o informações que estão na classe bateria. (capacidade e carga Atual)</a:t>
            </a:r>
          </a:p>
          <a:p>
            <a:r>
              <a:rPr lang="pt-BR" dirty="0">
                <a:solidFill>
                  <a:schemeClr val="bg1"/>
                </a:solidFill>
              </a:rPr>
              <a:t>Descarregar: alterar cargaAtual que está em bateria  para 0 – implementar em celular.</a:t>
            </a:r>
          </a:p>
          <a:p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1906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8947" y="0"/>
            <a:ext cx="2746996" cy="628977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lang="en-US" spc="-5" dirty="0" err="1">
                <a:solidFill>
                  <a:schemeClr val="bg1"/>
                </a:solidFill>
              </a:rPr>
              <a:t>Exercício</a:t>
            </a:r>
            <a:r>
              <a:rPr lang="en-US" spc="-5" dirty="0">
                <a:solidFill>
                  <a:schemeClr val="bg1"/>
                </a:solidFill>
              </a:rPr>
              <a:t> 2</a:t>
            </a:r>
            <a:endParaRPr spc="-5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6EA98B-2C65-DEC8-DA0C-5B65C37F2113}"/>
              </a:ext>
            </a:extLst>
          </p:cNvPr>
          <p:cNvSpPr txBox="1"/>
          <p:nvPr/>
        </p:nvSpPr>
        <p:spPr>
          <a:xfrm>
            <a:off x="681038" y="1276350"/>
            <a:ext cx="41576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Implementar o exercício representado no diagrama de classes ao lado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A26DD9-FC71-EF0E-CEE7-6D1F9BED4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837" y="314488"/>
            <a:ext cx="6334125" cy="515302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06B4213-50B2-2296-E791-4E7F2A17A3FF}"/>
              </a:ext>
            </a:extLst>
          </p:cNvPr>
          <p:cNvSpPr/>
          <p:nvPr/>
        </p:nvSpPr>
        <p:spPr>
          <a:xfrm>
            <a:off x="7432040" y="2068830"/>
            <a:ext cx="1723390" cy="457200"/>
          </a:xfrm>
          <a:prstGeom prst="rect">
            <a:avLst/>
          </a:prstGeom>
          <a:solidFill>
            <a:srgbClr val="ECECFF"/>
          </a:solidFill>
          <a:ln>
            <a:solidFill>
              <a:srgbClr val="ECE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4C0BA3-DDE3-4C95-A416-4E4F4CABECDF}"/>
              </a:ext>
            </a:extLst>
          </p:cNvPr>
          <p:cNvSpPr txBox="1"/>
          <p:nvPr/>
        </p:nvSpPr>
        <p:spPr>
          <a:xfrm>
            <a:off x="5311515" y="628977"/>
            <a:ext cx="18992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Método </a:t>
            </a:r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adicionar acessório</a:t>
            </a:r>
            <a:r>
              <a:rPr lang="pt-BR" dirty="0"/>
              <a:t> – Criar um acessório.</a:t>
            </a:r>
          </a:p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getDetalhes</a:t>
            </a:r>
            <a:r>
              <a:rPr lang="pt-BR" dirty="0"/>
              <a:t>- imprimir todos dados de carro + motor+ fabricante + Acessório.</a:t>
            </a:r>
          </a:p>
        </p:txBody>
      </p:sp>
    </p:spTree>
    <p:extLst>
      <p:ext uri="{BB962C8B-B14F-4D97-AF65-F5344CB8AC3E}">
        <p14:creationId xmlns:p14="http://schemas.microsoft.com/office/powerpoint/2010/main" val="27857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8946" y="0"/>
            <a:ext cx="7999354" cy="628977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lang="en-US" spc="-5" dirty="0" err="1">
                <a:solidFill>
                  <a:schemeClr val="bg1"/>
                </a:solidFill>
              </a:rPr>
              <a:t>Exercício</a:t>
            </a:r>
            <a:r>
              <a:rPr lang="en-US" spc="-5" dirty="0">
                <a:solidFill>
                  <a:schemeClr val="bg1"/>
                </a:solidFill>
              </a:rPr>
              <a:t> 3</a:t>
            </a:r>
            <a:endParaRPr spc="-5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C2B881-B433-3884-6A27-4202D7A1B457}"/>
              </a:ext>
            </a:extLst>
          </p:cNvPr>
          <p:cNvSpPr/>
          <p:nvPr/>
        </p:nvSpPr>
        <p:spPr>
          <a:xfrm>
            <a:off x="7652385" y="3268980"/>
            <a:ext cx="851535" cy="548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D989CF3-DA02-06D9-2C89-CFF52DB46E5C}"/>
              </a:ext>
            </a:extLst>
          </p:cNvPr>
          <p:cNvCxnSpPr>
            <a:cxnSpLocks/>
            <a:endCxn id="2" idx="1"/>
          </p:cNvCxnSpPr>
          <p:nvPr/>
        </p:nvCxnSpPr>
        <p:spPr>
          <a:xfrm flipH="1" flipV="1">
            <a:off x="7652385" y="3543300"/>
            <a:ext cx="851535" cy="114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4FA5715-F692-48FB-A849-A53B56452C3A}"/>
              </a:ext>
            </a:extLst>
          </p:cNvPr>
          <p:cNvSpPr txBox="1"/>
          <p:nvPr/>
        </p:nvSpPr>
        <p:spPr>
          <a:xfrm>
            <a:off x="467859" y="4610614"/>
            <a:ext cx="4104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Composição, pois departamentos existem se universidade existe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F91921C-4FE0-B979-6023-638A3402542E}"/>
              </a:ext>
            </a:extLst>
          </p:cNvPr>
          <p:cNvCxnSpPr/>
          <p:nvPr/>
        </p:nvCxnSpPr>
        <p:spPr>
          <a:xfrm flipV="1">
            <a:off x="3609975" y="3648075"/>
            <a:ext cx="395968" cy="962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7553C76E-4C3B-0E41-137B-AEEC07536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550" y="1062037"/>
            <a:ext cx="8477250" cy="51720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4D286C-5ED5-E98A-A654-FB7573203068}"/>
              </a:ext>
            </a:extLst>
          </p:cNvPr>
          <p:cNvSpPr txBox="1"/>
          <p:nvPr/>
        </p:nvSpPr>
        <p:spPr>
          <a:xfrm>
            <a:off x="298054" y="893987"/>
            <a:ext cx="2654695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Implementar o diagrama de classes ao lado, gets e sets foram omitidos</a:t>
            </a:r>
          </a:p>
          <a:p>
            <a:endParaRPr lang="pt-BR" sz="2400" dirty="0">
              <a:solidFill>
                <a:schemeClr val="bg1"/>
              </a:solidFill>
            </a:endParaRPr>
          </a:p>
          <a:p>
            <a:r>
              <a:rPr lang="pt-BR" sz="1400" dirty="0">
                <a:solidFill>
                  <a:schemeClr val="bg1"/>
                </a:solidFill>
              </a:rPr>
              <a:t>Exemplo de saída:</a:t>
            </a:r>
          </a:p>
          <a:p>
            <a:r>
              <a:rPr lang="pt-BR" sz="1400" dirty="0">
                <a:solidFill>
                  <a:schemeClr val="bg1"/>
                </a:solidFill>
              </a:rPr>
              <a:t>Computador Gamer Ultimate ligado.</a:t>
            </a:r>
          </a:p>
          <a:p>
            <a:r>
              <a:rPr lang="pt-BR" sz="1400" dirty="0">
                <a:solidFill>
                  <a:schemeClr val="bg1"/>
                </a:solidFill>
              </a:rPr>
              <a:t>Especificações:</a:t>
            </a:r>
          </a:p>
          <a:p>
            <a:r>
              <a:rPr lang="pt-BR" sz="1400" dirty="0">
                <a:solidFill>
                  <a:schemeClr val="bg1"/>
                </a:solidFill>
              </a:rPr>
              <a:t>Placa: ASUS Z790</a:t>
            </a:r>
          </a:p>
          <a:p>
            <a:r>
              <a:rPr lang="pt-BR" sz="1400" dirty="0">
                <a:solidFill>
                  <a:schemeClr val="bg1"/>
                </a:solidFill>
              </a:rPr>
              <a:t>  - Intel i7 (8 núcleos)</a:t>
            </a:r>
          </a:p>
          <a:p>
            <a:r>
              <a:rPr lang="pt-BR" sz="1400" dirty="0">
                <a:solidFill>
                  <a:schemeClr val="bg1"/>
                </a:solidFill>
              </a:rPr>
              <a:t>  - 16GB RAM</a:t>
            </a:r>
          </a:p>
          <a:p>
            <a:r>
              <a:rPr lang="pt-BR" sz="1400" dirty="0">
                <a:solidFill>
                  <a:schemeClr val="bg1"/>
                </a:solidFill>
              </a:rPr>
              <a:t>Fonte: 750W</a:t>
            </a:r>
          </a:p>
          <a:p>
            <a:r>
              <a:rPr lang="pt-BR" sz="1400" dirty="0">
                <a:solidFill>
                  <a:schemeClr val="bg1"/>
                </a:solidFill>
              </a:rPr>
              <a:t>Disco 1: SSD 1000GB</a:t>
            </a:r>
          </a:p>
          <a:p>
            <a:endParaRPr lang="pt-BR" sz="1400" dirty="0">
              <a:solidFill>
                <a:schemeClr val="bg1"/>
              </a:solidFill>
            </a:endParaRPr>
          </a:p>
          <a:p>
            <a:r>
              <a:rPr lang="pt-BR" sz="1400" dirty="0">
                <a:solidFill>
                  <a:schemeClr val="bg1"/>
                </a:solidFill>
              </a:rPr>
              <a:t>Criar uma classe teste</a:t>
            </a:r>
          </a:p>
          <a:p>
            <a:endParaRPr lang="pt-BR" sz="240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BA9865-5FC6-3C62-CD1D-EB5566FF9385}"/>
              </a:ext>
            </a:extLst>
          </p:cNvPr>
          <p:cNvSpPr/>
          <p:nvPr/>
        </p:nvSpPr>
        <p:spPr>
          <a:xfrm>
            <a:off x="6311900" y="2171700"/>
            <a:ext cx="2108200" cy="135890"/>
          </a:xfrm>
          <a:prstGeom prst="rect">
            <a:avLst/>
          </a:prstGeom>
          <a:solidFill>
            <a:srgbClr val="ECECFF"/>
          </a:solidFill>
          <a:ln>
            <a:solidFill>
              <a:srgbClr val="ECE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0E9E38-8E79-DB31-CC3E-D976FA94EB48}"/>
              </a:ext>
            </a:extLst>
          </p:cNvPr>
          <p:cNvSpPr txBox="1"/>
          <p:nvPr/>
        </p:nvSpPr>
        <p:spPr>
          <a:xfrm>
            <a:off x="2929889" y="1294537"/>
            <a:ext cx="30899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Método ligar:</a:t>
            </a:r>
          </a:p>
          <a:p>
            <a:r>
              <a:rPr lang="pt-BR" dirty="0"/>
              <a:t>Imprimir computador ligando</a:t>
            </a:r>
          </a:p>
          <a:p>
            <a:r>
              <a:rPr lang="pt-BR" dirty="0"/>
              <a:t>Especificações: Imprimir Todas as peças do Pc – Placa mãe, fonte, Disco, CPU e momeriaRam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A529D5-8D25-91DA-92C9-5D04C80CBB1A}"/>
              </a:ext>
            </a:extLst>
          </p:cNvPr>
          <p:cNvSpPr txBox="1"/>
          <p:nvPr/>
        </p:nvSpPr>
        <p:spPr>
          <a:xfrm>
            <a:off x="7749540" y="4933779"/>
            <a:ext cx="34061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Placa mãe método getDetalhes.</a:t>
            </a:r>
          </a:p>
          <a:p>
            <a:r>
              <a:rPr lang="pt-BR" dirty="0"/>
              <a:t>Imprimir modelo da Placa Mae, Modelo da CPU e capacidade de Memória.</a:t>
            </a:r>
          </a:p>
        </p:txBody>
      </p:sp>
    </p:spTree>
    <p:extLst>
      <p:ext uri="{BB962C8B-B14F-4D97-AF65-F5344CB8AC3E}">
        <p14:creationId xmlns:p14="http://schemas.microsoft.com/office/powerpoint/2010/main" val="2064958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61868" y="1724871"/>
            <a:ext cx="8896336" cy="3074582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sz="19900" spc="-5" dirty="0" err="1">
                <a:solidFill>
                  <a:schemeClr val="bg1"/>
                </a:solidFill>
              </a:rPr>
              <a:t>He</a:t>
            </a:r>
            <a:r>
              <a:rPr sz="19900" spc="-90" dirty="0" err="1">
                <a:solidFill>
                  <a:schemeClr val="bg1"/>
                </a:solidFill>
              </a:rPr>
              <a:t>r</a:t>
            </a:r>
            <a:r>
              <a:rPr sz="19900" spc="-5" dirty="0" err="1">
                <a:solidFill>
                  <a:schemeClr val="bg1"/>
                </a:solidFill>
              </a:rPr>
              <a:t>an</a:t>
            </a:r>
            <a:r>
              <a:rPr sz="19900" spc="-40" dirty="0" err="1">
                <a:solidFill>
                  <a:schemeClr val="bg1"/>
                </a:solidFill>
              </a:rPr>
              <a:t>ç</a:t>
            </a:r>
            <a:r>
              <a:rPr sz="19900" spc="-5" dirty="0" err="1">
                <a:solidFill>
                  <a:schemeClr val="bg1"/>
                </a:solidFill>
              </a:rPr>
              <a:t>a</a:t>
            </a:r>
            <a:endParaRPr sz="19900" spc="-5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5503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6073" y="1281136"/>
            <a:ext cx="10547927" cy="5445105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365183" marR="232852" indent="-353095">
              <a:spcBef>
                <a:spcPts val="100"/>
              </a:spcBef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A </a:t>
            </a:r>
            <a:r>
              <a:rPr sz="2800" spc="-15" dirty="0" err="1">
                <a:solidFill>
                  <a:schemeClr val="bg1"/>
                </a:solidFill>
                <a:latin typeface="Calibri"/>
                <a:cs typeface="Calibri"/>
              </a:rPr>
              <a:t>herança</a:t>
            </a:r>
            <a:r>
              <a:rPr sz="2800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permite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0" dirty="0" err="1">
                <a:solidFill>
                  <a:srgbClr val="FF0000"/>
                </a:solidFill>
                <a:latin typeface="Calibri"/>
                <a:cs typeface="Calibri"/>
              </a:rPr>
              <a:t>construir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classes </a:t>
            </a:r>
            <a:r>
              <a:rPr sz="2800" spc="-5" dirty="0" err="1">
                <a:solidFill>
                  <a:srgbClr val="FF0000"/>
                </a:solidFill>
                <a:latin typeface="Calibri"/>
                <a:cs typeface="Calibri"/>
              </a:rPr>
              <a:t>baseadas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 err="1">
                <a:solidFill>
                  <a:schemeClr val="bg1"/>
                </a:solidFill>
                <a:latin typeface="Calibri"/>
                <a:cs typeface="Calibri"/>
              </a:rPr>
              <a:t>em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5" dirty="0" err="1">
                <a:solidFill>
                  <a:schemeClr val="bg1"/>
                </a:solidFill>
                <a:latin typeface="Calibri"/>
                <a:cs typeface="Calibri"/>
              </a:rPr>
              <a:t>outras</a:t>
            </a:r>
            <a:r>
              <a:rPr sz="2800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já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5" dirty="0" err="1">
                <a:solidFill>
                  <a:srgbClr val="FF0000"/>
                </a:solidFill>
                <a:latin typeface="Calibri"/>
                <a:cs typeface="Calibri"/>
              </a:rPr>
              <a:t>existentes</a:t>
            </a:r>
            <a:r>
              <a:rPr sz="2800" spc="-15" dirty="0">
                <a:solidFill>
                  <a:schemeClr val="bg1"/>
                </a:solidFill>
                <a:latin typeface="Calibri"/>
                <a:cs typeface="Calibri"/>
              </a:rPr>
              <a:t>.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A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classe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original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é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chamada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de </a:t>
            </a:r>
            <a:r>
              <a:rPr sz="2800" b="1" spc="-5" dirty="0" err="1">
                <a:solidFill>
                  <a:srgbClr val="FF0000"/>
                </a:solidFill>
                <a:latin typeface="Calibri"/>
                <a:cs typeface="Calibri"/>
              </a:rPr>
              <a:t>classe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 err="1">
                <a:solidFill>
                  <a:srgbClr val="FF0000"/>
                </a:solidFill>
                <a:latin typeface="Calibri"/>
                <a:cs typeface="Calibri"/>
              </a:rPr>
              <a:t>mãe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 err="1">
                <a:solidFill>
                  <a:srgbClr val="FF0000"/>
                </a:solidFill>
                <a:latin typeface="Calibri"/>
                <a:cs typeface="Calibri"/>
              </a:rPr>
              <a:t>ou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 err="1">
                <a:solidFill>
                  <a:srgbClr val="FF0000"/>
                </a:solidFill>
                <a:latin typeface="Calibri"/>
                <a:cs typeface="Calibri"/>
              </a:rPr>
              <a:t>superclasse</a:t>
            </a:r>
            <a:r>
              <a:rPr sz="2800" b="1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e a </a:t>
            </a:r>
            <a:r>
              <a:rPr sz="2800" dirty="0" err="1">
                <a:solidFill>
                  <a:schemeClr val="bg1"/>
                </a:solidFill>
                <a:latin typeface="Calibri"/>
                <a:cs typeface="Calibri"/>
              </a:rPr>
              <a:t>classe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 err="1">
                <a:solidFill>
                  <a:schemeClr val="bg1"/>
                </a:solidFill>
                <a:latin typeface="Calibri"/>
                <a:cs typeface="Calibri"/>
              </a:rPr>
              <a:t>criada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 a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partir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da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classe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original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é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chamada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31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b="1" spc="-5" dirty="0" err="1">
                <a:solidFill>
                  <a:schemeClr val="bg1"/>
                </a:solidFill>
                <a:latin typeface="Calibri"/>
                <a:cs typeface="Calibri"/>
              </a:rPr>
              <a:t>classe</a:t>
            </a:r>
            <a:r>
              <a:rPr sz="2800" b="1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b="1" spc="-5" dirty="0" err="1">
                <a:solidFill>
                  <a:schemeClr val="bg1"/>
                </a:solidFill>
                <a:latin typeface="Calibri"/>
                <a:cs typeface="Calibri"/>
              </a:rPr>
              <a:t>filha</a:t>
            </a:r>
            <a:r>
              <a:rPr sz="2800" b="1" spc="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ou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b="1" spc="-5" dirty="0" err="1">
                <a:solidFill>
                  <a:schemeClr val="bg1"/>
                </a:solidFill>
                <a:latin typeface="Calibri"/>
                <a:cs typeface="Calibri"/>
              </a:rPr>
              <a:t>subclasse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.</a:t>
            </a:r>
            <a:endParaRPr sz="28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65183" marR="5090" indent="-353095">
              <a:spcBef>
                <a:spcPts val="1803"/>
              </a:spcBef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Em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uma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0" dirty="0" err="1">
                <a:solidFill>
                  <a:schemeClr val="bg1"/>
                </a:solidFill>
                <a:latin typeface="Calibri"/>
                <a:cs typeface="Calibri"/>
              </a:rPr>
              <a:t>estrutura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de </a:t>
            </a:r>
            <a:r>
              <a:rPr sz="2800" spc="-10" dirty="0" err="1">
                <a:solidFill>
                  <a:schemeClr val="bg1"/>
                </a:solidFill>
                <a:latin typeface="Calibri"/>
                <a:cs typeface="Calibri"/>
              </a:rPr>
              <a:t>herança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,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a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classe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 err="1">
                <a:solidFill>
                  <a:schemeClr val="bg1"/>
                </a:solidFill>
                <a:latin typeface="Calibri"/>
                <a:cs typeface="Calibri"/>
              </a:rPr>
              <a:t>mãe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5" dirty="0" err="1">
                <a:solidFill>
                  <a:schemeClr val="bg1"/>
                </a:solidFill>
                <a:latin typeface="Calibri"/>
                <a:cs typeface="Calibri"/>
              </a:rPr>
              <a:t>contém</a:t>
            </a:r>
            <a:r>
              <a:rPr sz="2800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0" dirty="0" err="1">
                <a:solidFill>
                  <a:schemeClr val="bg1"/>
                </a:solidFill>
                <a:latin typeface="Calibri"/>
                <a:cs typeface="Calibri"/>
              </a:rPr>
              <a:t>atributos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e </a:t>
            </a:r>
            <a:r>
              <a:rPr sz="2800" spc="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0" dirty="0" err="1">
                <a:solidFill>
                  <a:schemeClr val="bg1"/>
                </a:solidFill>
                <a:latin typeface="Calibri"/>
                <a:cs typeface="Calibri"/>
              </a:rPr>
              <a:t>métodos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b="1" spc="-5" dirty="0" err="1">
                <a:solidFill>
                  <a:srgbClr val="FF0000"/>
                </a:solidFill>
                <a:latin typeface="Calibri"/>
                <a:cs typeface="Calibri"/>
              </a:rPr>
              <a:t>genéricos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.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E as 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classes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filhas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5" dirty="0" err="1">
                <a:solidFill>
                  <a:schemeClr val="bg1"/>
                </a:solidFill>
                <a:latin typeface="Calibri"/>
                <a:cs typeface="Calibri"/>
              </a:rPr>
              <a:t>contêm</a:t>
            </a:r>
            <a:r>
              <a:rPr sz="2800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atributos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e </a:t>
            </a:r>
            <a:r>
              <a:rPr sz="2800" spc="-10" dirty="0" err="1">
                <a:solidFill>
                  <a:schemeClr val="bg1"/>
                </a:solidFill>
                <a:latin typeface="Calibri"/>
                <a:cs typeface="Calibri"/>
              </a:rPr>
              <a:t>métodos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b="1" spc="-5" dirty="0" err="1">
                <a:solidFill>
                  <a:srgbClr val="FF0000"/>
                </a:solidFill>
                <a:latin typeface="Calibri"/>
                <a:cs typeface="Calibri"/>
              </a:rPr>
              <a:t>específicos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, tendo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a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possibilidade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de </a:t>
            </a:r>
            <a:r>
              <a:rPr sz="2800" spc="-10" dirty="0" err="1">
                <a:solidFill>
                  <a:schemeClr val="bg1"/>
                </a:solidFill>
                <a:latin typeface="Calibri"/>
                <a:cs typeface="Calibri"/>
              </a:rPr>
              <a:t>utilizar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também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os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0" dirty="0" err="1">
                <a:solidFill>
                  <a:schemeClr val="bg1"/>
                </a:solidFill>
                <a:latin typeface="Calibri"/>
                <a:cs typeface="Calibri"/>
              </a:rPr>
              <a:t>atributos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e </a:t>
            </a:r>
            <a:r>
              <a:rPr sz="2800" spc="-531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0" dirty="0" err="1">
                <a:solidFill>
                  <a:schemeClr val="bg1"/>
                </a:solidFill>
                <a:latin typeface="Calibri"/>
                <a:cs typeface="Calibri"/>
              </a:rPr>
              <a:t>métodos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0" dirty="0" err="1">
                <a:solidFill>
                  <a:schemeClr val="bg1"/>
                </a:solidFill>
                <a:latin typeface="Calibri"/>
                <a:cs typeface="Calibri"/>
              </a:rPr>
              <a:t>genéricos</a:t>
            </a:r>
            <a:r>
              <a:rPr sz="2800" spc="-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da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classe</a:t>
            </a:r>
            <a:r>
              <a:rPr sz="2800" spc="-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 err="1">
                <a:solidFill>
                  <a:schemeClr val="bg1"/>
                </a:solidFill>
                <a:latin typeface="Calibri"/>
                <a:cs typeface="Calibri"/>
              </a:rPr>
              <a:t>mãe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.</a:t>
            </a:r>
          </a:p>
          <a:p>
            <a:pPr marL="365183" indent="-353095">
              <a:spcBef>
                <a:spcPts val="1808"/>
              </a:spcBef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O</a:t>
            </a:r>
            <a:r>
              <a:rPr sz="2800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0" dirty="0" err="1">
                <a:solidFill>
                  <a:schemeClr val="bg1"/>
                </a:solidFill>
                <a:latin typeface="Calibri"/>
                <a:cs typeface="Calibri"/>
              </a:rPr>
              <a:t>objetivo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da</a:t>
            </a:r>
            <a:r>
              <a:rPr sz="2800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0" dirty="0" err="1">
                <a:solidFill>
                  <a:schemeClr val="bg1"/>
                </a:solidFill>
                <a:latin typeface="Calibri"/>
                <a:cs typeface="Calibri"/>
              </a:rPr>
              <a:t>herança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 é </a:t>
            </a:r>
            <a:r>
              <a:rPr sz="2800" spc="-10" dirty="0" err="1">
                <a:solidFill>
                  <a:srgbClr val="FF0000"/>
                </a:solidFill>
                <a:latin typeface="Calibri"/>
                <a:cs typeface="Calibri"/>
              </a:rPr>
              <a:t>evitar</a:t>
            </a:r>
            <a:r>
              <a:rPr sz="2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rgbClr val="FF0000"/>
                </a:solidFill>
                <a:latin typeface="Calibri"/>
                <a:cs typeface="Calibri"/>
              </a:rPr>
              <a:t>duplicidade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 de </a:t>
            </a:r>
            <a:r>
              <a:rPr sz="2800" spc="-10" dirty="0" err="1">
                <a:solidFill>
                  <a:srgbClr val="FF0000"/>
                </a:solidFill>
                <a:latin typeface="Calibri"/>
                <a:cs typeface="Calibri"/>
              </a:rPr>
              <a:t>código</a:t>
            </a: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por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 err="1">
                <a:solidFill>
                  <a:schemeClr val="bg1"/>
                </a:solidFill>
                <a:latin typeface="Calibri"/>
                <a:cs typeface="Calibri"/>
              </a:rPr>
              <a:t>meio</a:t>
            </a:r>
            <a:r>
              <a:rPr sz="2800" spc="-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da</a:t>
            </a:r>
            <a:endParaRPr sz="28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65183"/>
            <a:r>
              <a:rPr sz="2800" b="1" spc="-10" dirty="0" err="1">
                <a:solidFill>
                  <a:srgbClr val="FF0000"/>
                </a:solidFill>
                <a:latin typeface="Calibri"/>
                <a:cs typeface="Calibri"/>
              </a:rPr>
              <a:t>reutilização</a:t>
            </a:r>
            <a:r>
              <a:rPr sz="2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de</a:t>
            </a:r>
            <a:r>
              <a:rPr sz="28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 err="1">
                <a:solidFill>
                  <a:srgbClr val="FF0000"/>
                </a:solidFill>
                <a:latin typeface="Calibri"/>
                <a:cs typeface="Calibri"/>
              </a:rPr>
              <a:t>atributos</a:t>
            </a:r>
            <a:r>
              <a:rPr sz="28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 err="1">
                <a:solidFill>
                  <a:srgbClr val="FF0000"/>
                </a:solidFill>
                <a:latin typeface="Calibri"/>
                <a:cs typeface="Calibri"/>
              </a:rPr>
              <a:t>métodos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de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classes</a:t>
            </a:r>
            <a:r>
              <a:rPr sz="2800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genéricas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.</a:t>
            </a:r>
            <a:endParaRPr sz="28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65183" indent="-353095">
              <a:spcBef>
                <a:spcPts val="1803"/>
              </a:spcBef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Esse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0" dirty="0" err="1">
                <a:solidFill>
                  <a:schemeClr val="bg1"/>
                </a:solidFill>
                <a:latin typeface="Calibri"/>
                <a:cs typeface="Calibri"/>
              </a:rPr>
              <a:t>relacionamento</a:t>
            </a:r>
            <a:r>
              <a:rPr sz="2800" spc="-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também</a:t>
            </a:r>
            <a:r>
              <a:rPr sz="2800" spc="-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é</a:t>
            </a:r>
            <a:r>
              <a:rPr sz="2800" spc="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chamado</a:t>
            </a:r>
            <a:r>
              <a:rPr sz="2800" spc="-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de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65" dirty="0">
                <a:solidFill>
                  <a:srgbClr val="FF0000"/>
                </a:solidFill>
                <a:latin typeface="Calibri"/>
                <a:cs typeface="Calibri"/>
              </a:rPr>
              <a:t>“</a:t>
            </a:r>
            <a:r>
              <a:rPr sz="2800" b="1" spc="-65" dirty="0">
                <a:solidFill>
                  <a:srgbClr val="FF0000"/>
                </a:solidFill>
                <a:latin typeface="Calibri"/>
                <a:cs typeface="Calibri"/>
              </a:rPr>
              <a:t>é-um</a:t>
            </a:r>
            <a:r>
              <a:rPr sz="2800" spc="-65" dirty="0">
                <a:solidFill>
                  <a:srgbClr val="FF0000"/>
                </a:solidFill>
                <a:latin typeface="Calibri"/>
                <a:cs typeface="Calibri"/>
              </a:rPr>
              <a:t>”.</a:t>
            </a:r>
            <a:endParaRPr sz="28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25005" y="353078"/>
            <a:ext cx="1756488" cy="636178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spc="-5">
                <a:solidFill>
                  <a:schemeClr val="bg1"/>
                </a:solidFill>
              </a:rPr>
              <a:t>He</a:t>
            </a:r>
            <a:r>
              <a:rPr spc="-90">
                <a:solidFill>
                  <a:schemeClr val="bg1"/>
                </a:solidFill>
              </a:rPr>
              <a:t>r</a:t>
            </a:r>
            <a:r>
              <a:rPr spc="-5">
                <a:solidFill>
                  <a:schemeClr val="bg1"/>
                </a:solidFill>
              </a:rPr>
              <a:t>an</a:t>
            </a:r>
            <a:r>
              <a:rPr spc="-40">
                <a:solidFill>
                  <a:schemeClr val="bg1"/>
                </a:solidFill>
              </a:rPr>
              <a:t>ç</a:t>
            </a:r>
            <a:r>
              <a:rPr spc="-5">
                <a:solidFill>
                  <a:schemeClr val="bg1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9A0852B-D9DE-446D-B37D-65627491E659}"/>
              </a:ext>
            </a:extLst>
          </p:cNvPr>
          <p:cNvSpPr/>
          <p:nvPr/>
        </p:nvSpPr>
        <p:spPr>
          <a:xfrm>
            <a:off x="2133600" y="1764145"/>
            <a:ext cx="8201891" cy="43503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5005" y="396796"/>
            <a:ext cx="1757760" cy="636178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spc="-5">
                <a:solidFill>
                  <a:schemeClr val="bg1"/>
                </a:solidFill>
              </a:rPr>
              <a:t>He</a:t>
            </a:r>
            <a:r>
              <a:rPr spc="-90">
                <a:solidFill>
                  <a:schemeClr val="bg1"/>
                </a:solidFill>
              </a:rPr>
              <a:t>r</a:t>
            </a:r>
            <a:r>
              <a:rPr spc="-5">
                <a:solidFill>
                  <a:schemeClr val="bg1"/>
                </a:solidFill>
              </a:rPr>
              <a:t>an</a:t>
            </a:r>
            <a:r>
              <a:rPr spc="-40">
                <a:solidFill>
                  <a:schemeClr val="bg1"/>
                </a:solidFill>
              </a:rPr>
              <a:t>ç</a:t>
            </a:r>
            <a:r>
              <a:rPr spc="-5">
                <a:solidFill>
                  <a:schemeClr val="bg1"/>
                </a:solidFill>
              </a:rPr>
              <a:t>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352036" y="2200158"/>
            <a:ext cx="5509939" cy="3460173"/>
            <a:chOff x="2106167" y="2196083"/>
            <a:chExt cx="5499735" cy="34537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06167" y="2196083"/>
              <a:ext cx="5256276" cy="345338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914644" y="2975482"/>
              <a:ext cx="1678939" cy="1207135"/>
            </a:xfrm>
            <a:custGeom>
              <a:avLst/>
              <a:gdLst/>
              <a:ahLst/>
              <a:cxnLst/>
              <a:rect l="l" t="t" r="r" b="b"/>
              <a:pathLst>
                <a:path w="1678940" h="1207135">
                  <a:moveTo>
                    <a:pt x="1667509" y="0"/>
                  </a:moveTo>
                  <a:lnTo>
                    <a:pt x="1678558" y="33654"/>
                  </a:lnTo>
                  <a:lnTo>
                    <a:pt x="0" y="1207134"/>
                  </a:lnTo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825005" y="1303401"/>
            <a:ext cx="1483567" cy="407154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365183" indent="-353095">
              <a:spcBef>
                <a:spcPts val="95"/>
              </a:spcBef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r>
              <a:rPr sz="2505" spc="-15">
                <a:solidFill>
                  <a:schemeClr val="bg1"/>
                </a:solidFill>
                <a:latin typeface="Calibri"/>
                <a:cs typeface="Calibri"/>
              </a:rPr>
              <a:t>Exemplo</a:t>
            </a:r>
            <a:endParaRPr sz="2505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14974" y="2416204"/>
            <a:ext cx="1442852" cy="54115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</a:ln>
        </p:spPr>
        <p:txBody>
          <a:bodyPr vert="horz" wrap="square" lIns="0" tIns="15904" rIns="0" bIns="0" rtlCol="0">
            <a:spAutoFit/>
          </a:bodyPr>
          <a:lstStyle/>
          <a:p>
            <a:pPr marL="134876">
              <a:spcBef>
                <a:spcPts val="125"/>
              </a:spcBef>
            </a:pPr>
            <a:r>
              <a:rPr sz="1703" spc="-5">
                <a:latin typeface="Calibri"/>
                <a:cs typeface="Calibri"/>
              </a:rPr>
              <a:t>Apartamento</a:t>
            </a:r>
            <a:endParaRPr sz="1703">
              <a:latin typeface="Calibri"/>
              <a:cs typeface="Calibri"/>
            </a:endParaRPr>
          </a:p>
          <a:p>
            <a:pPr marL="148872"/>
            <a:r>
              <a:rPr sz="1703" b="1">
                <a:latin typeface="Calibri"/>
                <a:cs typeface="Calibri"/>
              </a:rPr>
              <a:t>é</a:t>
            </a:r>
            <a:r>
              <a:rPr sz="1703" b="1" spc="-45">
                <a:latin typeface="Calibri"/>
                <a:cs typeface="Calibri"/>
              </a:rPr>
              <a:t> </a:t>
            </a:r>
            <a:r>
              <a:rPr sz="1703" b="1">
                <a:latin typeface="Calibri"/>
                <a:cs typeface="Calibri"/>
              </a:rPr>
              <a:t>um</a:t>
            </a:r>
            <a:r>
              <a:rPr sz="1703" b="1" spc="-35">
                <a:latin typeface="Calibri"/>
                <a:cs typeface="Calibri"/>
              </a:rPr>
              <a:t> </a:t>
            </a:r>
            <a:r>
              <a:rPr sz="1703" spc="-5">
                <a:latin typeface="Calibri"/>
                <a:cs typeface="Calibri"/>
              </a:rPr>
              <a:t>imóvel.</a:t>
            </a:r>
            <a:endParaRPr sz="1703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09540" y="2981003"/>
            <a:ext cx="1734858" cy="1209375"/>
          </a:xfrm>
          <a:custGeom>
            <a:avLst/>
            <a:gdLst/>
            <a:ahLst/>
            <a:cxnLst/>
            <a:rect l="l" t="t" r="r" b="b"/>
            <a:pathLst>
              <a:path w="1731645" h="1207135">
                <a:moveTo>
                  <a:pt x="0" y="0"/>
                </a:moveTo>
                <a:lnTo>
                  <a:pt x="11049" y="33654"/>
                </a:lnTo>
                <a:lnTo>
                  <a:pt x="1731264" y="1207134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9" name="object 9"/>
          <p:cNvSpPr txBox="1"/>
          <p:nvPr/>
        </p:nvSpPr>
        <p:spPr>
          <a:xfrm>
            <a:off x="2586333" y="2416204"/>
            <a:ext cx="1442852" cy="54115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</a:ln>
        </p:spPr>
        <p:txBody>
          <a:bodyPr vert="horz" wrap="square" lIns="0" tIns="15904" rIns="0" bIns="0" rtlCol="0">
            <a:spAutoFit/>
          </a:bodyPr>
          <a:lstStyle/>
          <a:p>
            <a:pPr algn="ctr">
              <a:spcBef>
                <a:spcPts val="125"/>
              </a:spcBef>
            </a:pPr>
            <a:r>
              <a:rPr sz="1703">
                <a:latin typeface="Calibri"/>
                <a:cs typeface="Calibri"/>
              </a:rPr>
              <a:t>Casa</a:t>
            </a:r>
            <a:r>
              <a:rPr sz="1703" spc="-40">
                <a:latin typeface="Calibri"/>
                <a:cs typeface="Calibri"/>
              </a:rPr>
              <a:t> </a:t>
            </a:r>
            <a:r>
              <a:rPr sz="1703" b="1">
                <a:latin typeface="Calibri"/>
                <a:cs typeface="Calibri"/>
              </a:rPr>
              <a:t>é</a:t>
            </a:r>
            <a:r>
              <a:rPr sz="1703" b="1" spc="-30">
                <a:latin typeface="Calibri"/>
                <a:cs typeface="Calibri"/>
              </a:rPr>
              <a:t> </a:t>
            </a:r>
            <a:r>
              <a:rPr sz="1703" b="1">
                <a:latin typeface="Calibri"/>
                <a:cs typeface="Calibri"/>
              </a:rPr>
              <a:t>um</a:t>
            </a:r>
            <a:endParaRPr sz="1703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703" spc="-5">
                <a:latin typeface="Calibri"/>
                <a:cs typeface="Calibri"/>
              </a:rPr>
              <a:t>imóvel.</a:t>
            </a:r>
            <a:endParaRPr sz="1703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10717" y="1944415"/>
            <a:ext cx="1060509" cy="30027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1803" spc="-5">
                <a:solidFill>
                  <a:srgbClr val="C00000"/>
                </a:solidFill>
                <a:latin typeface="Calibri"/>
                <a:cs typeface="Calibri"/>
              </a:rPr>
              <a:t>Classe</a:t>
            </a:r>
            <a:r>
              <a:rPr sz="1803" spc="-8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3">
                <a:solidFill>
                  <a:srgbClr val="C00000"/>
                </a:solidFill>
                <a:latin typeface="Calibri"/>
                <a:cs typeface="Calibri"/>
              </a:rPr>
              <a:t>mãe</a:t>
            </a:r>
            <a:endParaRPr sz="1803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44410" y="4324102"/>
            <a:ext cx="1057328" cy="30027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1803" spc="-5">
                <a:solidFill>
                  <a:srgbClr val="C00000"/>
                </a:solidFill>
                <a:latin typeface="Calibri"/>
                <a:cs typeface="Calibri"/>
              </a:rPr>
              <a:t>Classe</a:t>
            </a:r>
            <a:r>
              <a:rPr sz="1803" spc="-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3" spc="-10">
                <a:solidFill>
                  <a:srgbClr val="C00000"/>
                </a:solidFill>
                <a:latin typeface="Calibri"/>
                <a:cs typeface="Calibri"/>
              </a:rPr>
              <a:t>filha</a:t>
            </a:r>
            <a:endParaRPr sz="1803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54368" y="4324102"/>
            <a:ext cx="1057328" cy="300276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12724">
              <a:spcBef>
                <a:spcPts val="100"/>
              </a:spcBef>
            </a:pPr>
            <a:r>
              <a:rPr sz="1803" spc="-5">
                <a:solidFill>
                  <a:srgbClr val="C00000"/>
                </a:solidFill>
                <a:latin typeface="Calibri"/>
                <a:cs typeface="Calibri"/>
              </a:rPr>
              <a:t>Classe</a:t>
            </a:r>
            <a:r>
              <a:rPr sz="1803" spc="-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3" spc="-10">
                <a:solidFill>
                  <a:srgbClr val="C00000"/>
                </a:solidFill>
                <a:latin typeface="Calibri"/>
                <a:cs typeface="Calibri"/>
              </a:rPr>
              <a:t>filha</a:t>
            </a:r>
            <a:endParaRPr sz="1803">
              <a:latin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A8E1B7-16AA-EBBC-969D-2819711FABDC}"/>
              </a:ext>
            </a:extLst>
          </p:cNvPr>
          <p:cNvSpPr txBox="1"/>
          <p:nvPr/>
        </p:nvSpPr>
        <p:spPr>
          <a:xfrm>
            <a:off x="4929418" y="1056909"/>
            <a:ext cx="3906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Notação</a:t>
            </a:r>
            <a:r>
              <a:rPr lang="en-US" sz="3200" dirty="0">
                <a:solidFill>
                  <a:schemeClr val="bg1"/>
                </a:solidFill>
              </a:rPr>
              <a:t> UML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5005" y="396796"/>
            <a:ext cx="1757760" cy="636178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spc="-5">
                <a:solidFill>
                  <a:schemeClr val="bg1"/>
                </a:solidFill>
              </a:rPr>
              <a:t>He</a:t>
            </a:r>
            <a:r>
              <a:rPr spc="-90">
                <a:solidFill>
                  <a:schemeClr val="bg1"/>
                </a:solidFill>
              </a:rPr>
              <a:t>r</a:t>
            </a:r>
            <a:r>
              <a:rPr spc="-5">
                <a:solidFill>
                  <a:schemeClr val="bg1"/>
                </a:solidFill>
              </a:rPr>
              <a:t>an</a:t>
            </a:r>
            <a:r>
              <a:rPr spc="-40">
                <a:solidFill>
                  <a:schemeClr val="bg1"/>
                </a:solidFill>
              </a:rPr>
              <a:t>ç</a:t>
            </a:r>
            <a:r>
              <a:rPr spc="-5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ED7F9C-0E3E-AD26-FEA2-7D1E88EA742C}"/>
              </a:ext>
            </a:extLst>
          </p:cNvPr>
          <p:cNvSpPr txBox="1"/>
          <p:nvPr/>
        </p:nvSpPr>
        <p:spPr>
          <a:xfrm>
            <a:off x="1405890" y="1737360"/>
            <a:ext cx="93802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</a:rPr>
              <a:t>Resumo: Simplificação do conceito: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>
                <a:solidFill>
                  <a:schemeClr val="bg1"/>
                </a:solidFill>
              </a:rPr>
              <a:t>“A subclasse (classe Filha) é uma superclasse (classe mãe) + o que ela mesma define.” – </a:t>
            </a:r>
            <a:r>
              <a:rPr lang="pt-BR" sz="4000" b="1" dirty="0">
                <a:solidFill>
                  <a:srgbClr val="FFFF00"/>
                </a:solidFill>
              </a:rPr>
              <a:t>Métodos</a:t>
            </a:r>
            <a:r>
              <a:rPr lang="pt-BR" sz="4000" b="1" dirty="0">
                <a:solidFill>
                  <a:schemeClr val="bg1"/>
                </a:solidFill>
              </a:rPr>
              <a:t> + </a:t>
            </a:r>
            <a:r>
              <a:rPr lang="pt-BR" sz="4000" b="1" dirty="0">
                <a:solidFill>
                  <a:srgbClr val="FF0000"/>
                </a:solidFill>
              </a:rPr>
              <a:t>atributos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>
                <a:solidFill>
                  <a:schemeClr val="bg1"/>
                </a:solidFill>
              </a:rPr>
              <a:t>“Como se a subclasse fosse uma continuação da superclasse</a:t>
            </a:r>
            <a:r>
              <a:rPr lang="pt-BR" sz="4000" dirty="0">
                <a:solidFill>
                  <a:schemeClr val="bg1"/>
                </a:solidFill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985452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5005" y="396796"/>
            <a:ext cx="1757760" cy="636178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spc="-5">
                <a:solidFill>
                  <a:schemeClr val="bg1"/>
                </a:solidFill>
              </a:rPr>
              <a:t>He</a:t>
            </a:r>
            <a:r>
              <a:rPr spc="-90">
                <a:solidFill>
                  <a:schemeClr val="bg1"/>
                </a:solidFill>
              </a:rPr>
              <a:t>r</a:t>
            </a:r>
            <a:r>
              <a:rPr spc="-5">
                <a:solidFill>
                  <a:schemeClr val="bg1"/>
                </a:solidFill>
              </a:rPr>
              <a:t>an</a:t>
            </a:r>
            <a:r>
              <a:rPr spc="-40">
                <a:solidFill>
                  <a:schemeClr val="bg1"/>
                </a:solidFill>
              </a:rPr>
              <a:t>ç</a:t>
            </a:r>
            <a:r>
              <a:rPr spc="-5">
                <a:solidFill>
                  <a:schemeClr val="bg1"/>
                </a:solidFill>
              </a:rPr>
              <a:t>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4ACE3E-67B4-15CF-06BE-CA1090B69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28" y="1274907"/>
            <a:ext cx="11111346" cy="534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019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5005" y="396796"/>
            <a:ext cx="1757760" cy="636178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spc="-5">
                <a:solidFill>
                  <a:schemeClr val="bg1"/>
                </a:solidFill>
              </a:rPr>
              <a:t>He</a:t>
            </a:r>
            <a:r>
              <a:rPr spc="-90">
                <a:solidFill>
                  <a:schemeClr val="bg1"/>
                </a:solidFill>
              </a:rPr>
              <a:t>r</a:t>
            </a:r>
            <a:r>
              <a:rPr spc="-5">
                <a:solidFill>
                  <a:schemeClr val="bg1"/>
                </a:solidFill>
              </a:rPr>
              <a:t>an</a:t>
            </a:r>
            <a:r>
              <a:rPr spc="-40">
                <a:solidFill>
                  <a:schemeClr val="bg1"/>
                </a:solidFill>
              </a:rPr>
              <a:t>ç</a:t>
            </a:r>
            <a:r>
              <a:rPr spc="-5">
                <a:solidFill>
                  <a:schemeClr val="bg1"/>
                </a:solidFill>
              </a:rPr>
              <a:t>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D176393-0550-E753-D25E-677FAEA39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55" y="1163783"/>
            <a:ext cx="11157527" cy="551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460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2036" y="1352514"/>
            <a:ext cx="10621819" cy="5245050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365183" marR="5090" indent="-353095">
              <a:spcBef>
                <a:spcPts val="100"/>
              </a:spcBef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r>
              <a:rPr sz="2800" spc="-45" dirty="0">
                <a:solidFill>
                  <a:schemeClr val="bg1"/>
                </a:solidFill>
                <a:latin typeface="Calibri"/>
                <a:cs typeface="Calibri"/>
              </a:rPr>
              <a:t>Para </a:t>
            </a:r>
            <a:r>
              <a:rPr sz="2800" spc="-20" dirty="0">
                <a:solidFill>
                  <a:schemeClr val="bg1"/>
                </a:solidFill>
                <a:latin typeface="Calibri"/>
                <a:cs typeface="Calibri"/>
              </a:rPr>
              <a:t>que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a </a:t>
            </a:r>
            <a:r>
              <a:rPr sz="2800" spc="-25" dirty="0" err="1">
                <a:solidFill>
                  <a:schemeClr val="bg1"/>
                </a:solidFill>
                <a:latin typeface="Calibri"/>
                <a:cs typeface="Calibri"/>
              </a:rPr>
              <a:t>classe</a:t>
            </a:r>
            <a:r>
              <a:rPr sz="2800" spc="-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25" dirty="0" err="1">
                <a:solidFill>
                  <a:schemeClr val="bg1"/>
                </a:solidFill>
                <a:latin typeface="Calibri"/>
                <a:cs typeface="Calibri"/>
              </a:rPr>
              <a:t>filha</a:t>
            </a:r>
            <a:r>
              <a:rPr sz="2800" spc="-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25" dirty="0" err="1">
                <a:solidFill>
                  <a:schemeClr val="bg1"/>
                </a:solidFill>
                <a:latin typeface="Calibri"/>
                <a:cs typeface="Calibri"/>
              </a:rPr>
              <a:t>possa</a:t>
            </a:r>
            <a:r>
              <a:rPr sz="2800" spc="-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30" dirty="0" err="1">
                <a:solidFill>
                  <a:schemeClr val="bg1"/>
                </a:solidFill>
                <a:latin typeface="Calibri"/>
                <a:cs typeface="Calibri"/>
              </a:rPr>
              <a:t>herdar</a:t>
            </a:r>
            <a:r>
              <a:rPr sz="2800" spc="-3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30" dirty="0" err="1">
                <a:solidFill>
                  <a:schemeClr val="bg1"/>
                </a:solidFill>
                <a:latin typeface="Calibri"/>
                <a:cs typeface="Calibri"/>
              </a:rPr>
              <a:t>atributos</a:t>
            </a:r>
            <a:r>
              <a:rPr sz="2800" spc="-3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e </a:t>
            </a:r>
            <a:r>
              <a:rPr sz="2800" spc="-30" dirty="0" err="1">
                <a:solidFill>
                  <a:schemeClr val="bg1"/>
                </a:solidFill>
                <a:latin typeface="Calibri"/>
                <a:cs typeface="Calibri"/>
              </a:rPr>
              <a:t>métodos</a:t>
            </a:r>
            <a:r>
              <a:rPr sz="2800" spc="-3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chemeClr val="bg1"/>
                </a:solidFill>
                <a:latin typeface="Calibri"/>
                <a:cs typeface="Calibri"/>
              </a:rPr>
              <a:t>de </a:t>
            </a:r>
            <a:r>
              <a:rPr sz="2800" spc="-20" dirty="0" err="1">
                <a:solidFill>
                  <a:schemeClr val="bg1"/>
                </a:solidFill>
                <a:latin typeface="Calibri"/>
                <a:cs typeface="Calibri"/>
              </a:rPr>
              <a:t>uma</a:t>
            </a:r>
            <a:r>
              <a:rPr sz="2800" spc="-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25" dirty="0" err="1">
                <a:solidFill>
                  <a:schemeClr val="bg1"/>
                </a:solidFill>
                <a:latin typeface="Calibri"/>
                <a:cs typeface="Calibri"/>
              </a:rPr>
              <a:t>classe</a:t>
            </a:r>
            <a:r>
              <a:rPr sz="2800" spc="-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20" dirty="0" err="1">
                <a:solidFill>
                  <a:schemeClr val="bg1"/>
                </a:solidFill>
                <a:latin typeface="Calibri"/>
                <a:cs typeface="Calibri"/>
              </a:rPr>
              <a:t>mãe</a:t>
            </a:r>
            <a:r>
              <a:rPr sz="2800" spc="-20" dirty="0">
                <a:solidFill>
                  <a:schemeClr val="bg1"/>
                </a:solidFill>
                <a:latin typeface="Calibri"/>
                <a:cs typeface="Calibri"/>
              </a:rPr>
              <a:t>,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o </a:t>
            </a:r>
            <a:r>
              <a:rPr sz="2800" spc="-30" dirty="0" err="1">
                <a:solidFill>
                  <a:schemeClr val="bg1"/>
                </a:solidFill>
                <a:latin typeface="Calibri"/>
                <a:cs typeface="Calibri"/>
              </a:rPr>
              <a:t>nível</a:t>
            </a:r>
            <a:r>
              <a:rPr sz="2800" spc="-3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chemeClr val="bg1"/>
                </a:solidFill>
                <a:latin typeface="Calibri"/>
                <a:cs typeface="Calibri"/>
              </a:rPr>
              <a:t>de </a:t>
            </a:r>
            <a:r>
              <a:rPr sz="2800" spc="-35" dirty="0" err="1">
                <a:solidFill>
                  <a:schemeClr val="bg1"/>
                </a:solidFill>
                <a:latin typeface="Calibri"/>
                <a:cs typeface="Calibri"/>
              </a:rPr>
              <a:t>proteção</a:t>
            </a:r>
            <a:r>
              <a:rPr sz="2800" spc="-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30" dirty="0" err="1">
                <a:solidFill>
                  <a:schemeClr val="bg1"/>
                </a:solidFill>
                <a:latin typeface="Calibri"/>
                <a:cs typeface="Calibri"/>
              </a:rPr>
              <a:t>destes</a:t>
            </a:r>
            <a:r>
              <a:rPr sz="2800" spc="-3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30" dirty="0" err="1">
                <a:solidFill>
                  <a:schemeClr val="bg1"/>
                </a:solidFill>
                <a:latin typeface="Calibri"/>
                <a:cs typeface="Calibri"/>
              </a:rPr>
              <a:t>elementos</a:t>
            </a:r>
            <a:r>
              <a:rPr sz="2800" spc="-3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5" dirty="0" err="1">
                <a:solidFill>
                  <a:schemeClr val="bg1"/>
                </a:solidFill>
                <a:latin typeface="Calibri"/>
                <a:cs typeface="Calibri"/>
              </a:rPr>
              <a:t>na</a:t>
            </a:r>
            <a:r>
              <a:rPr sz="2800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25" dirty="0" err="1">
                <a:solidFill>
                  <a:schemeClr val="bg1"/>
                </a:solidFill>
                <a:latin typeface="Calibri"/>
                <a:cs typeface="Calibri"/>
              </a:rPr>
              <a:t>classe</a:t>
            </a:r>
            <a:r>
              <a:rPr sz="2800" spc="-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20" dirty="0" err="1">
                <a:solidFill>
                  <a:schemeClr val="bg1"/>
                </a:solidFill>
                <a:latin typeface="Calibri"/>
                <a:cs typeface="Calibri"/>
              </a:rPr>
              <a:t>mãe</a:t>
            </a:r>
            <a:r>
              <a:rPr sz="2800" spc="-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30" dirty="0" err="1">
                <a:solidFill>
                  <a:schemeClr val="bg1"/>
                </a:solidFill>
                <a:latin typeface="Calibri"/>
                <a:cs typeface="Calibri"/>
              </a:rPr>
              <a:t>deve</a:t>
            </a:r>
            <a:r>
              <a:rPr sz="2800" spc="-3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31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chemeClr val="bg1"/>
                </a:solidFill>
                <a:latin typeface="Calibri"/>
                <a:cs typeface="Calibri"/>
              </a:rPr>
              <a:t>ser</a:t>
            </a:r>
            <a:r>
              <a:rPr sz="2800" spc="-4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b="1" spc="-35" dirty="0">
                <a:solidFill>
                  <a:srgbClr val="FF0000"/>
                </a:solidFill>
                <a:latin typeface="Calibri"/>
                <a:cs typeface="Calibri"/>
              </a:rPr>
              <a:t>protected</a:t>
            </a:r>
            <a:r>
              <a:rPr sz="2800" spc="-35" dirty="0">
                <a:solidFill>
                  <a:schemeClr val="bg1"/>
                </a:solidFill>
                <a:latin typeface="Calibri"/>
                <a:cs typeface="Calibri"/>
              </a:rPr>
              <a:t>.</a:t>
            </a:r>
            <a:endParaRPr sz="28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65183" marR="8271" indent="-353095">
              <a:spcBef>
                <a:spcPts val="1803"/>
              </a:spcBef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Em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chemeClr val="bg1"/>
                </a:solidFill>
                <a:latin typeface="Calibri"/>
                <a:cs typeface="Calibri"/>
              </a:rPr>
              <a:t>Java,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a </a:t>
            </a:r>
            <a:r>
              <a:rPr sz="2800" spc="-15" dirty="0" err="1">
                <a:solidFill>
                  <a:schemeClr val="bg1"/>
                </a:solidFill>
                <a:latin typeface="Calibri"/>
                <a:cs typeface="Calibri"/>
              </a:rPr>
              <a:t>herança</a:t>
            </a:r>
            <a:r>
              <a:rPr sz="2800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é</a:t>
            </a:r>
            <a:r>
              <a:rPr sz="2800" spc="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declarada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incluindo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-se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a </a:t>
            </a:r>
            <a:r>
              <a:rPr sz="2800" spc="-15" dirty="0" err="1">
                <a:solidFill>
                  <a:schemeClr val="bg1"/>
                </a:solidFill>
                <a:latin typeface="Calibri"/>
                <a:cs typeface="Calibri"/>
              </a:rPr>
              <a:t>palavra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chemeClr val="bg1"/>
                </a:solidFill>
                <a:latin typeface="Calibri"/>
                <a:cs typeface="Calibri"/>
              </a:rPr>
              <a:t>extends</a:t>
            </a:r>
            <a:r>
              <a:rPr sz="2800" b="1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chemeClr val="bg1"/>
                </a:solidFill>
                <a:latin typeface="Calibri"/>
                <a:cs typeface="Calibri"/>
              </a:rPr>
              <a:t>entre </a:t>
            </a:r>
            <a:r>
              <a:rPr sz="2800" spc="-526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o</a:t>
            </a:r>
            <a:r>
              <a:rPr sz="2800" spc="-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nome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da</a:t>
            </a:r>
            <a:r>
              <a:rPr sz="2800" spc="-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 err="1">
                <a:solidFill>
                  <a:schemeClr val="bg1"/>
                </a:solidFill>
                <a:latin typeface="Calibri"/>
                <a:cs typeface="Calibri"/>
              </a:rPr>
              <a:t>classe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filha</a:t>
            </a:r>
            <a:r>
              <a:rPr sz="2800" spc="-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e o</a:t>
            </a:r>
            <a:r>
              <a:rPr sz="2800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nome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 a</a:t>
            </a:r>
            <a:r>
              <a:rPr sz="2800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 err="1">
                <a:solidFill>
                  <a:schemeClr val="bg1"/>
                </a:solidFill>
                <a:latin typeface="Calibri"/>
                <a:cs typeface="Calibri"/>
              </a:rPr>
              <a:t>classe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 err="1">
                <a:solidFill>
                  <a:schemeClr val="bg1"/>
                </a:solidFill>
                <a:latin typeface="Calibri"/>
                <a:cs typeface="Calibri"/>
              </a:rPr>
              <a:t>mãe</a:t>
            </a:r>
            <a:r>
              <a:rPr sz="2800" dirty="0">
                <a:latin typeface="Calibri"/>
                <a:cs typeface="Calibri"/>
              </a:rPr>
              <a:t>.</a:t>
            </a:r>
          </a:p>
          <a:p>
            <a:pPr marL="368364">
              <a:spcBef>
                <a:spcPts val="1808"/>
              </a:spcBef>
            </a:pPr>
            <a:r>
              <a:rPr sz="2800" b="1" spc="-10" dirty="0" err="1">
                <a:solidFill>
                  <a:schemeClr val="bg1"/>
                </a:solidFill>
                <a:latin typeface="Calibri"/>
                <a:cs typeface="Calibri"/>
              </a:rPr>
              <a:t>Exemplo</a:t>
            </a:r>
            <a:r>
              <a:rPr sz="2800" b="1" spc="-10" dirty="0">
                <a:solidFill>
                  <a:schemeClr val="bg1"/>
                </a:solidFill>
                <a:latin typeface="Calibri"/>
                <a:cs typeface="Calibri"/>
              </a:rPr>
              <a:t>:</a:t>
            </a:r>
            <a:r>
              <a:rPr sz="2800" b="1" spc="-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class</a:t>
            </a:r>
            <a:r>
              <a:rPr sz="2800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rgbClr val="317579"/>
                </a:solidFill>
                <a:latin typeface="Calibri"/>
                <a:cs typeface="Calibri"/>
              </a:rPr>
              <a:t>ClasseFilha</a:t>
            </a:r>
            <a:r>
              <a:rPr sz="2800" spc="-25" dirty="0">
                <a:solidFill>
                  <a:srgbClr val="31757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3399"/>
                </a:solidFill>
                <a:latin typeface="Calibri"/>
                <a:cs typeface="Calibri"/>
              </a:rPr>
              <a:t>extends</a:t>
            </a:r>
            <a:r>
              <a:rPr sz="2800" spc="-2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 err="1">
                <a:solidFill>
                  <a:srgbClr val="317579"/>
                </a:solidFill>
                <a:latin typeface="Calibri"/>
                <a:cs typeface="Calibri"/>
              </a:rPr>
              <a:t>ClasseMae</a:t>
            </a:r>
            <a:endParaRPr sz="2800" dirty="0">
              <a:latin typeface="Calibri"/>
              <a:cs typeface="Calibri"/>
            </a:endParaRPr>
          </a:p>
          <a:p>
            <a:pPr marL="365183" marR="19722" indent="-353095">
              <a:spcBef>
                <a:spcPts val="1803"/>
              </a:spcBef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Em </a:t>
            </a:r>
            <a:r>
              <a:rPr sz="2800" dirty="0" err="1">
                <a:solidFill>
                  <a:schemeClr val="bg1"/>
                </a:solidFill>
                <a:latin typeface="Calibri"/>
                <a:cs typeface="Calibri"/>
              </a:rPr>
              <a:t>alguns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0" dirty="0" err="1">
                <a:solidFill>
                  <a:schemeClr val="bg1"/>
                </a:solidFill>
                <a:latin typeface="Calibri"/>
                <a:cs typeface="Calibri"/>
              </a:rPr>
              <a:t>casos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, </a:t>
            </a:r>
            <a:r>
              <a:rPr sz="2800" spc="-15" dirty="0">
                <a:solidFill>
                  <a:schemeClr val="bg1"/>
                </a:solidFill>
                <a:latin typeface="Calibri"/>
                <a:cs typeface="Calibri"/>
              </a:rPr>
              <a:t>para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a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classe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filha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5" dirty="0" err="1">
                <a:solidFill>
                  <a:schemeClr val="bg1"/>
                </a:solidFill>
                <a:latin typeface="Calibri"/>
                <a:cs typeface="Calibri"/>
              </a:rPr>
              <a:t>invocar</a:t>
            </a:r>
            <a:r>
              <a:rPr sz="2800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os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0" dirty="0" err="1">
                <a:solidFill>
                  <a:schemeClr val="bg1"/>
                </a:solidFill>
                <a:latin typeface="Calibri"/>
                <a:cs typeface="Calibri"/>
              </a:rPr>
              <a:t>atributos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e </a:t>
            </a:r>
            <a:r>
              <a:rPr sz="2800" spc="-10" dirty="0" err="1">
                <a:solidFill>
                  <a:schemeClr val="bg1"/>
                </a:solidFill>
                <a:latin typeface="Calibri"/>
                <a:cs typeface="Calibri"/>
              </a:rPr>
              <a:t>métodos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0" dirty="0" err="1">
                <a:solidFill>
                  <a:schemeClr val="bg1"/>
                </a:solidFill>
                <a:latin typeface="Calibri"/>
                <a:cs typeface="Calibri"/>
              </a:rPr>
              <a:t>herdados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da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 err="1">
                <a:solidFill>
                  <a:schemeClr val="bg1"/>
                </a:solidFill>
                <a:latin typeface="Calibri"/>
                <a:cs typeface="Calibri"/>
              </a:rPr>
              <a:t>classe</a:t>
            </a:r>
            <a:r>
              <a:rPr sz="2800" spc="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 err="1">
                <a:solidFill>
                  <a:schemeClr val="bg1"/>
                </a:solidFill>
                <a:latin typeface="Calibri"/>
                <a:cs typeface="Calibri"/>
              </a:rPr>
              <a:t>mãe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,</a:t>
            </a:r>
            <a:r>
              <a:rPr sz="2800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0" dirty="0" err="1">
                <a:solidFill>
                  <a:schemeClr val="bg1"/>
                </a:solidFill>
                <a:latin typeface="Calibri"/>
                <a:cs typeface="Calibri"/>
              </a:rPr>
              <a:t>deve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-se</a:t>
            </a:r>
            <a:r>
              <a:rPr sz="2800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usar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 o</a:t>
            </a:r>
            <a:r>
              <a:rPr sz="2800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0" dirty="0" err="1">
                <a:solidFill>
                  <a:schemeClr val="bg1"/>
                </a:solidFill>
                <a:latin typeface="Calibri"/>
                <a:cs typeface="Calibri"/>
              </a:rPr>
              <a:t>operador</a:t>
            </a:r>
            <a:r>
              <a:rPr sz="2800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super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,</a:t>
            </a:r>
            <a:r>
              <a:rPr sz="2800" spc="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seguido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de </a:t>
            </a:r>
            <a:r>
              <a:rPr sz="2800" spc="-526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5" dirty="0" err="1">
                <a:solidFill>
                  <a:srgbClr val="FF0000"/>
                </a:solidFill>
                <a:latin typeface="Calibri"/>
                <a:cs typeface="Calibri"/>
              </a:rPr>
              <a:t>ponto</a:t>
            </a:r>
            <a:r>
              <a:rPr sz="2800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(.) 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antes 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do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nome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do </a:t>
            </a:r>
            <a:r>
              <a:rPr sz="2800" spc="-10" dirty="0" err="1">
                <a:solidFill>
                  <a:schemeClr val="bg1"/>
                </a:solidFill>
                <a:latin typeface="Calibri"/>
                <a:cs typeface="Calibri"/>
              </a:rPr>
              <a:t>atributo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5" dirty="0" err="1">
                <a:solidFill>
                  <a:schemeClr val="bg1"/>
                </a:solidFill>
                <a:latin typeface="Calibri"/>
                <a:cs typeface="Calibri"/>
              </a:rPr>
              <a:t>ou</a:t>
            </a:r>
            <a:r>
              <a:rPr sz="28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0" dirty="0" err="1">
                <a:solidFill>
                  <a:schemeClr val="bg1"/>
                </a:solidFill>
                <a:latin typeface="Calibri"/>
                <a:cs typeface="Calibri"/>
              </a:rPr>
              <a:t>método</a:t>
            </a: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.</a:t>
            </a:r>
            <a:endParaRPr lang="en-US" sz="2800" spc="-1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65183" marR="19722" indent="-353095">
              <a:spcBef>
                <a:spcPts val="1803"/>
              </a:spcBef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r>
              <a:rPr sz="2800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b="1" spc="-10" dirty="0" err="1">
                <a:solidFill>
                  <a:schemeClr val="bg1"/>
                </a:solidFill>
                <a:latin typeface="Calibri"/>
                <a:cs typeface="Calibri"/>
              </a:rPr>
              <a:t>Exemplos</a:t>
            </a:r>
            <a:r>
              <a:rPr sz="2800" b="1" spc="-10" dirty="0">
                <a:solidFill>
                  <a:schemeClr val="bg1"/>
                </a:solidFill>
                <a:latin typeface="Calibri"/>
                <a:cs typeface="Calibri"/>
              </a:rPr>
              <a:t>: </a:t>
            </a:r>
            <a:r>
              <a:rPr sz="2800" b="1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25" dirty="0" err="1">
                <a:solidFill>
                  <a:srgbClr val="003399"/>
                </a:solidFill>
                <a:latin typeface="Calibri"/>
                <a:cs typeface="Calibri"/>
              </a:rPr>
              <a:t>super.</a:t>
            </a:r>
            <a:r>
              <a:rPr sz="2800" spc="-25" dirty="0" err="1">
                <a:solidFill>
                  <a:schemeClr val="bg1"/>
                </a:solidFill>
                <a:latin typeface="Calibri"/>
                <a:cs typeface="Calibri"/>
              </a:rPr>
              <a:t>atributo</a:t>
            </a:r>
            <a:r>
              <a:rPr sz="2800" spc="-25" dirty="0">
                <a:latin typeface="Calibri"/>
                <a:cs typeface="Calibri"/>
              </a:rPr>
              <a:t>,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5" dirty="0" err="1">
                <a:solidFill>
                  <a:srgbClr val="003399"/>
                </a:solidFill>
                <a:latin typeface="Calibri"/>
                <a:cs typeface="Calibri"/>
              </a:rPr>
              <a:t>super.</a:t>
            </a:r>
            <a:r>
              <a:rPr sz="2800" spc="-25" dirty="0" err="1">
                <a:solidFill>
                  <a:schemeClr val="bg1"/>
                </a:solidFill>
                <a:latin typeface="Calibri"/>
                <a:cs typeface="Calibri"/>
              </a:rPr>
              <a:t>metodo</a:t>
            </a:r>
            <a:r>
              <a:rPr sz="2800" spc="-25" dirty="0">
                <a:solidFill>
                  <a:schemeClr val="bg1"/>
                </a:solidFill>
                <a:latin typeface="Calibri"/>
                <a:cs typeface="Calibri"/>
              </a:rPr>
              <a:t>().</a:t>
            </a:r>
            <a:endParaRPr sz="28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25005" y="398247"/>
            <a:ext cx="1756488" cy="636178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spc="-5">
                <a:solidFill>
                  <a:schemeClr val="bg1"/>
                </a:solidFill>
              </a:rPr>
              <a:t>He</a:t>
            </a:r>
            <a:r>
              <a:rPr spc="-90">
                <a:solidFill>
                  <a:schemeClr val="bg1"/>
                </a:solidFill>
              </a:rPr>
              <a:t>r</a:t>
            </a:r>
            <a:r>
              <a:rPr spc="-5">
                <a:solidFill>
                  <a:schemeClr val="bg1"/>
                </a:solidFill>
              </a:rPr>
              <a:t>an</a:t>
            </a:r>
            <a:r>
              <a:rPr spc="-40">
                <a:solidFill>
                  <a:schemeClr val="bg1"/>
                </a:solidFill>
              </a:rPr>
              <a:t>ç</a:t>
            </a:r>
            <a:r>
              <a:rPr spc="-5">
                <a:solidFill>
                  <a:schemeClr val="bg1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2255" y="1207543"/>
            <a:ext cx="10104581" cy="4521775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365183" marR="459977" indent="-353095">
              <a:spcBef>
                <a:spcPts val="100"/>
              </a:spcBef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r>
              <a:rPr sz="2800" spc="-30">
                <a:solidFill>
                  <a:schemeClr val="bg1"/>
                </a:solidFill>
                <a:latin typeface="Calibri"/>
                <a:cs typeface="Calibri"/>
              </a:rPr>
              <a:t>Normalmente, </a:t>
            </a:r>
            <a:r>
              <a:rPr sz="2800">
                <a:solidFill>
                  <a:schemeClr val="bg1"/>
                </a:solidFill>
                <a:latin typeface="Calibri"/>
                <a:cs typeface="Calibri"/>
              </a:rPr>
              <a:t>o </a:t>
            </a:r>
            <a:r>
              <a:rPr sz="2800" spc="-30">
                <a:solidFill>
                  <a:schemeClr val="bg1"/>
                </a:solidFill>
                <a:latin typeface="Calibri"/>
                <a:cs typeface="Calibri"/>
              </a:rPr>
              <a:t>operador </a:t>
            </a:r>
            <a:r>
              <a:rPr sz="2800" b="1" spc="-25">
                <a:solidFill>
                  <a:schemeClr val="bg1"/>
                </a:solidFill>
                <a:latin typeface="Calibri"/>
                <a:cs typeface="Calibri"/>
              </a:rPr>
              <a:t>super </a:t>
            </a:r>
            <a:r>
              <a:rPr sz="2800">
                <a:solidFill>
                  <a:schemeClr val="bg1"/>
                </a:solidFill>
                <a:latin typeface="Calibri"/>
                <a:cs typeface="Calibri"/>
              </a:rPr>
              <a:t>é </a:t>
            </a:r>
            <a:r>
              <a:rPr sz="2800" spc="-25">
                <a:solidFill>
                  <a:schemeClr val="bg1"/>
                </a:solidFill>
                <a:latin typeface="Calibri"/>
                <a:cs typeface="Calibri"/>
              </a:rPr>
              <a:t>usado apenas </a:t>
            </a:r>
            <a:r>
              <a:rPr sz="2800" spc="-20">
                <a:solidFill>
                  <a:schemeClr val="bg1"/>
                </a:solidFill>
                <a:latin typeface="Calibri"/>
                <a:cs typeface="Calibri"/>
              </a:rPr>
              <a:t>nas </a:t>
            </a:r>
            <a:r>
              <a:rPr sz="2800" spc="-30">
                <a:solidFill>
                  <a:schemeClr val="bg1"/>
                </a:solidFill>
                <a:latin typeface="Calibri"/>
                <a:cs typeface="Calibri"/>
              </a:rPr>
              <a:t>seguintes </a:t>
            </a:r>
            <a:r>
              <a:rPr sz="2800" spc="-541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30">
                <a:solidFill>
                  <a:schemeClr val="bg1"/>
                </a:solidFill>
                <a:latin typeface="Calibri"/>
                <a:cs typeface="Calibri"/>
              </a:rPr>
              <a:t>situações:</a:t>
            </a:r>
            <a:endParaRPr sz="2800">
              <a:solidFill>
                <a:schemeClr val="bg1"/>
              </a:solidFill>
              <a:latin typeface="Calibri"/>
              <a:cs typeface="Calibri"/>
            </a:endParaRPr>
          </a:p>
          <a:p>
            <a:pPr marL="823251" marR="27357" lvl="1" indent="-353095">
              <a:spcBef>
                <a:spcPts val="1808"/>
              </a:spcBef>
              <a:buClr>
                <a:srgbClr val="204F52"/>
              </a:buClr>
              <a:buFont typeface="Symbol"/>
              <a:buChar char=""/>
              <a:tabLst>
                <a:tab pos="823251" algn="l"/>
                <a:tab pos="823887" algn="l"/>
              </a:tabLst>
            </a:pPr>
            <a:r>
              <a:rPr sz="2400" b="1" spc="-15">
                <a:solidFill>
                  <a:schemeClr val="bg1"/>
                </a:solidFill>
                <a:latin typeface="Calibri"/>
                <a:cs typeface="Calibri"/>
              </a:rPr>
              <a:t>Atributos:</a:t>
            </a:r>
            <a:r>
              <a:rPr sz="2400" b="1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Quando</a:t>
            </a:r>
            <a:r>
              <a:rPr sz="2400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a classe</a:t>
            </a:r>
            <a:r>
              <a:rPr sz="2400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chemeClr val="bg1"/>
                </a:solidFill>
                <a:latin typeface="Calibri"/>
                <a:cs typeface="Calibri"/>
              </a:rPr>
              <a:t>filha precisa</a:t>
            </a:r>
            <a:r>
              <a:rPr sz="2400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15">
                <a:solidFill>
                  <a:schemeClr val="bg1"/>
                </a:solidFill>
                <a:latin typeface="Calibri"/>
                <a:cs typeface="Calibri"/>
              </a:rPr>
              <a:t>invocar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chemeClr val="bg1"/>
                </a:solidFill>
                <a:latin typeface="Calibri"/>
                <a:cs typeface="Calibri"/>
              </a:rPr>
              <a:t>um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chemeClr val="bg1"/>
                </a:solidFill>
                <a:latin typeface="Calibri"/>
                <a:cs typeface="Calibri"/>
              </a:rPr>
              <a:t>atributo </a:t>
            </a:r>
            <a:r>
              <a:rPr sz="2400" spc="-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chemeClr val="bg1"/>
                </a:solidFill>
                <a:latin typeface="Calibri"/>
                <a:cs typeface="Calibri"/>
              </a:rPr>
              <a:t>(público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chemeClr val="bg1"/>
                </a:solidFill>
                <a:latin typeface="Calibri"/>
                <a:cs typeface="Calibri"/>
              </a:rPr>
              <a:t>ou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chemeClr val="bg1"/>
                </a:solidFill>
                <a:latin typeface="Calibri"/>
                <a:cs typeface="Calibri"/>
              </a:rPr>
              <a:t>protegido)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chemeClr val="bg1"/>
                </a:solidFill>
                <a:latin typeface="Calibri"/>
                <a:cs typeface="Calibri"/>
              </a:rPr>
              <a:t>da</a:t>
            </a:r>
            <a:r>
              <a:rPr sz="2400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classe</a:t>
            </a:r>
            <a:r>
              <a:rPr sz="2400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mãe,</a:t>
            </a:r>
            <a:r>
              <a:rPr sz="2400" spc="-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chemeClr val="bg1"/>
                </a:solidFill>
                <a:latin typeface="Calibri"/>
                <a:cs typeface="Calibri"/>
              </a:rPr>
              <a:t>que</a:t>
            </a:r>
            <a:r>
              <a:rPr sz="2400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chemeClr val="bg1"/>
                </a:solidFill>
                <a:latin typeface="Calibri"/>
                <a:cs typeface="Calibri"/>
              </a:rPr>
              <a:t>também</a:t>
            </a:r>
            <a:r>
              <a:rPr sz="2400" spc="-2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15">
                <a:solidFill>
                  <a:schemeClr val="bg1"/>
                </a:solidFill>
                <a:latin typeface="Calibri"/>
                <a:cs typeface="Calibri"/>
              </a:rPr>
              <a:t>existe</a:t>
            </a:r>
            <a:r>
              <a:rPr sz="2400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chemeClr val="bg1"/>
                </a:solidFill>
                <a:latin typeface="Calibri"/>
                <a:cs typeface="Calibri"/>
              </a:rPr>
              <a:t>com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 o </a:t>
            </a:r>
            <a:r>
              <a:rPr sz="2400" spc="-516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mesmo</a:t>
            </a:r>
            <a:r>
              <a:rPr sz="2400" spc="-3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chemeClr val="bg1"/>
                </a:solidFill>
                <a:latin typeface="Calibri"/>
                <a:cs typeface="Calibri"/>
              </a:rPr>
              <a:t>nome</a:t>
            </a:r>
            <a:r>
              <a:rPr sz="2400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chemeClr val="bg1"/>
                </a:solidFill>
                <a:latin typeface="Calibri"/>
                <a:cs typeface="Calibri"/>
              </a:rPr>
              <a:t>na 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classe </a:t>
            </a:r>
            <a:r>
              <a:rPr sz="2400" spc="-5">
                <a:solidFill>
                  <a:schemeClr val="bg1"/>
                </a:solidFill>
                <a:latin typeface="Calibri"/>
                <a:cs typeface="Calibri"/>
              </a:rPr>
              <a:t>filha.</a:t>
            </a:r>
            <a:endParaRPr sz="2400">
              <a:solidFill>
                <a:schemeClr val="bg1"/>
              </a:solidFill>
              <a:latin typeface="Calibri"/>
              <a:cs typeface="Calibri"/>
            </a:endParaRPr>
          </a:p>
          <a:p>
            <a:pPr marL="823251" marR="341643" lvl="1" indent="-353095">
              <a:spcBef>
                <a:spcPts val="1808"/>
              </a:spcBef>
              <a:buClr>
                <a:srgbClr val="204F52"/>
              </a:buClr>
              <a:buFont typeface="Symbol"/>
              <a:buChar char=""/>
              <a:tabLst>
                <a:tab pos="823251" algn="l"/>
                <a:tab pos="823887" algn="l"/>
              </a:tabLst>
            </a:pPr>
            <a:r>
              <a:rPr sz="2400" b="1" spc="-10">
                <a:solidFill>
                  <a:schemeClr val="bg1"/>
                </a:solidFill>
                <a:latin typeface="Calibri"/>
                <a:cs typeface="Calibri"/>
              </a:rPr>
              <a:t>Métodos:</a:t>
            </a:r>
            <a:r>
              <a:rPr sz="2400" b="1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Quando</a:t>
            </a:r>
            <a:r>
              <a:rPr sz="2400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400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classe</a:t>
            </a:r>
            <a:r>
              <a:rPr sz="2400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chemeClr val="bg1"/>
                </a:solidFill>
                <a:latin typeface="Calibri"/>
                <a:cs typeface="Calibri"/>
              </a:rPr>
              <a:t>filha</a:t>
            </a:r>
            <a:r>
              <a:rPr sz="2400" spc="-1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chemeClr val="bg1"/>
                </a:solidFill>
                <a:latin typeface="Calibri"/>
                <a:cs typeface="Calibri"/>
              </a:rPr>
              <a:t>precisa</a:t>
            </a:r>
            <a:r>
              <a:rPr sz="2400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15">
                <a:solidFill>
                  <a:schemeClr val="bg1"/>
                </a:solidFill>
                <a:latin typeface="Calibri"/>
                <a:cs typeface="Calibri"/>
              </a:rPr>
              <a:t>invocar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chemeClr val="bg1"/>
                </a:solidFill>
                <a:latin typeface="Calibri"/>
                <a:cs typeface="Calibri"/>
              </a:rPr>
              <a:t>um</a:t>
            </a:r>
            <a:r>
              <a:rPr sz="2400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chemeClr val="bg1"/>
                </a:solidFill>
                <a:latin typeface="Calibri"/>
                <a:cs typeface="Calibri"/>
              </a:rPr>
              <a:t>método </a:t>
            </a:r>
            <a:r>
              <a:rPr sz="2400" spc="-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chemeClr val="bg1"/>
                </a:solidFill>
                <a:latin typeface="Calibri"/>
                <a:cs typeface="Calibri"/>
              </a:rPr>
              <a:t>(público</a:t>
            </a:r>
            <a:r>
              <a:rPr sz="2400" spc="-5">
                <a:solidFill>
                  <a:schemeClr val="bg1"/>
                </a:solidFill>
                <a:latin typeface="Calibri"/>
                <a:cs typeface="Calibri"/>
              </a:rPr>
              <a:t> ou</a:t>
            </a:r>
            <a:r>
              <a:rPr sz="2400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chemeClr val="bg1"/>
                </a:solidFill>
                <a:latin typeface="Calibri"/>
                <a:cs typeface="Calibri"/>
              </a:rPr>
              <a:t>protegido)</a:t>
            </a:r>
            <a:r>
              <a:rPr sz="2400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chemeClr val="bg1"/>
                </a:solidFill>
                <a:latin typeface="Calibri"/>
                <a:cs typeface="Calibri"/>
              </a:rPr>
              <a:t>da</a:t>
            </a:r>
            <a:r>
              <a:rPr sz="2400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classe</a:t>
            </a:r>
            <a:r>
              <a:rPr sz="2400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mãe,</a:t>
            </a:r>
            <a:r>
              <a:rPr sz="2400" spc="-5">
                <a:solidFill>
                  <a:schemeClr val="bg1"/>
                </a:solidFill>
                <a:latin typeface="Calibri"/>
                <a:cs typeface="Calibri"/>
              </a:rPr>
              <a:t> que</a:t>
            </a:r>
            <a:r>
              <a:rPr sz="2400" spc="1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chemeClr val="bg1"/>
                </a:solidFill>
                <a:latin typeface="Calibri"/>
                <a:cs typeface="Calibri"/>
              </a:rPr>
              <a:t>está</a:t>
            </a:r>
            <a:r>
              <a:rPr sz="2400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chemeClr val="bg1"/>
                </a:solidFill>
                <a:latin typeface="Calibri"/>
                <a:cs typeface="Calibri"/>
              </a:rPr>
              <a:t>sobrescrito</a:t>
            </a:r>
            <a:r>
              <a:rPr sz="2400" spc="1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chemeClr val="bg1"/>
                </a:solidFill>
                <a:latin typeface="Calibri"/>
                <a:cs typeface="Calibri"/>
              </a:rPr>
              <a:t>na </a:t>
            </a:r>
            <a:r>
              <a:rPr sz="2400" spc="-516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classe </a:t>
            </a:r>
            <a:r>
              <a:rPr sz="2400" spc="-5">
                <a:solidFill>
                  <a:schemeClr val="bg1"/>
                </a:solidFill>
                <a:latin typeface="Calibri"/>
                <a:cs typeface="Calibri"/>
              </a:rPr>
              <a:t>filha.</a:t>
            </a:r>
            <a:endParaRPr sz="2400">
              <a:solidFill>
                <a:schemeClr val="bg1"/>
              </a:solidFill>
              <a:latin typeface="Calibri"/>
              <a:cs typeface="Calibri"/>
            </a:endParaRPr>
          </a:p>
          <a:p>
            <a:pPr marL="823251" marR="5090" lvl="1" indent="-353095">
              <a:spcBef>
                <a:spcPts val="1803"/>
              </a:spcBef>
              <a:buClr>
                <a:srgbClr val="204F52"/>
              </a:buClr>
              <a:buFont typeface="Symbol"/>
              <a:buChar char=""/>
              <a:tabLst>
                <a:tab pos="823251" algn="l"/>
                <a:tab pos="823887" algn="l"/>
              </a:tabLst>
            </a:pPr>
            <a:r>
              <a:rPr sz="2400" b="1" spc="-10">
                <a:solidFill>
                  <a:schemeClr val="bg1"/>
                </a:solidFill>
                <a:latin typeface="Calibri"/>
                <a:cs typeface="Calibri"/>
              </a:rPr>
              <a:t>Construtores:</a:t>
            </a:r>
            <a:r>
              <a:rPr sz="2400" b="1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Quando</a:t>
            </a:r>
            <a:r>
              <a:rPr sz="2400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400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classe</a:t>
            </a:r>
            <a:r>
              <a:rPr sz="2400" spc="-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chemeClr val="bg1"/>
                </a:solidFill>
                <a:latin typeface="Calibri"/>
                <a:cs typeface="Calibri"/>
              </a:rPr>
              <a:t>filha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chemeClr val="bg1"/>
                </a:solidFill>
                <a:latin typeface="Calibri"/>
                <a:cs typeface="Calibri"/>
              </a:rPr>
              <a:t>precisa</a:t>
            </a:r>
            <a:r>
              <a:rPr sz="2400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15">
                <a:solidFill>
                  <a:schemeClr val="bg1"/>
                </a:solidFill>
                <a:latin typeface="Calibri"/>
                <a:cs typeface="Calibri"/>
              </a:rPr>
              <a:t>invocar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 o </a:t>
            </a:r>
            <a:r>
              <a:rPr sz="2400" spc="-10">
                <a:solidFill>
                  <a:schemeClr val="bg1"/>
                </a:solidFill>
                <a:latin typeface="Calibri"/>
                <a:cs typeface="Calibri"/>
              </a:rPr>
              <a:t>construtor </a:t>
            </a:r>
            <a:r>
              <a:rPr sz="2400" spc="-516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chemeClr val="bg1"/>
                </a:solidFill>
                <a:latin typeface="Calibri"/>
                <a:cs typeface="Calibri"/>
              </a:rPr>
              <a:t>da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 classe</a:t>
            </a:r>
            <a:r>
              <a:rPr sz="2400" spc="-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mãe.</a:t>
            </a:r>
            <a:r>
              <a:rPr sz="2400" spc="-1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Nesse </a:t>
            </a:r>
            <a:r>
              <a:rPr sz="2400" spc="-15">
                <a:solidFill>
                  <a:schemeClr val="bg1"/>
                </a:solidFill>
                <a:latin typeface="Calibri"/>
                <a:cs typeface="Calibri"/>
              </a:rPr>
              <a:t>caso,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chemeClr val="bg1"/>
                </a:solidFill>
                <a:latin typeface="Calibri"/>
                <a:cs typeface="Calibri"/>
              </a:rPr>
              <a:t>não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 é </a:t>
            </a:r>
            <a:r>
              <a:rPr sz="2400" spc="-5">
                <a:solidFill>
                  <a:schemeClr val="bg1"/>
                </a:solidFill>
                <a:latin typeface="Calibri"/>
                <a:cs typeface="Calibri"/>
              </a:rPr>
              <a:t>preciso</a:t>
            </a:r>
            <a:r>
              <a:rPr sz="2400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incluir</a:t>
            </a:r>
            <a:r>
              <a:rPr sz="2400" spc="-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o</a:t>
            </a:r>
            <a:r>
              <a:rPr sz="2400" spc="-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chemeClr val="bg1"/>
                </a:solidFill>
                <a:latin typeface="Calibri"/>
                <a:cs typeface="Calibri"/>
              </a:rPr>
              <a:t>nome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chemeClr val="bg1"/>
                </a:solidFill>
                <a:latin typeface="Calibri"/>
                <a:cs typeface="Calibri"/>
              </a:rPr>
              <a:t>do 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chemeClr val="bg1"/>
                </a:solidFill>
                <a:latin typeface="Calibri"/>
                <a:cs typeface="Calibri"/>
              </a:rPr>
              <a:t>construtor</a:t>
            </a:r>
            <a:r>
              <a:rPr sz="2400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chemeClr val="bg1"/>
                </a:solidFill>
                <a:latin typeface="Calibri"/>
                <a:cs typeface="Calibri"/>
              </a:rPr>
              <a:t>na 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chamada.</a:t>
            </a:r>
            <a:r>
              <a:rPr sz="2400" spc="-2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b="1" spc="-10">
                <a:solidFill>
                  <a:schemeClr val="bg1"/>
                </a:solidFill>
                <a:latin typeface="Calibri"/>
                <a:cs typeface="Calibri"/>
              </a:rPr>
              <a:t>Exemplo:</a:t>
            </a:r>
            <a:r>
              <a:rPr sz="2400" b="1" spc="15">
                <a:latin typeface="Calibri"/>
                <a:cs typeface="Calibri"/>
              </a:rPr>
              <a:t> </a:t>
            </a:r>
            <a:r>
              <a:rPr sz="2400" spc="-10">
                <a:solidFill>
                  <a:srgbClr val="0000CC"/>
                </a:solidFill>
                <a:latin typeface="Calibri"/>
                <a:cs typeface="Calibri"/>
              </a:rPr>
              <a:t>super</a:t>
            </a:r>
            <a:r>
              <a:rPr sz="2400" spc="-10">
                <a:solidFill>
                  <a:schemeClr val="bg1"/>
                </a:solidFill>
                <a:latin typeface="Calibri"/>
                <a:cs typeface="Calibri"/>
              </a:rPr>
              <a:t>(argumento1, </a:t>
            </a:r>
            <a:r>
              <a:rPr sz="2400" spc="-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chemeClr val="bg1"/>
                </a:solidFill>
                <a:latin typeface="Calibri"/>
                <a:cs typeface="Calibri"/>
              </a:rPr>
              <a:t>arqumento2,</a:t>
            </a:r>
            <a:r>
              <a:rPr sz="240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spc="-10">
                <a:solidFill>
                  <a:schemeClr val="bg1"/>
                </a:solidFill>
                <a:latin typeface="Calibri"/>
                <a:cs typeface="Calibri"/>
              </a:rPr>
              <a:t>...).</a:t>
            </a:r>
            <a:endParaRPr sz="240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25005" y="325595"/>
            <a:ext cx="1756488" cy="636178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spc="-5">
                <a:solidFill>
                  <a:schemeClr val="bg1"/>
                </a:solidFill>
              </a:rPr>
              <a:t>He</a:t>
            </a:r>
            <a:r>
              <a:rPr spc="-90">
                <a:solidFill>
                  <a:schemeClr val="bg1"/>
                </a:solidFill>
              </a:rPr>
              <a:t>r</a:t>
            </a:r>
            <a:r>
              <a:rPr spc="-5">
                <a:solidFill>
                  <a:schemeClr val="bg1"/>
                </a:solidFill>
              </a:rPr>
              <a:t>an</a:t>
            </a:r>
            <a:r>
              <a:rPr spc="-40">
                <a:solidFill>
                  <a:schemeClr val="bg1"/>
                </a:solidFill>
              </a:rPr>
              <a:t>ç</a:t>
            </a:r>
            <a:r>
              <a:rPr spc="-5">
                <a:solidFill>
                  <a:schemeClr val="bg1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2255" y="1207543"/>
            <a:ext cx="10104581" cy="2808485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365183" marR="459977" indent="-353095">
              <a:spcBef>
                <a:spcPts val="100"/>
              </a:spcBef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r>
              <a:rPr lang="en-US" sz="3600">
                <a:solidFill>
                  <a:schemeClr val="bg1"/>
                </a:solidFill>
                <a:latin typeface="Calibri"/>
                <a:cs typeface="Calibri"/>
              </a:rPr>
              <a:t>Se a </a:t>
            </a:r>
            <a:r>
              <a:rPr lang="en-US" sz="3600" err="1">
                <a:solidFill>
                  <a:schemeClr val="bg1"/>
                </a:solidFill>
                <a:latin typeface="Calibri"/>
                <a:cs typeface="Calibri"/>
              </a:rPr>
              <a:t>classe</a:t>
            </a:r>
            <a:r>
              <a:rPr lang="en-US" sz="3600">
                <a:solidFill>
                  <a:schemeClr val="bg1"/>
                </a:solidFill>
                <a:latin typeface="Calibri"/>
                <a:cs typeface="Calibri"/>
              </a:rPr>
              <a:t> pai </a:t>
            </a:r>
            <a:r>
              <a:rPr lang="en-US" sz="3600" err="1">
                <a:solidFill>
                  <a:schemeClr val="bg1"/>
                </a:solidFill>
                <a:latin typeface="Calibri"/>
                <a:cs typeface="Calibri"/>
              </a:rPr>
              <a:t>tem</a:t>
            </a:r>
            <a:r>
              <a:rPr lang="en-US" sz="3600">
                <a:solidFill>
                  <a:schemeClr val="bg1"/>
                </a:solidFill>
                <a:latin typeface="Calibri"/>
                <a:cs typeface="Calibri"/>
              </a:rPr>
              <a:t> constructor com </a:t>
            </a:r>
            <a:r>
              <a:rPr lang="en-US" sz="3600" err="1">
                <a:solidFill>
                  <a:schemeClr val="bg1"/>
                </a:solidFill>
                <a:latin typeface="Calibri"/>
                <a:cs typeface="Calibri"/>
              </a:rPr>
              <a:t>parâmetros</a:t>
            </a:r>
            <a:r>
              <a:rPr lang="en-US" sz="3600">
                <a:solidFill>
                  <a:schemeClr val="bg1"/>
                </a:solidFill>
                <a:latin typeface="Calibri"/>
                <a:cs typeface="Calibri"/>
              </a:rPr>
              <a:t>, </a:t>
            </a:r>
            <a:r>
              <a:rPr lang="en-US" sz="3600" err="1">
                <a:solidFill>
                  <a:schemeClr val="bg1"/>
                </a:solidFill>
                <a:latin typeface="Calibri"/>
                <a:cs typeface="Calibri"/>
              </a:rPr>
              <a:t>ou</a:t>
            </a:r>
            <a:r>
              <a:rPr lang="en-US" sz="360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3600" err="1">
                <a:solidFill>
                  <a:schemeClr val="bg1"/>
                </a:solidFill>
                <a:latin typeface="Calibri"/>
                <a:cs typeface="Calibri"/>
              </a:rPr>
              <a:t>seja</a:t>
            </a:r>
            <a:r>
              <a:rPr lang="en-US" sz="360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3600" err="1">
                <a:solidFill>
                  <a:schemeClr val="bg1"/>
                </a:solidFill>
                <a:latin typeface="Calibri"/>
                <a:cs typeface="Calibri"/>
              </a:rPr>
              <a:t>não</a:t>
            </a:r>
            <a:r>
              <a:rPr lang="en-US" sz="3600">
                <a:solidFill>
                  <a:schemeClr val="bg1"/>
                </a:solidFill>
                <a:latin typeface="Calibri"/>
                <a:cs typeface="Calibri"/>
              </a:rPr>
              <a:t> é o </a:t>
            </a:r>
            <a:r>
              <a:rPr lang="en-US" sz="3600" err="1">
                <a:solidFill>
                  <a:schemeClr val="bg1"/>
                </a:solidFill>
                <a:latin typeface="Calibri"/>
                <a:cs typeface="Calibri"/>
              </a:rPr>
              <a:t>padrão</a:t>
            </a:r>
            <a:r>
              <a:rPr lang="en-US" sz="3600">
                <a:solidFill>
                  <a:schemeClr val="bg1"/>
                </a:solidFill>
                <a:latin typeface="Calibri"/>
                <a:cs typeface="Calibri"/>
              </a:rPr>
              <a:t>:</a:t>
            </a:r>
          </a:p>
          <a:p>
            <a:pPr marL="365183" marR="459977" indent="-353095">
              <a:spcBef>
                <a:spcPts val="100"/>
              </a:spcBef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endParaRPr lang="en-US" sz="3600">
              <a:solidFill>
                <a:schemeClr val="bg1"/>
              </a:solidFill>
              <a:latin typeface="Calibri"/>
              <a:cs typeface="Calibri"/>
            </a:endParaRPr>
          </a:p>
          <a:p>
            <a:pPr marL="365183" marR="459977" indent="-353095">
              <a:spcBef>
                <a:spcPts val="100"/>
              </a:spcBef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r>
              <a:rPr lang="en-US" sz="3600">
                <a:solidFill>
                  <a:schemeClr val="bg1"/>
                </a:solidFill>
                <a:latin typeface="Calibri"/>
                <a:cs typeface="Calibri"/>
              </a:rPr>
              <a:t>Deve-se </a:t>
            </a:r>
            <a:r>
              <a:rPr lang="en-US" sz="3600" err="1">
                <a:solidFill>
                  <a:schemeClr val="bg1"/>
                </a:solidFill>
                <a:latin typeface="Calibri"/>
                <a:cs typeface="Calibri"/>
              </a:rPr>
              <a:t>criar</a:t>
            </a:r>
            <a:r>
              <a:rPr lang="en-US" sz="3600">
                <a:solidFill>
                  <a:schemeClr val="bg1"/>
                </a:solidFill>
                <a:latin typeface="Calibri"/>
                <a:cs typeface="Calibri"/>
              </a:rPr>
              <a:t> um </a:t>
            </a:r>
            <a:r>
              <a:rPr lang="en-US" sz="3600" err="1">
                <a:solidFill>
                  <a:schemeClr val="bg1"/>
                </a:solidFill>
                <a:latin typeface="Calibri"/>
                <a:cs typeface="Calibri"/>
              </a:rPr>
              <a:t>construtor</a:t>
            </a:r>
            <a:r>
              <a:rPr lang="en-US" sz="3600">
                <a:solidFill>
                  <a:schemeClr val="bg1"/>
                </a:solidFill>
                <a:latin typeface="Calibri"/>
                <a:cs typeface="Calibri"/>
              </a:rPr>
              <a:t> para </a:t>
            </a:r>
            <a:r>
              <a:rPr lang="en-US" sz="3600" err="1">
                <a:solidFill>
                  <a:schemeClr val="bg1"/>
                </a:solidFill>
                <a:latin typeface="Calibri"/>
                <a:cs typeface="Calibri"/>
              </a:rPr>
              <a:t>essa</a:t>
            </a:r>
            <a:r>
              <a:rPr lang="en-US" sz="360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3600" err="1">
                <a:solidFill>
                  <a:schemeClr val="bg1"/>
                </a:solidFill>
                <a:latin typeface="Calibri"/>
                <a:cs typeface="Calibri"/>
              </a:rPr>
              <a:t>classe</a:t>
            </a:r>
            <a:r>
              <a:rPr lang="en-US" sz="3600">
                <a:solidFill>
                  <a:schemeClr val="bg1"/>
                </a:solidFill>
                <a:latin typeface="Calibri"/>
                <a:cs typeface="Calibri"/>
              </a:rPr>
              <a:t> que “extend”.</a:t>
            </a:r>
            <a:endParaRPr sz="360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25005" y="325595"/>
            <a:ext cx="1756488" cy="636178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spc="-5">
                <a:solidFill>
                  <a:schemeClr val="bg1"/>
                </a:solidFill>
              </a:rPr>
              <a:t>He</a:t>
            </a:r>
            <a:r>
              <a:rPr spc="-90">
                <a:solidFill>
                  <a:schemeClr val="bg1"/>
                </a:solidFill>
              </a:rPr>
              <a:t>r</a:t>
            </a:r>
            <a:r>
              <a:rPr spc="-5">
                <a:solidFill>
                  <a:schemeClr val="bg1"/>
                </a:solidFill>
              </a:rPr>
              <a:t>an</a:t>
            </a:r>
            <a:r>
              <a:rPr spc="-40">
                <a:solidFill>
                  <a:schemeClr val="bg1"/>
                </a:solidFill>
              </a:rPr>
              <a:t>ç</a:t>
            </a:r>
            <a:r>
              <a:rPr spc="-5">
                <a:solidFill>
                  <a:schemeClr val="bg1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68091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9751" y="0"/>
            <a:ext cx="11212497" cy="1524283"/>
          </a:xfrm>
          <a:prstGeom prst="rect">
            <a:avLst/>
          </a:prstGeom>
        </p:spPr>
        <p:txBody>
          <a:bodyPr vert="horz" wrap="square" lIns="0" tIns="194034" rIns="0" bIns="0" rtlCol="0">
            <a:spAutoFit/>
          </a:bodyPr>
          <a:lstStyle/>
          <a:p>
            <a:pPr marL="365183" indent="-353095">
              <a:spcBef>
                <a:spcPts val="1528"/>
              </a:spcBef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r>
              <a:rPr sz="2805" spc="-20" dirty="0" err="1">
                <a:solidFill>
                  <a:schemeClr val="bg1"/>
                </a:solidFill>
                <a:latin typeface="Calibri"/>
                <a:cs typeface="Calibri"/>
              </a:rPr>
              <a:t>Atributos</a:t>
            </a:r>
            <a:r>
              <a:rPr lang="pt-BR" sz="2805" spc="-20" dirty="0">
                <a:solidFill>
                  <a:schemeClr val="bg1"/>
                </a:solidFill>
                <a:latin typeface="Calibri"/>
                <a:cs typeface="Calibri"/>
              </a:rPr>
              <a:t> e métodos</a:t>
            </a:r>
            <a:endParaRPr sz="2805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823251" marR="5090" lvl="1" indent="-353095">
              <a:spcBef>
                <a:spcPts val="1232"/>
              </a:spcBef>
              <a:buClr>
                <a:srgbClr val="204F52"/>
              </a:buClr>
              <a:buFont typeface="Symbol"/>
              <a:buChar char=""/>
              <a:tabLst>
                <a:tab pos="823251" algn="l"/>
                <a:tab pos="823887" algn="l"/>
              </a:tabLst>
            </a:pPr>
            <a:r>
              <a:rPr sz="2405" b="1" spc="-5" dirty="0" err="1">
                <a:solidFill>
                  <a:srgbClr val="C00000"/>
                </a:solidFill>
                <a:latin typeface="Calibri"/>
                <a:cs typeface="Calibri"/>
              </a:rPr>
              <a:t>Níveis</a:t>
            </a:r>
            <a:r>
              <a:rPr sz="2405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5" b="1" dirty="0">
                <a:solidFill>
                  <a:srgbClr val="C00000"/>
                </a:solidFill>
                <a:latin typeface="Calibri"/>
                <a:cs typeface="Calibri"/>
              </a:rPr>
              <a:t>de </a:t>
            </a:r>
            <a:r>
              <a:rPr sz="2405" b="1" spc="-10" dirty="0" err="1">
                <a:solidFill>
                  <a:srgbClr val="C00000"/>
                </a:solidFill>
                <a:latin typeface="Calibri"/>
                <a:cs typeface="Calibri"/>
              </a:rPr>
              <a:t>Proteção</a:t>
            </a:r>
            <a:r>
              <a:rPr sz="2405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5" b="1" dirty="0">
                <a:solidFill>
                  <a:srgbClr val="C00000"/>
                </a:solidFill>
                <a:latin typeface="Calibri"/>
                <a:cs typeface="Calibri"/>
              </a:rPr>
              <a:t>(</a:t>
            </a:r>
            <a:r>
              <a:rPr sz="2405" b="1" dirty="0" err="1">
                <a:solidFill>
                  <a:srgbClr val="C00000"/>
                </a:solidFill>
                <a:latin typeface="Calibri"/>
                <a:cs typeface="Calibri"/>
              </a:rPr>
              <a:t>ou</a:t>
            </a:r>
            <a:r>
              <a:rPr sz="2405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5" b="1" spc="-10" dirty="0" err="1">
                <a:solidFill>
                  <a:srgbClr val="C00000"/>
                </a:solidFill>
                <a:latin typeface="Calibri"/>
                <a:cs typeface="Calibri"/>
              </a:rPr>
              <a:t>níveis</a:t>
            </a:r>
            <a:r>
              <a:rPr sz="2405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5" b="1" dirty="0">
                <a:solidFill>
                  <a:srgbClr val="C00000"/>
                </a:solidFill>
                <a:latin typeface="Calibri"/>
                <a:cs typeface="Calibri"/>
              </a:rPr>
              <a:t>de </a:t>
            </a:r>
            <a:r>
              <a:rPr sz="2405" b="1" dirty="0" err="1">
                <a:solidFill>
                  <a:srgbClr val="C00000"/>
                </a:solidFill>
                <a:latin typeface="Calibri"/>
                <a:cs typeface="Calibri"/>
              </a:rPr>
              <a:t>acesso</a:t>
            </a:r>
            <a:r>
              <a:rPr sz="2405" b="1" dirty="0">
                <a:solidFill>
                  <a:srgbClr val="C00000"/>
                </a:solidFill>
                <a:latin typeface="Calibri"/>
                <a:cs typeface="Calibri"/>
              </a:rPr>
              <a:t>) </a:t>
            </a:r>
            <a:r>
              <a:rPr sz="2405" b="1" dirty="0">
                <a:solidFill>
                  <a:schemeClr val="bg1"/>
                </a:solidFill>
                <a:latin typeface="Calibri"/>
                <a:cs typeface="Calibri"/>
              </a:rPr>
              <a:t>– </a:t>
            </a:r>
            <a:r>
              <a:rPr sz="2405" spc="-10" dirty="0" err="1">
                <a:solidFill>
                  <a:schemeClr val="bg1"/>
                </a:solidFill>
                <a:latin typeface="Calibri"/>
                <a:cs typeface="Calibri"/>
              </a:rPr>
              <a:t>Permitem</a:t>
            </a:r>
            <a:r>
              <a:rPr sz="2405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5" spc="-15" dirty="0" err="1">
                <a:solidFill>
                  <a:schemeClr val="bg1"/>
                </a:solidFill>
                <a:latin typeface="Calibri"/>
                <a:cs typeface="Calibri"/>
              </a:rPr>
              <a:t>controlar</a:t>
            </a:r>
            <a:r>
              <a:rPr sz="2405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5" dirty="0">
                <a:solidFill>
                  <a:schemeClr val="bg1"/>
                </a:solidFill>
                <a:latin typeface="Calibri"/>
                <a:cs typeface="Calibri"/>
              </a:rPr>
              <a:t>o </a:t>
            </a:r>
            <a:r>
              <a:rPr sz="2405" spc="-531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5" dirty="0" err="1">
                <a:solidFill>
                  <a:schemeClr val="bg1"/>
                </a:solidFill>
                <a:latin typeface="Calibri"/>
                <a:cs typeface="Calibri"/>
              </a:rPr>
              <a:t>acesso</a:t>
            </a:r>
            <a:r>
              <a:rPr sz="2405" spc="-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5" spc="-5" dirty="0">
                <a:solidFill>
                  <a:schemeClr val="bg1"/>
                </a:solidFill>
                <a:latin typeface="Calibri"/>
                <a:cs typeface="Calibri"/>
              </a:rPr>
              <a:t>de </a:t>
            </a:r>
            <a:r>
              <a:rPr sz="2405" spc="-10" dirty="0" err="1">
                <a:solidFill>
                  <a:schemeClr val="bg1"/>
                </a:solidFill>
                <a:latin typeface="Calibri"/>
                <a:cs typeface="Calibri"/>
              </a:rPr>
              <a:t>outras</a:t>
            </a:r>
            <a:r>
              <a:rPr sz="240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5" spc="-5" dirty="0">
                <a:solidFill>
                  <a:schemeClr val="bg1"/>
                </a:solidFill>
                <a:latin typeface="Calibri"/>
                <a:cs typeface="Calibri"/>
              </a:rPr>
              <a:t>classes</a:t>
            </a:r>
            <a:r>
              <a:rPr sz="2405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5" dirty="0">
                <a:solidFill>
                  <a:schemeClr val="bg1"/>
                </a:solidFill>
                <a:latin typeface="Calibri"/>
                <a:cs typeface="Calibri"/>
              </a:rPr>
              <a:t>a </a:t>
            </a:r>
            <a:r>
              <a:rPr sz="2405" spc="-5" dirty="0">
                <a:solidFill>
                  <a:schemeClr val="bg1"/>
                </a:solidFill>
                <a:latin typeface="Calibri"/>
                <a:cs typeface="Calibri"/>
              </a:rPr>
              <a:t>um</a:t>
            </a:r>
            <a:r>
              <a:rPr sz="2405" spc="-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5" spc="-10" dirty="0" err="1">
                <a:solidFill>
                  <a:schemeClr val="bg1"/>
                </a:solidFill>
                <a:latin typeface="Calibri"/>
                <a:cs typeface="Calibri"/>
              </a:rPr>
              <a:t>atributo</a:t>
            </a:r>
            <a:r>
              <a:rPr sz="2405" spc="-10" dirty="0">
                <a:solidFill>
                  <a:schemeClr val="bg1"/>
                </a:solidFill>
                <a:latin typeface="Calibri"/>
                <a:cs typeface="Calibri"/>
              </a:rPr>
              <a:t>.</a:t>
            </a:r>
            <a:endParaRPr sz="2405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066543"/>
              </p:ext>
            </p:extLst>
          </p:nvPr>
        </p:nvGraphicFramePr>
        <p:xfrm>
          <a:off x="915474" y="1524283"/>
          <a:ext cx="10786774" cy="50924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6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0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586">
                <a:tc>
                  <a:txBody>
                    <a:bodyPr/>
                    <a:lstStyle/>
                    <a:p>
                      <a:pPr marL="30734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400" b="1" spc="-5" dirty="0" err="1">
                          <a:latin typeface="Calibri"/>
                          <a:cs typeface="Calibri"/>
                        </a:rPr>
                        <a:t>Níveis</a:t>
                      </a:r>
                      <a:r>
                        <a:rPr sz="2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2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 err="1">
                          <a:latin typeface="Calibri"/>
                          <a:cs typeface="Calibri"/>
                        </a:rPr>
                        <a:t>Proteção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216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400" b="1">
                          <a:latin typeface="Calibri"/>
                          <a:cs typeface="Calibri"/>
                        </a:rPr>
                        <a:t>O</a:t>
                      </a:r>
                      <a:r>
                        <a:rPr sz="2400" b="1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5">
                          <a:latin typeface="Calibri"/>
                          <a:cs typeface="Calibri"/>
                        </a:rPr>
                        <a:t>atributo</a:t>
                      </a:r>
                      <a:r>
                        <a:rPr sz="2400" b="1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>
                          <a:latin typeface="Calibri"/>
                          <a:cs typeface="Calibri"/>
                        </a:rPr>
                        <a:t>pode</a:t>
                      </a:r>
                      <a:r>
                        <a:rPr sz="2400" b="1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>
                          <a:latin typeface="Calibri"/>
                          <a:cs typeface="Calibri"/>
                        </a:rPr>
                        <a:t>ser</a:t>
                      </a:r>
                      <a:r>
                        <a:rPr sz="2400" b="1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>
                          <a:latin typeface="Calibri"/>
                          <a:cs typeface="Calibri"/>
                        </a:rPr>
                        <a:t>acessado: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16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000" b="1">
                          <a:latin typeface="Calibri"/>
                          <a:cs typeface="Calibri"/>
                        </a:rPr>
                        <a:t>public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16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6957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000">
                          <a:latin typeface="Calibri"/>
                          <a:cs typeface="Calibri"/>
                        </a:rPr>
                        <a:t>A </a:t>
                      </a:r>
                      <a:r>
                        <a:rPr sz="2000" spc="-5">
                          <a:latin typeface="Calibri"/>
                          <a:cs typeface="Calibri"/>
                        </a:rPr>
                        <a:t>partir</a:t>
                      </a:r>
                      <a:r>
                        <a:rPr sz="20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>
                          <a:latin typeface="Calibri"/>
                          <a:cs typeface="Calibri"/>
                        </a:rPr>
                        <a:t>de</a:t>
                      </a:r>
                      <a:r>
                        <a:rPr sz="200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>
                          <a:latin typeface="Calibri"/>
                          <a:cs typeface="Calibri"/>
                        </a:rPr>
                        <a:t>qualquer</a:t>
                      </a:r>
                      <a:r>
                        <a:rPr sz="20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>
                          <a:latin typeface="Calibri"/>
                          <a:cs typeface="Calibri"/>
                        </a:rPr>
                        <a:t>classe, inclusive</a:t>
                      </a:r>
                      <a:r>
                        <a:rPr sz="20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>
                          <a:latin typeface="Calibri"/>
                          <a:cs typeface="Calibri"/>
                        </a:rPr>
                        <a:t>de</a:t>
                      </a:r>
                      <a:r>
                        <a:rPr sz="20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>
                          <a:latin typeface="Calibri"/>
                          <a:cs typeface="Calibri"/>
                        </a:rPr>
                        <a:t>fora</a:t>
                      </a:r>
                      <a:r>
                        <a:rPr sz="2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sz="2000">
                          <a:latin typeface="Calibri"/>
                          <a:cs typeface="Calibri"/>
                        </a:rPr>
                        <a:t>do</a:t>
                      </a:r>
                      <a:r>
                        <a:rPr sz="2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>
                          <a:latin typeface="Calibri"/>
                          <a:cs typeface="Calibri"/>
                        </a:rPr>
                        <a:t>pacote</a:t>
                      </a:r>
                      <a:r>
                        <a:rPr sz="20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>
                          <a:latin typeface="Calibri"/>
                          <a:cs typeface="Calibri"/>
                        </a:rPr>
                        <a:t>da </a:t>
                      </a:r>
                      <a:r>
                        <a:rPr sz="2000" spc="-39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>
                          <a:latin typeface="Calibri"/>
                          <a:cs typeface="Calibri"/>
                        </a:rPr>
                        <a:t>classe</a:t>
                      </a:r>
                      <a:r>
                        <a:rPr sz="20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>
                          <a:latin typeface="Calibri"/>
                          <a:cs typeface="Calibri"/>
                        </a:rPr>
                        <a:t>onde</a:t>
                      </a:r>
                      <a:r>
                        <a:rPr sz="20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sz="2000">
                          <a:latin typeface="Calibri"/>
                          <a:cs typeface="Calibri"/>
                        </a:rPr>
                        <a:t>o</a:t>
                      </a:r>
                      <a:r>
                        <a:rPr sz="2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>
                          <a:latin typeface="Calibri"/>
                          <a:cs typeface="Calibri"/>
                        </a:rPr>
                        <a:t>atributo</a:t>
                      </a:r>
                      <a:r>
                        <a:rPr sz="20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5">
                          <a:latin typeface="Calibri"/>
                          <a:cs typeface="Calibri"/>
                        </a:rPr>
                        <a:t>foi</a:t>
                      </a:r>
                      <a:r>
                        <a:rPr sz="2000" spc="-10">
                          <a:latin typeface="Calibri"/>
                          <a:cs typeface="Calibri"/>
                        </a:rPr>
                        <a:t> declarado.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16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7526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Sem</a:t>
                      </a:r>
                      <a:r>
                        <a:rPr sz="20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" dirty="0" err="1">
                          <a:latin typeface="Calibri"/>
                          <a:cs typeface="Calibri"/>
                        </a:rPr>
                        <a:t>nível</a:t>
                      </a:r>
                      <a:r>
                        <a:rPr sz="20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20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 err="1">
                          <a:latin typeface="Calibri"/>
                          <a:cs typeface="Calibri"/>
                        </a:rPr>
                        <a:t>proteção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(package)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16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 err="1">
                          <a:latin typeface="Calibri"/>
                          <a:cs typeface="Calibri"/>
                        </a:rPr>
                        <a:t>partir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 err="1">
                          <a:latin typeface="Calibri"/>
                          <a:cs typeface="Calibri"/>
                        </a:rPr>
                        <a:t>qualquer</a:t>
                      </a:r>
                      <a:r>
                        <a:rPr sz="20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 err="1">
                          <a:latin typeface="Calibri"/>
                          <a:cs typeface="Calibri"/>
                        </a:rPr>
                        <a:t>classe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que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 err="1">
                          <a:latin typeface="Calibri"/>
                          <a:cs typeface="Calibri"/>
                        </a:rPr>
                        <a:t>esteja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 err="1">
                          <a:latin typeface="Calibri"/>
                          <a:cs typeface="Calibri"/>
                        </a:rPr>
                        <a:t>mesmo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 err="1">
                          <a:latin typeface="Calibri"/>
                          <a:cs typeface="Calibri"/>
                        </a:rPr>
                        <a:t>pacote</a:t>
                      </a:r>
                      <a:r>
                        <a:rPr sz="20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da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spc="-5" dirty="0" err="1">
                          <a:latin typeface="Calibri"/>
                          <a:cs typeface="Calibri"/>
                        </a:rPr>
                        <a:t>classe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 err="1">
                          <a:latin typeface="Calibri"/>
                          <a:cs typeface="Calibri"/>
                        </a:rPr>
                        <a:t>onde</a:t>
                      </a:r>
                      <a:r>
                        <a:rPr sz="20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 </a:t>
                      </a:r>
                      <a:r>
                        <a:rPr sz="2000" spc="-10" dirty="0" err="1">
                          <a:latin typeface="Calibri"/>
                          <a:cs typeface="Calibri"/>
                        </a:rPr>
                        <a:t>atributo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5" dirty="0" err="1">
                          <a:latin typeface="Calibri"/>
                          <a:cs typeface="Calibri"/>
                        </a:rPr>
                        <a:t>foi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 err="1">
                          <a:latin typeface="Calibri"/>
                          <a:cs typeface="Calibri"/>
                        </a:rPr>
                        <a:t>declarado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.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16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60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000" b="1" spc="-15" dirty="0">
                          <a:latin typeface="Calibri"/>
                          <a:cs typeface="Calibri"/>
                        </a:rPr>
                        <a:t>private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16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0170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000" spc="-5" dirty="0" err="1">
                          <a:latin typeface="Calibri"/>
                          <a:cs typeface="Calibri"/>
                        </a:rPr>
                        <a:t>Apenas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0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 err="1">
                          <a:latin typeface="Calibri"/>
                          <a:cs typeface="Calibri"/>
                        </a:rPr>
                        <a:t>partir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da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 err="1">
                          <a:latin typeface="Calibri"/>
                          <a:cs typeface="Calibri"/>
                        </a:rPr>
                        <a:t>própria</a:t>
                      </a:r>
                      <a:r>
                        <a:rPr sz="20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 err="1">
                          <a:latin typeface="Calibri"/>
                          <a:cs typeface="Calibri"/>
                        </a:rPr>
                        <a:t>classe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 err="1">
                          <a:latin typeface="Calibri"/>
                          <a:cs typeface="Calibri"/>
                        </a:rPr>
                        <a:t>onde</a:t>
                      </a:r>
                      <a:r>
                        <a:rPr sz="20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 err="1">
                          <a:latin typeface="Calibri"/>
                          <a:cs typeface="Calibri"/>
                        </a:rPr>
                        <a:t>atributo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5" dirty="0" err="1">
                          <a:latin typeface="Calibri"/>
                          <a:cs typeface="Calibri"/>
                        </a:rPr>
                        <a:t>foi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 err="1">
                          <a:latin typeface="Calibri"/>
                          <a:cs typeface="Calibri"/>
                        </a:rPr>
                        <a:t>declarado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.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16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7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pt-BR" sz="2400" b="1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P</a:t>
                      </a:r>
                      <a:r>
                        <a:rPr sz="2400" b="1" spc="-10" dirty="0" err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rotected</a:t>
                      </a:r>
                      <a:endParaRPr lang="pt-BR" sz="2400" b="1" spc="-1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216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b="1" dirty="0">
                          <a:solidFill>
                            <a:srgbClr val="FF0000"/>
                          </a:solidFill>
                        </a:rPr>
                        <a:t>Dentro do mesmo pacote</a:t>
                      </a:r>
                      <a:r>
                        <a:rPr lang="pt-BR" sz="2400" dirty="0">
                          <a:solidFill>
                            <a:srgbClr val="FF0000"/>
                          </a:solidFill>
                        </a:rPr>
                        <a:t>: </a:t>
                      </a:r>
                      <a:r>
                        <a:rPr lang="pt-BR" sz="2400" dirty="0"/>
                        <a:t>qualquer classe pode acessar membros </a:t>
                      </a:r>
                      <a:r>
                        <a:rPr lang="pt-BR" sz="2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protected</a:t>
                      </a:r>
                      <a:r>
                        <a:rPr lang="pt-BR" sz="2400" dirty="0"/>
                        <a:t>, como se fossem </a:t>
                      </a:r>
                      <a:r>
                        <a:rPr lang="pt-BR" sz="2400" dirty="0">
                          <a:solidFill>
                            <a:srgbClr val="00B0F0"/>
                          </a:solidFill>
                        </a:rPr>
                        <a:t>package</a:t>
                      </a:r>
                      <a:r>
                        <a:rPr lang="pt-BR" sz="2400" dirty="0"/>
                        <a:t> (sem modificador).</a:t>
                      </a:r>
                    </a:p>
                    <a:p>
                      <a:r>
                        <a:rPr lang="pt-BR" sz="2400" b="1" dirty="0">
                          <a:solidFill>
                            <a:srgbClr val="FF0000"/>
                          </a:solidFill>
                        </a:rPr>
                        <a:t>Fora do pacote</a:t>
                      </a:r>
                      <a:r>
                        <a:rPr lang="pt-BR" sz="2400" dirty="0">
                          <a:solidFill>
                            <a:srgbClr val="FF0000"/>
                          </a:solidFill>
                        </a:rPr>
                        <a:t>: </a:t>
                      </a:r>
                      <a:r>
                        <a:rPr lang="pt-BR" sz="2400" dirty="0">
                          <a:solidFill>
                            <a:srgbClr val="00B0F0"/>
                          </a:solidFill>
                        </a:rPr>
                        <a:t>apenas</a:t>
                      </a:r>
                      <a:r>
                        <a:rPr lang="pt-BR" sz="2400" dirty="0"/>
                        <a:t> classes que </a:t>
                      </a:r>
                      <a:r>
                        <a:rPr lang="pt-BR" sz="2400" b="1" dirty="0">
                          <a:solidFill>
                            <a:srgbClr val="00B0F0"/>
                          </a:solidFill>
                        </a:rPr>
                        <a:t>herdam</a:t>
                      </a:r>
                      <a:r>
                        <a:rPr lang="pt-BR" sz="2400" dirty="0"/>
                        <a:t> da classe original (subclasses) podem acessar os membros protected.</a:t>
                      </a:r>
                    </a:p>
                    <a:p>
                      <a:r>
                        <a:rPr lang="pt-BR" sz="2400" dirty="0"/>
                        <a:t>Ou seja, o protected combina dois tipos de acesso:</a:t>
                      </a:r>
                    </a:p>
                    <a:p>
                      <a:r>
                        <a:rPr lang="pt-BR" sz="2400" b="1" dirty="0">
                          <a:solidFill>
                            <a:srgbClr val="FF0000"/>
                          </a:solidFill>
                        </a:rPr>
                        <a:t>Por pacote</a:t>
                      </a:r>
                      <a:r>
                        <a:rPr lang="pt-BR" sz="24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pt-BR" sz="2400" dirty="0"/>
                        <a:t>(como o </a:t>
                      </a:r>
                      <a:r>
                        <a:rPr lang="pt-BR" sz="2400" dirty="0">
                          <a:solidFill>
                            <a:srgbClr val="00B0F0"/>
                          </a:solidFill>
                        </a:rPr>
                        <a:t>package</a:t>
                      </a:r>
                      <a:r>
                        <a:rPr lang="pt-BR" sz="2400" dirty="0"/>
                        <a:t>).</a:t>
                      </a:r>
                    </a:p>
                    <a:p>
                      <a:r>
                        <a:rPr lang="pt-BR" sz="2400" b="1" dirty="0">
                          <a:solidFill>
                            <a:srgbClr val="FF0000"/>
                          </a:solidFill>
                        </a:rPr>
                        <a:t>Por herança</a:t>
                      </a:r>
                      <a:r>
                        <a:rPr lang="pt-BR" sz="24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pt-BR" sz="2400" dirty="0"/>
                        <a:t>(mesmo estando em pacotes diferentes).</a:t>
                      </a:r>
                      <a:endParaRPr lang="pt-BR" sz="2000" dirty="0"/>
                    </a:p>
                  </a:txBody>
                  <a:tcPr marL="0" marR="0" marT="216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288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12792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9751" y="0"/>
            <a:ext cx="11212497" cy="627585"/>
          </a:xfrm>
          <a:prstGeom prst="rect">
            <a:avLst/>
          </a:prstGeom>
        </p:spPr>
        <p:txBody>
          <a:bodyPr vert="horz" wrap="square" lIns="0" tIns="194034" rIns="0" bIns="0" rtlCol="0">
            <a:spAutoFit/>
          </a:bodyPr>
          <a:lstStyle/>
          <a:p>
            <a:pPr marL="365183" indent="-353095">
              <a:spcBef>
                <a:spcPts val="1528"/>
              </a:spcBef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r>
              <a:rPr lang="pt-BR" sz="2805" spc="-20" dirty="0">
                <a:solidFill>
                  <a:schemeClr val="bg1"/>
                </a:solidFill>
                <a:latin typeface="Calibri"/>
                <a:cs typeface="Calibri"/>
              </a:rPr>
              <a:t>Exemplo método protected </a:t>
            </a:r>
            <a:endParaRPr sz="2805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A226D93-D0D3-4C66-2DC6-483B56743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80" y="1440390"/>
            <a:ext cx="4790909" cy="3108543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package 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pac1;</a:t>
            </a:r>
            <a:b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public class 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Exemplo {</a:t>
            </a:r>
            <a:b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private int 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a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;</a:t>
            </a:r>
            <a:b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protected  void 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imprime_a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(){</a:t>
            </a:r>
            <a:b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System.</a:t>
            </a:r>
            <a:r>
              <a:rPr kumimoji="0" lang="pt-BR" altLang="pt-BR" sz="28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.println(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a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}</a:t>
            </a:r>
            <a:b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endParaRPr kumimoji="0" lang="pt-BR" altLang="pt-BR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95FEAB7-7092-40D3-D84A-103D9C557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9291" y="1184078"/>
            <a:ext cx="5952958" cy="4093428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package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pac2;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pac1.Exemplo;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public class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Exemplo2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extends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Exemplo {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public void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imprime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(){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imprime_a();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//Como é filho, consigo herdar comportamento do método que está em pac1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}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public static void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main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(String[] args) {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Exemplo2 ex 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new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Exemplo2();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// Classe filho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ex.imprime_a();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// pode usar: elemento do filho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ex.imprime();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//pode usar:elemento do pai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226456-CD11-C13D-5CE6-3434DB2EE34A}"/>
              </a:ext>
            </a:extLst>
          </p:cNvPr>
          <p:cNvSpPr txBox="1"/>
          <p:nvPr/>
        </p:nvSpPr>
        <p:spPr>
          <a:xfrm>
            <a:off x="994410" y="971550"/>
            <a:ext cx="3303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Pacote -pac1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0686A3-006D-D1EB-4DD4-98E464606EF8}"/>
              </a:ext>
            </a:extLst>
          </p:cNvPr>
          <p:cNvSpPr txBox="1"/>
          <p:nvPr/>
        </p:nvSpPr>
        <p:spPr>
          <a:xfrm>
            <a:off x="5749291" y="870157"/>
            <a:ext cx="3303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Pacote –pac2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8CC2EC-6CD6-1CDE-6A0C-1C9803B26708}"/>
              </a:ext>
            </a:extLst>
          </p:cNvPr>
          <p:cNvSpPr/>
          <p:nvPr/>
        </p:nvSpPr>
        <p:spPr>
          <a:xfrm>
            <a:off x="8115300" y="1863090"/>
            <a:ext cx="1828800" cy="285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9B0460D-DED0-FC5D-3CE7-195216A38A23}"/>
              </a:ext>
            </a:extLst>
          </p:cNvPr>
          <p:cNvCxnSpPr/>
          <p:nvPr/>
        </p:nvCxnSpPr>
        <p:spPr>
          <a:xfrm flipV="1">
            <a:off x="8675370" y="1482061"/>
            <a:ext cx="377191" cy="381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8A5DA45-31B7-8925-E6CA-0E5A64E51A09}"/>
              </a:ext>
            </a:extLst>
          </p:cNvPr>
          <p:cNvSpPr txBox="1"/>
          <p:nvPr/>
        </p:nvSpPr>
        <p:spPr>
          <a:xfrm>
            <a:off x="9052561" y="971550"/>
            <a:ext cx="17030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Indica que é filho de Exemplo</a:t>
            </a:r>
          </a:p>
        </p:txBody>
      </p:sp>
    </p:spTree>
    <p:extLst>
      <p:ext uri="{BB962C8B-B14F-4D97-AF65-F5344CB8AC3E}">
        <p14:creationId xmlns:p14="http://schemas.microsoft.com/office/powerpoint/2010/main" val="16704344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36436" y="1408579"/>
            <a:ext cx="9550400" cy="873037"/>
          </a:xfrm>
          <a:prstGeom prst="rect">
            <a:avLst/>
          </a:prstGeom>
        </p:spPr>
        <p:txBody>
          <a:bodyPr vert="horz" wrap="square" lIns="0" tIns="194034" rIns="0" bIns="0" rtlCol="0">
            <a:spAutoFit/>
          </a:bodyPr>
          <a:lstStyle/>
          <a:p>
            <a:pPr marL="365183" indent="-353095">
              <a:spcBef>
                <a:spcPts val="1528"/>
              </a:spcBef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r>
              <a:rPr lang="en-US" sz="4400" spc="-20" err="1">
                <a:solidFill>
                  <a:schemeClr val="bg1"/>
                </a:solidFill>
                <a:latin typeface="Calibri"/>
                <a:cs typeface="Calibri"/>
              </a:rPr>
              <a:t>Visibilidade</a:t>
            </a:r>
            <a:r>
              <a:rPr lang="en-US" sz="4400" spc="-2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4400" spc="-20" err="1">
                <a:solidFill>
                  <a:schemeClr val="bg1"/>
                </a:solidFill>
                <a:latin typeface="Calibri"/>
                <a:cs typeface="Calibri"/>
              </a:rPr>
              <a:t>atributos</a:t>
            </a:r>
            <a:r>
              <a:rPr lang="en-US" sz="4400" spc="-20">
                <a:solidFill>
                  <a:schemeClr val="bg1"/>
                </a:solidFill>
                <a:latin typeface="Calibri"/>
                <a:cs typeface="Calibri"/>
              </a:rPr>
              <a:t> e </a:t>
            </a:r>
            <a:r>
              <a:rPr lang="en-US" sz="4400" spc="-20" err="1">
                <a:solidFill>
                  <a:schemeClr val="bg1"/>
                </a:solidFill>
                <a:latin typeface="Calibri"/>
                <a:cs typeface="Calibri"/>
              </a:rPr>
              <a:t>métodos</a:t>
            </a:r>
            <a:r>
              <a:rPr lang="en-US" sz="4400" spc="-20">
                <a:solidFill>
                  <a:schemeClr val="bg1"/>
                </a:solidFill>
                <a:latin typeface="Calibri"/>
                <a:cs typeface="Calibri"/>
              </a:rPr>
              <a:t>:</a:t>
            </a:r>
            <a:endParaRPr sz="440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 flipH="1">
            <a:off x="1215328" y="266330"/>
            <a:ext cx="3671784" cy="628977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spc="-10">
                <a:solidFill>
                  <a:schemeClr val="bg1"/>
                </a:solidFill>
              </a:rPr>
              <a:t>Classes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AF3C514-6EED-44A2-BDBB-670479B05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27" y="2383138"/>
            <a:ext cx="11571932" cy="423996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43AC7207-A67E-4C02-B374-A273454E611A}"/>
              </a:ext>
            </a:extLst>
          </p:cNvPr>
          <p:cNvSpPr txBox="1"/>
          <p:nvPr/>
        </p:nvSpPr>
        <p:spPr>
          <a:xfrm>
            <a:off x="1971417" y="4421438"/>
            <a:ext cx="185074" cy="3700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sz="1803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FD8A8A-9F6B-1048-B244-C8542D14E52B}"/>
              </a:ext>
            </a:extLst>
          </p:cNvPr>
          <p:cNvSpPr/>
          <p:nvPr/>
        </p:nvSpPr>
        <p:spPr>
          <a:xfrm>
            <a:off x="3390900" y="4914900"/>
            <a:ext cx="2466975" cy="15049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678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8175" y="1408579"/>
            <a:ext cx="10648661" cy="3150584"/>
          </a:xfrm>
          <a:prstGeom prst="rect">
            <a:avLst/>
          </a:prstGeom>
        </p:spPr>
        <p:txBody>
          <a:bodyPr vert="horz" wrap="square" lIns="0" tIns="194034" rIns="0" bIns="0" rtlCol="0">
            <a:spAutoFit/>
          </a:bodyPr>
          <a:lstStyle/>
          <a:p>
            <a:pPr algn="l"/>
            <a:r>
              <a:rPr lang="pt-BR" sz="4800" b="0" i="0" u="none" strike="noStrike" baseline="0" dirty="0">
                <a:solidFill>
                  <a:srgbClr val="00B0F0"/>
                </a:solidFill>
                <a:latin typeface="TTE1320C50t00"/>
              </a:rPr>
              <a:t>final</a:t>
            </a:r>
            <a:r>
              <a:rPr lang="pt-BR" sz="4800" b="0" i="0" u="none" strike="noStrike" baseline="0" dirty="0">
                <a:solidFill>
                  <a:srgbClr val="FF0000"/>
                </a:solidFill>
                <a:latin typeface="TTE1320C50t00"/>
              </a:rPr>
              <a:t> </a:t>
            </a:r>
            <a:r>
              <a:rPr lang="pt-BR" sz="4800" b="0" i="0" u="none" strike="noStrike" baseline="0" dirty="0">
                <a:solidFill>
                  <a:schemeClr val="bg1"/>
                </a:solidFill>
                <a:latin typeface="TTE1320C50t00"/>
              </a:rPr>
              <a:t>class X:  X não pode ser </a:t>
            </a:r>
            <a:r>
              <a:rPr lang="pt-BR" sz="4800" b="0" i="0" u="none" strike="noStrike" baseline="0" dirty="0">
                <a:solidFill>
                  <a:srgbClr val="FF0000"/>
                </a:solidFill>
                <a:latin typeface="TTE1320C50t00"/>
              </a:rPr>
              <a:t>estendida</a:t>
            </a:r>
          </a:p>
          <a:p>
            <a:pPr algn="l"/>
            <a:endParaRPr lang="pt-BR" sz="4800" dirty="0">
              <a:solidFill>
                <a:srgbClr val="008080"/>
              </a:solidFill>
              <a:latin typeface="Times-Roman"/>
            </a:endParaRPr>
          </a:p>
          <a:p>
            <a:pPr algn="l"/>
            <a:r>
              <a:rPr lang="pt-BR" sz="4800" b="0" i="0" u="none" strike="noStrike" baseline="0" dirty="0">
                <a:solidFill>
                  <a:srgbClr val="00B0F0"/>
                </a:solidFill>
                <a:latin typeface="TTE1320C50t00"/>
              </a:rPr>
              <a:t>final</a:t>
            </a:r>
            <a:r>
              <a:rPr lang="pt-BR" sz="4800" b="0" i="0" u="none" strike="noStrike" baseline="0" dirty="0">
                <a:solidFill>
                  <a:srgbClr val="FF0000"/>
                </a:solidFill>
                <a:latin typeface="TTE1320C50t00"/>
              </a:rPr>
              <a:t> </a:t>
            </a:r>
            <a:r>
              <a:rPr lang="pt-BR" sz="4800" b="0" i="0" u="none" strike="noStrike" baseline="0" dirty="0">
                <a:solidFill>
                  <a:schemeClr val="bg1"/>
                </a:solidFill>
                <a:latin typeface="TTE1320C50t00"/>
              </a:rPr>
              <a:t>em um </a:t>
            </a:r>
            <a:r>
              <a:rPr lang="pt-BR" sz="4800" b="0" i="0" u="none" strike="noStrike" baseline="0" dirty="0">
                <a:solidFill>
                  <a:srgbClr val="FF0000"/>
                </a:solidFill>
                <a:latin typeface="TTE1320C50t00"/>
              </a:rPr>
              <a:t>método</a:t>
            </a:r>
            <a:r>
              <a:rPr lang="pt-BR" sz="4800" b="0" i="0" u="none" strike="noStrike" baseline="0" dirty="0">
                <a:solidFill>
                  <a:schemeClr val="bg1"/>
                </a:solidFill>
                <a:latin typeface="TTE1320C50t00"/>
              </a:rPr>
              <a:t>: o método </a:t>
            </a:r>
            <a:r>
              <a:rPr lang="pt-BR" sz="4800" b="0" i="0" u="none" strike="noStrike" baseline="0" dirty="0">
                <a:solidFill>
                  <a:srgbClr val="FF0000"/>
                </a:solidFill>
                <a:latin typeface="TTE1320C50t00"/>
              </a:rPr>
              <a:t>não</a:t>
            </a:r>
            <a:r>
              <a:rPr lang="pt-BR" sz="4800" b="0" i="0" u="none" strike="noStrike" baseline="0" dirty="0">
                <a:solidFill>
                  <a:schemeClr val="bg1"/>
                </a:solidFill>
                <a:latin typeface="TTE1320C50t00"/>
              </a:rPr>
              <a:t> pode ser </a:t>
            </a:r>
            <a:r>
              <a:rPr lang="en-US" sz="4800" b="0" i="0" u="none" strike="noStrike" baseline="0" dirty="0" err="1">
                <a:solidFill>
                  <a:schemeClr val="bg1"/>
                </a:solidFill>
                <a:latin typeface="TTE1320C50t00"/>
              </a:rPr>
              <a:t>redefinido</a:t>
            </a:r>
            <a:r>
              <a:rPr lang="en-US" sz="4800" b="0" i="0" u="none" strike="noStrike" baseline="0" dirty="0">
                <a:solidFill>
                  <a:schemeClr val="bg1"/>
                </a:solidFill>
                <a:latin typeface="TTE1320C50t00"/>
              </a:rPr>
              <a:t> </a:t>
            </a:r>
            <a:r>
              <a:rPr lang="en-US" sz="4800" b="0" i="0" u="none" strike="noStrike" baseline="0" dirty="0" err="1">
                <a:solidFill>
                  <a:schemeClr val="bg1"/>
                </a:solidFill>
                <a:latin typeface="TTE1320C50t00"/>
              </a:rPr>
              <a:t>nas</a:t>
            </a:r>
            <a:r>
              <a:rPr lang="en-US" sz="4800" b="0" i="0" u="none" strike="noStrike" baseline="0" dirty="0">
                <a:solidFill>
                  <a:schemeClr val="bg1"/>
                </a:solidFill>
                <a:latin typeface="TTE1320C50t00"/>
              </a:rPr>
              <a:t> subclasses</a:t>
            </a:r>
            <a:endParaRPr sz="96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 flipH="1">
            <a:off x="1215328" y="266330"/>
            <a:ext cx="7966772" cy="843202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lang="en-US" sz="5400" spc="-20">
                <a:solidFill>
                  <a:schemeClr val="bg1"/>
                </a:solidFill>
                <a:latin typeface="Calibri"/>
                <a:cs typeface="Calibri"/>
              </a:rPr>
              <a:t>Final </a:t>
            </a:r>
            <a:r>
              <a:rPr lang="en-US" sz="5400" spc="-20" err="1">
                <a:solidFill>
                  <a:schemeClr val="bg1"/>
                </a:solidFill>
                <a:latin typeface="Calibri"/>
                <a:cs typeface="Calibri"/>
              </a:rPr>
              <a:t>em</a:t>
            </a:r>
            <a:r>
              <a:rPr lang="en-US" sz="5400" spc="-20">
                <a:solidFill>
                  <a:schemeClr val="bg1"/>
                </a:solidFill>
                <a:latin typeface="Calibri"/>
                <a:cs typeface="Calibri"/>
              </a:rPr>
              <a:t> classes  e </a:t>
            </a:r>
            <a:r>
              <a:rPr lang="en-US" sz="5400" spc="-20" err="1">
                <a:solidFill>
                  <a:schemeClr val="bg1"/>
                </a:solidFill>
                <a:latin typeface="Calibri"/>
                <a:cs typeface="Calibri"/>
              </a:rPr>
              <a:t>métodos</a:t>
            </a:r>
            <a:endParaRPr sz="5400" spc="-10">
              <a:solidFill>
                <a:schemeClr val="bg1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3AC7207-A67E-4C02-B374-A273454E611A}"/>
              </a:ext>
            </a:extLst>
          </p:cNvPr>
          <p:cNvSpPr txBox="1"/>
          <p:nvPr/>
        </p:nvSpPr>
        <p:spPr>
          <a:xfrm>
            <a:off x="1971417" y="4421438"/>
            <a:ext cx="185074" cy="3700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sz="1803"/>
          </a:p>
        </p:txBody>
      </p:sp>
    </p:spTree>
    <p:extLst>
      <p:ext uri="{BB962C8B-B14F-4D97-AF65-F5344CB8AC3E}">
        <p14:creationId xmlns:p14="http://schemas.microsoft.com/office/powerpoint/2010/main" val="3800239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22172" y="6594138"/>
            <a:ext cx="1118401" cy="1787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8"/>
              </a:lnSpc>
            </a:pPr>
            <a:r>
              <a:rPr sz="1403" i="1">
                <a:solidFill>
                  <a:srgbClr val="5F5F5F"/>
                </a:solidFill>
                <a:latin typeface="Calibri"/>
                <a:cs typeface="Calibri"/>
              </a:rPr>
              <a:t>l</a:t>
            </a:r>
            <a:r>
              <a:rPr sz="1403" i="1" spc="5">
                <a:solidFill>
                  <a:srgbClr val="5F5F5F"/>
                </a:solidFill>
                <a:latin typeface="Calibri"/>
                <a:cs typeface="Calibri"/>
              </a:rPr>
              <a:t>.</a:t>
            </a:r>
            <a:r>
              <a:rPr sz="1403" i="1" spc="-5">
                <a:solidFill>
                  <a:srgbClr val="5F5F5F"/>
                </a:solidFill>
                <a:latin typeface="Calibri"/>
                <a:cs typeface="Calibri"/>
              </a:rPr>
              <a:t>bertholdo@i</a:t>
            </a:r>
            <a:r>
              <a:rPr sz="1403" i="1" spc="5">
                <a:solidFill>
                  <a:srgbClr val="5F5F5F"/>
                </a:solidFill>
                <a:latin typeface="Calibri"/>
                <a:cs typeface="Calibri"/>
              </a:rPr>
              <a:t>f</a:t>
            </a:r>
            <a:r>
              <a:rPr sz="1403" i="1">
                <a:solidFill>
                  <a:srgbClr val="5F5F5F"/>
                </a:solidFill>
                <a:latin typeface="Calibri"/>
                <a:cs typeface="Calibri"/>
              </a:rPr>
              <a:t>s</a:t>
            </a:r>
            <a:endParaRPr sz="1403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13383" y="1008788"/>
            <a:ext cx="8761445" cy="5745324"/>
            <a:chOff x="670179" y="1006919"/>
            <a:chExt cx="8745220" cy="57346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2744722"/>
              <a:ext cx="8279892" cy="398678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81037" y="2739961"/>
              <a:ext cx="8289925" cy="3996690"/>
            </a:xfrm>
            <a:custGeom>
              <a:avLst/>
              <a:gdLst/>
              <a:ahLst/>
              <a:cxnLst/>
              <a:rect l="l" t="t" r="r" b="b"/>
              <a:pathLst>
                <a:path w="8289925" h="3996690">
                  <a:moveTo>
                    <a:pt x="0" y="3996309"/>
                  </a:moveTo>
                  <a:lnTo>
                    <a:pt x="8289417" y="3996309"/>
                  </a:lnTo>
                  <a:lnTo>
                    <a:pt x="8289417" y="0"/>
                  </a:lnTo>
                  <a:lnTo>
                    <a:pt x="0" y="0"/>
                  </a:lnTo>
                  <a:lnTo>
                    <a:pt x="0" y="399630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7" name="object 7"/>
            <p:cNvSpPr/>
            <p:nvPr/>
          </p:nvSpPr>
          <p:spPr>
            <a:xfrm>
              <a:off x="1136141" y="3042665"/>
              <a:ext cx="1195070" cy="2626360"/>
            </a:xfrm>
            <a:custGeom>
              <a:avLst/>
              <a:gdLst/>
              <a:ahLst/>
              <a:cxnLst/>
              <a:rect l="l" t="t" r="r" b="b"/>
              <a:pathLst>
                <a:path w="1195070" h="2626360">
                  <a:moveTo>
                    <a:pt x="0" y="83566"/>
                  </a:moveTo>
                  <a:lnTo>
                    <a:pt x="6562" y="51006"/>
                  </a:lnTo>
                  <a:lnTo>
                    <a:pt x="24460" y="24447"/>
                  </a:lnTo>
                  <a:lnTo>
                    <a:pt x="51006" y="6556"/>
                  </a:lnTo>
                  <a:lnTo>
                    <a:pt x="83515" y="0"/>
                  </a:lnTo>
                  <a:lnTo>
                    <a:pt x="887222" y="0"/>
                  </a:lnTo>
                  <a:lnTo>
                    <a:pt x="919781" y="6556"/>
                  </a:lnTo>
                  <a:lnTo>
                    <a:pt x="946340" y="24447"/>
                  </a:lnTo>
                  <a:lnTo>
                    <a:pt x="964231" y="51006"/>
                  </a:lnTo>
                  <a:lnTo>
                    <a:pt x="970788" y="83566"/>
                  </a:lnTo>
                  <a:lnTo>
                    <a:pt x="970788" y="745490"/>
                  </a:lnTo>
                  <a:lnTo>
                    <a:pt x="964231" y="778049"/>
                  </a:lnTo>
                  <a:lnTo>
                    <a:pt x="946340" y="804608"/>
                  </a:lnTo>
                  <a:lnTo>
                    <a:pt x="919781" y="822499"/>
                  </a:lnTo>
                  <a:lnTo>
                    <a:pt x="887222" y="829056"/>
                  </a:lnTo>
                  <a:lnTo>
                    <a:pt x="83515" y="829056"/>
                  </a:lnTo>
                  <a:lnTo>
                    <a:pt x="51006" y="822499"/>
                  </a:lnTo>
                  <a:lnTo>
                    <a:pt x="24460" y="804608"/>
                  </a:lnTo>
                  <a:lnTo>
                    <a:pt x="6562" y="778049"/>
                  </a:lnTo>
                  <a:lnTo>
                    <a:pt x="0" y="745490"/>
                  </a:lnTo>
                  <a:lnTo>
                    <a:pt x="0" y="83566"/>
                  </a:lnTo>
                  <a:close/>
                </a:path>
                <a:path w="1195070" h="2626360">
                  <a:moveTo>
                    <a:pt x="7620" y="2384552"/>
                  </a:moveTo>
                  <a:lnTo>
                    <a:pt x="11411" y="2365759"/>
                  </a:lnTo>
                  <a:lnTo>
                    <a:pt x="21753" y="2350420"/>
                  </a:lnTo>
                  <a:lnTo>
                    <a:pt x="37093" y="2340082"/>
                  </a:lnTo>
                  <a:lnTo>
                    <a:pt x="55880" y="2336292"/>
                  </a:lnTo>
                  <a:lnTo>
                    <a:pt x="1146556" y="2336292"/>
                  </a:lnTo>
                  <a:lnTo>
                    <a:pt x="1165348" y="2340082"/>
                  </a:lnTo>
                  <a:lnTo>
                    <a:pt x="1180687" y="2350420"/>
                  </a:lnTo>
                  <a:lnTo>
                    <a:pt x="1191025" y="2365759"/>
                  </a:lnTo>
                  <a:lnTo>
                    <a:pt x="1194816" y="2384552"/>
                  </a:lnTo>
                  <a:lnTo>
                    <a:pt x="1194816" y="2577592"/>
                  </a:lnTo>
                  <a:lnTo>
                    <a:pt x="1191025" y="2596378"/>
                  </a:lnTo>
                  <a:lnTo>
                    <a:pt x="1180687" y="2611718"/>
                  </a:lnTo>
                  <a:lnTo>
                    <a:pt x="1165348" y="2622060"/>
                  </a:lnTo>
                  <a:lnTo>
                    <a:pt x="1146556" y="2625852"/>
                  </a:lnTo>
                  <a:lnTo>
                    <a:pt x="55880" y="2625852"/>
                  </a:lnTo>
                  <a:lnTo>
                    <a:pt x="37093" y="2622060"/>
                  </a:lnTo>
                  <a:lnTo>
                    <a:pt x="21753" y="2611718"/>
                  </a:lnTo>
                  <a:lnTo>
                    <a:pt x="11411" y="2596378"/>
                  </a:lnTo>
                  <a:lnTo>
                    <a:pt x="7620" y="2577592"/>
                  </a:lnTo>
                  <a:lnTo>
                    <a:pt x="7620" y="2384552"/>
                  </a:lnTo>
                  <a:close/>
                </a:path>
                <a:path w="1195070" h="2626360">
                  <a:moveTo>
                    <a:pt x="7620" y="1087628"/>
                  </a:moveTo>
                  <a:lnTo>
                    <a:pt x="11411" y="1068835"/>
                  </a:lnTo>
                  <a:lnTo>
                    <a:pt x="21753" y="1053496"/>
                  </a:lnTo>
                  <a:lnTo>
                    <a:pt x="37093" y="1043158"/>
                  </a:lnTo>
                  <a:lnTo>
                    <a:pt x="55880" y="1039368"/>
                  </a:lnTo>
                  <a:lnTo>
                    <a:pt x="1146556" y="1039368"/>
                  </a:lnTo>
                  <a:lnTo>
                    <a:pt x="1165348" y="1043158"/>
                  </a:lnTo>
                  <a:lnTo>
                    <a:pt x="1180687" y="1053496"/>
                  </a:lnTo>
                  <a:lnTo>
                    <a:pt x="1191025" y="1068835"/>
                  </a:lnTo>
                  <a:lnTo>
                    <a:pt x="1194816" y="1087628"/>
                  </a:lnTo>
                  <a:lnTo>
                    <a:pt x="1194816" y="1280668"/>
                  </a:lnTo>
                  <a:lnTo>
                    <a:pt x="1191025" y="1299460"/>
                  </a:lnTo>
                  <a:lnTo>
                    <a:pt x="1180687" y="1314799"/>
                  </a:lnTo>
                  <a:lnTo>
                    <a:pt x="1165348" y="1325137"/>
                  </a:lnTo>
                  <a:lnTo>
                    <a:pt x="1146556" y="1328928"/>
                  </a:lnTo>
                  <a:lnTo>
                    <a:pt x="55880" y="1328928"/>
                  </a:lnTo>
                  <a:lnTo>
                    <a:pt x="37093" y="1325137"/>
                  </a:lnTo>
                  <a:lnTo>
                    <a:pt x="21753" y="1314799"/>
                  </a:lnTo>
                  <a:lnTo>
                    <a:pt x="11411" y="1299460"/>
                  </a:lnTo>
                  <a:lnTo>
                    <a:pt x="7620" y="1280668"/>
                  </a:lnTo>
                  <a:lnTo>
                    <a:pt x="7620" y="1087628"/>
                  </a:lnTo>
                  <a:close/>
                </a:path>
              </a:pathLst>
            </a:custGeom>
            <a:ln w="317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704" y="1016507"/>
              <a:ext cx="8279892" cy="160629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74941" y="1011681"/>
              <a:ext cx="8289925" cy="1616075"/>
            </a:xfrm>
            <a:custGeom>
              <a:avLst/>
              <a:gdLst/>
              <a:ahLst/>
              <a:cxnLst/>
              <a:rect l="l" t="t" r="r" b="b"/>
              <a:pathLst>
                <a:path w="8289925" h="1616075">
                  <a:moveTo>
                    <a:pt x="0" y="1615821"/>
                  </a:moveTo>
                  <a:lnTo>
                    <a:pt x="8289417" y="1615821"/>
                  </a:lnTo>
                  <a:lnTo>
                    <a:pt x="8289417" y="0"/>
                  </a:lnTo>
                  <a:lnTo>
                    <a:pt x="0" y="0"/>
                  </a:lnTo>
                  <a:lnTo>
                    <a:pt x="0" y="161582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10" name="object 10"/>
            <p:cNvSpPr/>
            <p:nvPr/>
          </p:nvSpPr>
          <p:spPr>
            <a:xfrm>
              <a:off x="4986527" y="2250947"/>
              <a:ext cx="4429125" cy="1548765"/>
            </a:xfrm>
            <a:custGeom>
              <a:avLst/>
              <a:gdLst/>
              <a:ahLst/>
              <a:cxnLst/>
              <a:rect l="l" t="t" r="r" b="b"/>
              <a:pathLst>
                <a:path w="4429125" h="1548764">
                  <a:moveTo>
                    <a:pt x="4052697" y="0"/>
                  </a:moveTo>
                  <a:lnTo>
                    <a:pt x="376047" y="0"/>
                  </a:lnTo>
                  <a:lnTo>
                    <a:pt x="328884" y="2930"/>
                  </a:lnTo>
                  <a:lnTo>
                    <a:pt x="283467" y="11487"/>
                  </a:lnTo>
                  <a:lnTo>
                    <a:pt x="240149" y="25317"/>
                  </a:lnTo>
                  <a:lnTo>
                    <a:pt x="199283" y="44067"/>
                  </a:lnTo>
                  <a:lnTo>
                    <a:pt x="161220" y="67386"/>
                  </a:lnTo>
                  <a:lnTo>
                    <a:pt x="126315" y="94919"/>
                  </a:lnTo>
                  <a:lnTo>
                    <a:pt x="94919" y="126315"/>
                  </a:lnTo>
                  <a:lnTo>
                    <a:pt x="67386" y="161220"/>
                  </a:lnTo>
                  <a:lnTo>
                    <a:pt x="44067" y="199283"/>
                  </a:lnTo>
                  <a:lnTo>
                    <a:pt x="25317" y="240149"/>
                  </a:lnTo>
                  <a:lnTo>
                    <a:pt x="11487" y="283467"/>
                  </a:lnTo>
                  <a:lnTo>
                    <a:pt x="2930" y="328884"/>
                  </a:lnTo>
                  <a:lnTo>
                    <a:pt x="0" y="376047"/>
                  </a:lnTo>
                  <a:lnTo>
                    <a:pt x="0" y="1172337"/>
                  </a:lnTo>
                  <a:lnTo>
                    <a:pt x="2930" y="1219499"/>
                  </a:lnTo>
                  <a:lnTo>
                    <a:pt x="11487" y="1264916"/>
                  </a:lnTo>
                  <a:lnTo>
                    <a:pt x="25317" y="1308234"/>
                  </a:lnTo>
                  <a:lnTo>
                    <a:pt x="44067" y="1349100"/>
                  </a:lnTo>
                  <a:lnTo>
                    <a:pt x="67386" y="1387163"/>
                  </a:lnTo>
                  <a:lnTo>
                    <a:pt x="94919" y="1422068"/>
                  </a:lnTo>
                  <a:lnTo>
                    <a:pt x="126315" y="1453464"/>
                  </a:lnTo>
                  <a:lnTo>
                    <a:pt x="161220" y="1480997"/>
                  </a:lnTo>
                  <a:lnTo>
                    <a:pt x="199283" y="1504316"/>
                  </a:lnTo>
                  <a:lnTo>
                    <a:pt x="240149" y="1523066"/>
                  </a:lnTo>
                  <a:lnTo>
                    <a:pt x="283467" y="1536896"/>
                  </a:lnTo>
                  <a:lnTo>
                    <a:pt x="328884" y="1545453"/>
                  </a:lnTo>
                  <a:lnTo>
                    <a:pt x="376047" y="1548383"/>
                  </a:lnTo>
                  <a:lnTo>
                    <a:pt x="4052697" y="1548383"/>
                  </a:lnTo>
                  <a:lnTo>
                    <a:pt x="4099859" y="1545453"/>
                  </a:lnTo>
                  <a:lnTo>
                    <a:pt x="4145276" y="1536896"/>
                  </a:lnTo>
                  <a:lnTo>
                    <a:pt x="4188594" y="1523066"/>
                  </a:lnTo>
                  <a:lnTo>
                    <a:pt x="4229460" y="1504316"/>
                  </a:lnTo>
                  <a:lnTo>
                    <a:pt x="4267523" y="1480997"/>
                  </a:lnTo>
                  <a:lnTo>
                    <a:pt x="4302428" y="1453464"/>
                  </a:lnTo>
                  <a:lnTo>
                    <a:pt x="4333824" y="1422068"/>
                  </a:lnTo>
                  <a:lnTo>
                    <a:pt x="4361357" y="1387163"/>
                  </a:lnTo>
                  <a:lnTo>
                    <a:pt x="4384676" y="1349100"/>
                  </a:lnTo>
                  <a:lnTo>
                    <a:pt x="4403426" y="1308234"/>
                  </a:lnTo>
                  <a:lnTo>
                    <a:pt x="4417256" y="1264916"/>
                  </a:lnTo>
                  <a:lnTo>
                    <a:pt x="4425813" y="1219499"/>
                  </a:lnTo>
                  <a:lnTo>
                    <a:pt x="4428744" y="1172337"/>
                  </a:lnTo>
                  <a:lnTo>
                    <a:pt x="4428744" y="376047"/>
                  </a:lnTo>
                  <a:lnTo>
                    <a:pt x="4425813" y="328884"/>
                  </a:lnTo>
                  <a:lnTo>
                    <a:pt x="4417256" y="283467"/>
                  </a:lnTo>
                  <a:lnTo>
                    <a:pt x="4403426" y="240149"/>
                  </a:lnTo>
                  <a:lnTo>
                    <a:pt x="4384676" y="199283"/>
                  </a:lnTo>
                  <a:lnTo>
                    <a:pt x="4361357" y="161220"/>
                  </a:lnTo>
                  <a:lnTo>
                    <a:pt x="4333824" y="126315"/>
                  </a:lnTo>
                  <a:lnTo>
                    <a:pt x="4302428" y="94919"/>
                  </a:lnTo>
                  <a:lnTo>
                    <a:pt x="4267523" y="67386"/>
                  </a:lnTo>
                  <a:lnTo>
                    <a:pt x="4229460" y="44067"/>
                  </a:lnTo>
                  <a:lnTo>
                    <a:pt x="4188594" y="25317"/>
                  </a:lnTo>
                  <a:lnTo>
                    <a:pt x="4145276" y="11487"/>
                  </a:lnTo>
                  <a:lnTo>
                    <a:pt x="4099859" y="2930"/>
                  </a:lnTo>
                  <a:lnTo>
                    <a:pt x="4052697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 sz="1803"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825005" y="254217"/>
            <a:ext cx="1756488" cy="636178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spc="-5">
                <a:solidFill>
                  <a:schemeClr val="bg1"/>
                </a:solidFill>
              </a:rPr>
              <a:t>He</a:t>
            </a:r>
            <a:r>
              <a:rPr spc="-90">
                <a:solidFill>
                  <a:schemeClr val="bg1"/>
                </a:solidFill>
              </a:rPr>
              <a:t>r</a:t>
            </a:r>
            <a:r>
              <a:rPr spc="-5">
                <a:solidFill>
                  <a:schemeClr val="bg1"/>
                </a:solidFill>
              </a:rPr>
              <a:t>an</a:t>
            </a:r>
            <a:r>
              <a:rPr spc="-40">
                <a:solidFill>
                  <a:schemeClr val="bg1"/>
                </a:solidFill>
              </a:rPr>
              <a:t>ç</a:t>
            </a:r>
            <a:r>
              <a:rPr spc="-5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465619" y="2386508"/>
            <a:ext cx="3981839" cy="1247545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 marR="5090" indent="1272" algn="ctr">
              <a:spcBef>
                <a:spcPts val="95"/>
              </a:spcBef>
            </a:pPr>
            <a:r>
              <a:rPr sz="1603" i="1" spc="-5">
                <a:latin typeface="Calibri"/>
                <a:cs typeface="Calibri"/>
              </a:rPr>
              <a:t>É</a:t>
            </a:r>
            <a:r>
              <a:rPr sz="1603" i="1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comum</a:t>
            </a:r>
            <a:r>
              <a:rPr sz="1603" i="1" spc="15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que</a:t>
            </a:r>
            <a:r>
              <a:rPr sz="1603" i="1" spc="10"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os</a:t>
            </a:r>
            <a:r>
              <a:rPr sz="1603" i="1" spc="5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atributos</a:t>
            </a:r>
            <a:r>
              <a:rPr sz="1603" i="1" spc="30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de</a:t>
            </a:r>
            <a:r>
              <a:rPr sz="1603" i="1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uma</a:t>
            </a:r>
            <a:r>
              <a:rPr sz="1603" i="1" spc="20">
                <a:latin typeface="Calibri"/>
                <a:cs typeface="Calibri"/>
              </a:rPr>
              <a:t> </a:t>
            </a:r>
            <a:r>
              <a:rPr sz="1603" b="1" i="1" spc="-5">
                <a:solidFill>
                  <a:srgbClr val="FF0000"/>
                </a:solidFill>
                <a:latin typeface="Calibri"/>
                <a:cs typeface="Calibri"/>
              </a:rPr>
              <a:t>classe</a:t>
            </a:r>
            <a:r>
              <a:rPr sz="1603" b="1" i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3" b="1" i="1" spc="-5">
                <a:solidFill>
                  <a:srgbClr val="FF0000"/>
                </a:solidFill>
                <a:latin typeface="Calibri"/>
                <a:cs typeface="Calibri"/>
              </a:rPr>
              <a:t>mãe </a:t>
            </a:r>
            <a:r>
              <a:rPr sz="1603" b="1" i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sejam</a:t>
            </a:r>
            <a:r>
              <a:rPr sz="1603" i="1" spc="5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definidos</a:t>
            </a:r>
            <a:r>
              <a:rPr sz="1603" i="1" spc="10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como</a:t>
            </a:r>
            <a:r>
              <a:rPr sz="1603" i="1" spc="30">
                <a:latin typeface="Calibri"/>
                <a:cs typeface="Calibri"/>
              </a:rPr>
              <a:t> </a:t>
            </a:r>
            <a:r>
              <a:rPr sz="1603" b="1" i="1" spc="-10">
                <a:solidFill>
                  <a:srgbClr val="FF0000"/>
                </a:solidFill>
                <a:latin typeface="Calibri"/>
                <a:cs typeface="Calibri"/>
              </a:rPr>
              <a:t>protected</a:t>
            </a:r>
            <a:r>
              <a:rPr sz="1603" i="1" spc="-10">
                <a:latin typeface="Calibri"/>
                <a:cs typeface="Calibri"/>
              </a:rPr>
              <a:t>,</a:t>
            </a:r>
            <a:r>
              <a:rPr sz="1603" i="1" spc="40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para</a:t>
            </a:r>
            <a:r>
              <a:rPr sz="1603" i="1" spc="25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facilitar</a:t>
            </a:r>
            <a:r>
              <a:rPr sz="1603" i="1" spc="-15"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o </a:t>
            </a:r>
            <a:r>
              <a:rPr sz="1603" i="1" spc="-346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acesso</a:t>
            </a:r>
            <a:r>
              <a:rPr sz="1603" i="1" spc="10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das</a:t>
            </a:r>
            <a:r>
              <a:rPr sz="1603" i="1" spc="20"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classes filhas,</a:t>
            </a:r>
            <a:r>
              <a:rPr sz="1603" i="1" spc="-10"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de</a:t>
            </a:r>
            <a:r>
              <a:rPr sz="1603" i="1"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modo</a:t>
            </a:r>
            <a:r>
              <a:rPr sz="1603" i="1" spc="25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que</a:t>
            </a:r>
            <a:r>
              <a:rPr sz="1603" i="1" spc="5"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elas </a:t>
            </a:r>
            <a:r>
              <a:rPr sz="1603" i="1" spc="-10">
                <a:latin typeface="Calibri"/>
                <a:cs typeface="Calibri"/>
              </a:rPr>
              <a:t>não </a:t>
            </a:r>
            <a:r>
              <a:rPr sz="1603" i="1" spc="-5">
                <a:latin typeface="Calibri"/>
                <a:cs typeface="Calibri"/>
              </a:rPr>
              <a:t> precisem</a:t>
            </a:r>
            <a:r>
              <a:rPr sz="1603" i="1" spc="-10">
                <a:latin typeface="Calibri"/>
                <a:cs typeface="Calibri"/>
              </a:rPr>
              <a:t> </a:t>
            </a:r>
            <a:r>
              <a:rPr sz="1603" i="1" spc="-15">
                <a:latin typeface="Calibri"/>
                <a:cs typeface="Calibri"/>
              </a:rPr>
              <a:t>invocar</a:t>
            </a:r>
            <a:r>
              <a:rPr sz="1603" i="1" spc="20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métodos</a:t>
            </a:r>
            <a:r>
              <a:rPr sz="1603" i="1" spc="40">
                <a:latin typeface="Calibri"/>
                <a:cs typeface="Calibri"/>
              </a:rPr>
              <a:t> </a:t>
            </a:r>
            <a:r>
              <a:rPr sz="1603" b="1" i="1" spc="-10">
                <a:solidFill>
                  <a:srgbClr val="FF0000"/>
                </a:solidFill>
                <a:latin typeface="Calibri"/>
                <a:cs typeface="Calibri"/>
              </a:rPr>
              <a:t>get</a:t>
            </a:r>
            <a:r>
              <a:rPr sz="1603" b="1" i="1"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e</a:t>
            </a:r>
            <a:r>
              <a:rPr sz="1603" i="1">
                <a:latin typeface="Calibri"/>
                <a:cs typeface="Calibri"/>
              </a:rPr>
              <a:t> </a:t>
            </a:r>
            <a:r>
              <a:rPr sz="1603" b="1" i="1" spc="-10">
                <a:solidFill>
                  <a:srgbClr val="FF0000"/>
                </a:solidFill>
                <a:latin typeface="Calibri"/>
                <a:cs typeface="Calibri"/>
              </a:rPr>
              <a:t>set</a:t>
            </a:r>
            <a:r>
              <a:rPr sz="1603" b="1" i="1"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da</a:t>
            </a:r>
            <a:r>
              <a:rPr sz="1603" i="1" spc="10"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classe </a:t>
            </a:r>
            <a:r>
              <a:rPr sz="1603" i="1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mãe</a:t>
            </a:r>
            <a:r>
              <a:rPr sz="1603" i="1" spc="10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para</a:t>
            </a:r>
            <a:r>
              <a:rPr sz="1603" i="1" spc="25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acessar</a:t>
            </a:r>
            <a:r>
              <a:rPr sz="1603" i="1" spc="20"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e </a:t>
            </a:r>
            <a:r>
              <a:rPr sz="1603" i="1" spc="-10">
                <a:latin typeface="Calibri"/>
                <a:cs typeface="Calibri"/>
              </a:rPr>
              <a:t>modificar</a:t>
            </a:r>
            <a:r>
              <a:rPr sz="1603" i="1" spc="5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estes atributos.</a:t>
            </a:r>
            <a:endParaRPr sz="1603">
              <a:latin typeface="Calibri"/>
              <a:cs typeface="Calibri"/>
            </a:endParaRPr>
          </a:p>
        </p:txBody>
      </p:sp>
      <p:sp>
        <p:nvSpPr>
          <p:cNvPr id="3" name="object 10">
            <a:extLst>
              <a:ext uri="{FF2B5EF4-FFF2-40B4-BE49-F238E27FC236}">
                <a16:creationId xmlns:a16="http://schemas.microsoft.com/office/drawing/2014/main" id="{0EF9CDEE-6B7F-438B-334A-F0CC38BA6FBF}"/>
              </a:ext>
            </a:extLst>
          </p:cNvPr>
          <p:cNvSpPr/>
          <p:nvPr/>
        </p:nvSpPr>
        <p:spPr>
          <a:xfrm>
            <a:off x="220159" y="2521257"/>
            <a:ext cx="1688540" cy="1411271"/>
          </a:xfrm>
          <a:custGeom>
            <a:avLst/>
            <a:gdLst/>
            <a:ahLst/>
            <a:cxnLst/>
            <a:rect l="l" t="t" r="r" b="b"/>
            <a:pathLst>
              <a:path w="4429125" h="1548764">
                <a:moveTo>
                  <a:pt x="4052697" y="0"/>
                </a:moveTo>
                <a:lnTo>
                  <a:pt x="376047" y="0"/>
                </a:lnTo>
                <a:lnTo>
                  <a:pt x="328884" y="2930"/>
                </a:lnTo>
                <a:lnTo>
                  <a:pt x="283467" y="11487"/>
                </a:lnTo>
                <a:lnTo>
                  <a:pt x="240149" y="25317"/>
                </a:lnTo>
                <a:lnTo>
                  <a:pt x="199283" y="44067"/>
                </a:lnTo>
                <a:lnTo>
                  <a:pt x="161220" y="67386"/>
                </a:lnTo>
                <a:lnTo>
                  <a:pt x="126315" y="94919"/>
                </a:lnTo>
                <a:lnTo>
                  <a:pt x="94919" y="126315"/>
                </a:lnTo>
                <a:lnTo>
                  <a:pt x="67386" y="161220"/>
                </a:lnTo>
                <a:lnTo>
                  <a:pt x="44067" y="199283"/>
                </a:lnTo>
                <a:lnTo>
                  <a:pt x="25317" y="240149"/>
                </a:lnTo>
                <a:lnTo>
                  <a:pt x="11487" y="283467"/>
                </a:lnTo>
                <a:lnTo>
                  <a:pt x="2930" y="328884"/>
                </a:lnTo>
                <a:lnTo>
                  <a:pt x="0" y="376047"/>
                </a:lnTo>
                <a:lnTo>
                  <a:pt x="0" y="1172337"/>
                </a:lnTo>
                <a:lnTo>
                  <a:pt x="2930" y="1219499"/>
                </a:lnTo>
                <a:lnTo>
                  <a:pt x="11487" y="1264916"/>
                </a:lnTo>
                <a:lnTo>
                  <a:pt x="25317" y="1308234"/>
                </a:lnTo>
                <a:lnTo>
                  <a:pt x="44067" y="1349100"/>
                </a:lnTo>
                <a:lnTo>
                  <a:pt x="67386" y="1387163"/>
                </a:lnTo>
                <a:lnTo>
                  <a:pt x="94919" y="1422068"/>
                </a:lnTo>
                <a:lnTo>
                  <a:pt x="126315" y="1453464"/>
                </a:lnTo>
                <a:lnTo>
                  <a:pt x="161220" y="1480997"/>
                </a:lnTo>
                <a:lnTo>
                  <a:pt x="199283" y="1504316"/>
                </a:lnTo>
                <a:lnTo>
                  <a:pt x="240149" y="1523066"/>
                </a:lnTo>
                <a:lnTo>
                  <a:pt x="283467" y="1536896"/>
                </a:lnTo>
                <a:lnTo>
                  <a:pt x="328884" y="1545453"/>
                </a:lnTo>
                <a:lnTo>
                  <a:pt x="376047" y="1548383"/>
                </a:lnTo>
                <a:lnTo>
                  <a:pt x="4052697" y="1548383"/>
                </a:lnTo>
                <a:lnTo>
                  <a:pt x="4099859" y="1545453"/>
                </a:lnTo>
                <a:lnTo>
                  <a:pt x="4145276" y="1536896"/>
                </a:lnTo>
                <a:lnTo>
                  <a:pt x="4188594" y="1523066"/>
                </a:lnTo>
                <a:lnTo>
                  <a:pt x="4229460" y="1504316"/>
                </a:lnTo>
                <a:lnTo>
                  <a:pt x="4267523" y="1480997"/>
                </a:lnTo>
                <a:lnTo>
                  <a:pt x="4302428" y="1453464"/>
                </a:lnTo>
                <a:lnTo>
                  <a:pt x="4333824" y="1422068"/>
                </a:lnTo>
                <a:lnTo>
                  <a:pt x="4361357" y="1387163"/>
                </a:lnTo>
                <a:lnTo>
                  <a:pt x="4384676" y="1349100"/>
                </a:lnTo>
                <a:lnTo>
                  <a:pt x="4403426" y="1308234"/>
                </a:lnTo>
                <a:lnTo>
                  <a:pt x="4417256" y="1264916"/>
                </a:lnTo>
                <a:lnTo>
                  <a:pt x="4425813" y="1219499"/>
                </a:lnTo>
                <a:lnTo>
                  <a:pt x="4428744" y="1172337"/>
                </a:lnTo>
                <a:lnTo>
                  <a:pt x="4428744" y="376047"/>
                </a:lnTo>
                <a:lnTo>
                  <a:pt x="4425813" y="328884"/>
                </a:lnTo>
                <a:lnTo>
                  <a:pt x="4417256" y="283467"/>
                </a:lnTo>
                <a:lnTo>
                  <a:pt x="4403426" y="240149"/>
                </a:lnTo>
                <a:lnTo>
                  <a:pt x="4384676" y="199283"/>
                </a:lnTo>
                <a:lnTo>
                  <a:pt x="4361357" y="161220"/>
                </a:lnTo>
                <a:lnTo>
                  <a:pt x="4333824" y="126315"/>
                </a:lnTo>
                <a:lnTo>
                  <a:pt x="4302428" y="94919"/>
                </a:lnTo>
                <a:lnTo>
                  <a:pt x="4267523" y="67386"/>
                </a:lnTo>
                <a:lnTo>
                  <a:pt x="4229460" y="44067"/>
                </a:lnTo>
                <a:lnTo>
                  <a:pt x="4188594" y="25317"/>
                </a:lnTo>
                <a:lnTo>
                  <a:pt x="4145276" y="11487"/>
                </a:lnTo>
                <a:lnTo>
                  <a:pt x="4099859" y="2930"/>
                </a:lnTo>
                <a:lnTo>
                  <a:pt x="4052697" y="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A8F8CBC7-CA8C-C133-5233-FD3C587AC395}"/>
              </a:ext>
            </a:extLst>
          </p:cNvPr>
          <p:cNvSpPr txBox="1"/>
          <p:nvPr/>
        </p:nvSpPr>
        <p:spPr>
          <a:xfrm>
            <a:off x="234975" y="2831871"/>
            <a:ext cx="1673724" cy="752216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 marR="5090" indent="1272" algn="ctr">
              <a:spcBef>
                <a:spcPts val="95"/>
              </a:spcBef>
            </a:pPr>
            <a:r>
              <a:rPr lang="en-US" sz="1603" dirty="0">
                <a:latin typeface="Calibri"/>
                <a:cs typeface="Calibri"/>
              </a:rPr>
              <a:t>No </a:t>
            </a:r>
            <a:r>
              <a:rPr lang="en-US" sz="1603" dirty="0" err="1">
                <a:latin typeface="Calibri"/>
                <a:cs typeface="Calibri"/>
              </a:rPr>
              <a:t>lugar</a:t>
            </a:r>
            <a:r>
              <a:rPr lang="en-US" sz="1603" dirty="0">
                <a:latin typeface="Calibri"/>
                <a:cs typeface="Calibri"/>
              </a:rPr>
              <a:t> de </a:t>
            </a:r>
            <a:r>
              <a:rPr lang="en-US" sz="1603" dirty="0">
                <a:solidFill>
                  <a:srgbClr val="FF0000"/>
                </a:solidFill>
                <a:latin typeface="Calibri"/>
                <a:cs typeface="Calibri"/>
              </a:rPr>
              <a:t>private</a:t>
            </a:r>
            <a:r>
              <a:rPr lang="en-US" sz="1603" dirty="0">
                <a:latin typeface="Calibri"/>
                <a:cs typeface="Calibri"/>
              </a:rPr>
              <a:t> </a:t>
            </a:r>
            <a:r>
              <a:rPr lang="en-US" sz="1603" dirty="0" err="1">
                <a:latin typeface="Calibri"/>
                <a:cs typeface="Calibri"/>
              </a:rPr>
              <a:t>poderia</a:t>
            </a:r>
            <a:r>
              <a:rPr lang="en-US" sz="1603" dirty="0">
                <a:latin typeface="Calibri"/>
                <a:cs typeface="Calibri"/>
              </a:rPr>
              <a:t> ser </a:t>
            </a:r>
            <a:r>
              <a:rPr lang="en-US" sz="1603" dirty="0">
                <a:solidFill>
                  <a:srgbClr val="FF0000"/>
                </a:solidFill>
                <a:latin typeface="Calibri"/>
                <a:cs typeface="Calibri"/>
              </a:rPr>
              <a:t>protected</a:t>
            </a:r>
            <a:endParaRPr sz="1603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D93E979-007D-610C-F2C9-CB5FA0C073BA}"/>
              </a:ext>
            </a:extLst>
          </p:cNvPr>
          <p:cNvCxnSpPr/>
          <p:nvPr/>
        </p:nvCxnSpPr>
        <p:spPr>
          <a:xfrm>
            <a:off x="1505826" y="3607712"/>
            <a:ext cx="843378" cy="6214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122172" y="6594138"/>
            <a:ext cx="1568815" cy="1787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8"/>
              </a:lnSpc>
            </a:pPr>
            <a:r>
              <a:rPr sz="1403" i="1" spc="-5">
                <a:solidFill>
                  <a:srgbClr val="5F5F5F"/>
                </a:solidFill>
                <a:latin typeface="Calibri"/>
                <a:cs typeface="Calibri"/>
                <a:hlinkClick r:id="rId2"/>
              </a:rPr>
              <a:t>l.bertholdo@ifsp.edu.</a:t>
            </a:r>
            <a:endParaRPr sz="1403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67549" y="427511"/>
            <a:ext cx="9255119" cy="6335698"/>
            <a:chOff x="225170" y="426719"/>
            <a:chExt cx="9237980" cy="632396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4695" y="1088134"/>
              <a:ext cx="9218676" cy="565251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29933" y="1083373"/>
              <a:ext cx="9228455" cy="5662295"/>
            </a:xfrm>
            <a:custGeom>
              <a:avLst/>
              <a:gdLst/>
              <a:ahLst/>
              <a:cxnLst/>
              <a:rect l="l" t="t" r="r" b="b"/>
              <a:pathLst>
                <a:path w="9228455" h="5662295">
                  <a:moveTo>
                    <a:pt x="0" y="5662041"/>
                  </a:moveTo>
                  <a:lnTo>
                    <a:pt x="9228201" y="5662041"/>
                  </a:lnTo>
                  <a:lnTo>
                    <a:pt x="9228201" y="0"/>
                  </a:lnTo>
                  <a:lnTo>
                    <a:pt x="0" y="0"/>
                  </a:lnTo>
                  <a:lnTo>
                    <a:pt x="0" y="566204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7" name="object 7"/>
            <p:cNvSpPr/>
            <p:nvPr/>
          </p:nvSpPr>
          <p:spPr>
            <a:xfrm>
              <a:off x="1343406" y="1130045"/>
              <a:ext cx="3307079" cy="2664460"/>
            </a:xfrm>
            <a:custGeom>
              <a:avLst/>
              <a:gdLst/>
              <a:ahLst/>
              <a:cxnLst/>
              <a:rect l="l" t="t" r="r" b="b"/>
              <a:pathLst>
                <a:path w="3307079" h="2664460">
                  <a:moveTo>
                    <a:pt x="1325880" y="48005"/>
                  </a:moveTo>
                  <a:lnTo>
                    <a:pt x="1329648" y="29307"/>
                  </a:lnTo>
                  <a:lnTo>
                    <a:pt x="1339929" y="14049"/>
                  </a:lnTo>
                  <a:lnTo>
                    <a:pt x="1355187" y="3768"/>
                  </a:lnTo>
                  <a:lnTo>
                    <a:pt x="1373886" y="0"/>
                  </a:lnTo>
                  <a:lnTo>
                    <a:pt x="3259074" y="0"/>
                  </a:lnTo>
                  <a:lnTo>
                    <a:pt x="3277772" y="3768"/>
                  </a:lnTo>
                  <a:lnTo>
                    <a:pt x="3293030" y="14049"/>
                  </a:lnTo>
                  <a:lnTo>
                    <a:pt x="3303311" y="29307"/>
                  </a:lnTo>
                  <a:lnTo>
                    <a:pt x="3307079" y="48005"/>
                  </a:lnTo>
                  <a:lnTo>
                    <a:pt x="3307079" y="240029"/>
                  </a:lnTo>
                  <a:lnTo>
                    <a:pt x="3303311" y="258728"/>
                  </a:lnTo>
                  <a:lnTo>
                    <a:pt x="3293030" y="273986"/>
                  </a:lnTo>
                  <a:lnTo>
                    <a:pt x="3277772" y="284267"/>
                  </a:lnTo>
                  <a:lnTo>
                    <a:pt x="3259074" y="288036"/>
                  </a:lnTo>
                  <a:lnTo>
                    <a:pt x="1373886" y="288036"/>
                  </a:lnTo>
                  <a:lnTo>
                    <a:pt x="1355187" y="284267"/>
                  </a:lnTo>
                  <a:lnTo>
                    <a:pt x="1339929" y="273986"/>
                  </a:lnTo>
                  <a:lnTo>
                    <a:pt x="1329648" y="258728"/>
                  </a:lnTo>
                  <a:lnTo>
                    <a:pt x="1325880" y="240029"/>
                  </a:lnTo>
                  <a:lnTo>
                    <a:pt x="1325880" y="48005"/>
                  </a:lnTo>
                  <a:close/>
                </a:path>
                <a:path w="3307079" h="2664460">
                  <a:moveTo>
                    <a:pt x="0" y="1542795"/>
                  </a:moveTo>
                  <a:lnTo>
                    <a:pt x="3746" y="1524190"/>
                  </a:lnTo>
                  <a:lnTo>
                    <a:pt x="13969" y="1509014"/>
                  </a:lnTo>
                  <a:lnTo>
                    <a:pt x="29146" y="1498790"/>
                  </a:lnTo>
                  <a:lnTo>
                    <a:pt x="47752" y="1495043"/>
                  </a:lnTo>
                  <a:lnTo>
                    <a:pt x="779780" y="1495043"/>
                  </a:lnTo>
                  <a:lnTo>
                    <a:pt x="798385" y="1498790"/>
                  </a:lnTo>
                  <a:lnTo>
                    <a:pt x="813562" y="1509014"/>
                  </a:lnTo>
                  <a:lnTo>
                    <a:pt x="823785" y="1524190"/>
                  </a:lnTo>
                  <a:lnTo>
                    <a:pt x="827532" y="1542795"/>
                  </a:lnTo>
                  <a:lnTo>
                    <a:pt x="827532" y="1733803"/>
                  </a:lnTo>
                  <a:lnTo>
                    <a:pt x="823785" y="1752409"/>
                  </a:lnTo>
                  <a:lnTo>
                    <a:pt x="813562" y="1767585"/>
                  </a:lnTo>
                  <a:lnTo>
                    <a:pt x="798385" y="1777809"/>
                  </a:lnTo>
                  <a:lnTo>
                    <a:pt x="779780" y="1781555"/>
                  </a:lnTo>
                  <a:lnTo>
                    <a:pt x="47752" y="1781555"/>
                  </a:lnTo>
                  <a:lnTo>
                    <a:pt x="29146" y="1777809"/>
                  </a:lnTo>
                  <a:lnTo>
                    <a:pt x="13969" y="1767585"/>
                  </a:lnTo>
                  <a:lnTo>
                    <a:pt x="3746" y="1752409"/>
                  </a:lnTo>
                  <a:lnTo>
                    <a:pt x="0" y="1733803"/>
                  </a:lnTo>
                  <a:lnTo>
                    <a:pt x="0" y="1542795"/>
                  </a:lnTo>
                  <a:close/>
                </a:path>
                <a:path w="3307079" h="2664460">
                  <a:moveTo>
                    <a:pt x="0" y="2423922"/>
                  </a:moveTo>
                  <a:lnTo>
                    <a:pt x="3768" y="2405223"/>
                  </a:lnTo>
                  <a:lnTo>
                    <a:pt x="14049" y="2389965"/>
                  </a:lnTo>
                  <a:lnTo>
                    <a:pt x="29307" y="2379684"/>
                  </a:lnTo>
                  <a:lnTo>
                    <a:pt x="48006" y="2375916"/>
                  </a:lnTo>
                  <a:lnTo>
                    <a:pt x="779526" y="2375916"/>
                  </a:lnTo>
                  <a:lnTo>
                    <a:pt x="798224" y="2379684"/>
                  </a:lnTo>
                  <a:lnTo>
                    <a:pt x="813482" y="2389965"/>
                  </a:lnTo>
                  <a:lnTo>
                    <a:pt x="823763" y="2405223"/>
                  </a:lnTo>
                  <a:lnTo>
                    <a:pt x="827532" y="2423922"/>
                  </a:lnTo>
                  <a:lnTo>
                    <a:pt x="827532" y="2615946"/>
                  </a:lnTo>
                  <a:lnTo>
                    <a:pt x="823763" y="2634644"/>
                  </a:lnTo>
                  <a:lnTo>
                    <a:pt x="813482" y="2649902"/>
                  </a:lnTo>
                  <a:lnTo>
                    <a:pt x="798224" y="2660183"/>
                  </a:lnTo>
                  <a:lnTo>
                    <a:pt x="779526" y="2663952"/>
                  </a:lnTo>
                  <a:lnTo>
                    <a:pt x="48006" y="2663952"/>
                  </a:lnTo>
                  <a:lnTo>
                    <a:pt x="29307" y="2660183"/>
                  </a:lnTo>
                  <a:lnTo>
                    <a:pt x="14049" y="2649902"/>
                  </a:lnTo>
                  <a:lnTo>
                    <a:pt x="3768" y="2634644"/>
                  </a:lnTo>
                  <a:lnTo>
                    <a:pt x="0" y="2615946"/>
                  </a:lnTo>
                  <a:lnTo>
                    <a:pt x="0" y="2423922"/>
                  </a:lnTo>
                  <a:close/>
                </a:path>
              </a:pathLst>
            </a:custGeom>
            <a:ln w="317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8" name="object 8"/>
            <p:cNvSpPr/>
            <p:nvPr/>
          </p:nvSpPr>
          <p:spPr>
            <a:xfrm>
              <a:off x="5073395" y="426719"/>
              <a:ext cx="4247515" cy="1511935"/>
            </a:xfrm>
            <a:custGeom>
              <a:avLst/>
              <a:gdLst/>
              <a:ahLst/>
              <a:cxnLst/>
              <a:rect l="l" t="t" r="r" b="b"/>
              <a:pathLst>
                <a:path w="4247515" h="1511935">
                  <a:moveTo>
                    <a:pt x="3960240" y="0"/>
                  </a:moveTo>
                  <a:lnTo>
                    <a:pt x="287146" y="0"/>
                  </a:lnTo>
                  <a:lnTo>
                    <a:pt x="240561" y="3757"/>
                  </a:lnTo>
                  <a:lnTo>
                    <a:pt x="196372" y="14635"/>
                  </a:lnTo>
                  <a:lnTo>
                    <a:pt x="155170" y="32044"/>
                  </a:lnTo>
                  <a:lnTo>
                    <a:pt x="117546" y="55392"/>
                  </a:lnTo>
                  <a:lnTo>
                    <a:pt x="84089" y="84089"/>
                  </a:lnTo>
                  <a:lnTo>
                    <a:pt x="55392" y="117546"/>
                  </a:lnTo>
                  <a:lnTo>
                    <a:pt x="32044" y="155170"/>
                  </a:lnTo>
                  <a:lnTo>
                    <a:pt x="14635" y="196372"/>
                  </a:lnTo>
                  <a:lnTo>
                    <a:pt x="3757" y="240561"/>
                  </a:lnTo>
                  <a:lnTo>
                    <a:pt x="0" y="287146"/>
                  </a:lnTo>
                  <a:lnTo>
                    <a:pt x="0" y="1224661"/>
                  </a:lnTo>
                  <a:lnTo>
                    <a:pt x="3757" y="1271246"/>
                  </a:lnTo>
                  <a:lnTo>
                    <a:pt x="14635" y="1315435"/>
                  </a:lnTo>
                  <a:lnTo>
                    <a:pt x="32044" y="1356637"/>
                  </a:lnTo>
                  <a:lnTo>
                    <a:pt x="55392" y="1394261"/>
                  </a:lnTo>
                  <a:lnTo>
                    <a:pt x="84089" y="1427718"/>
                  </a:lnTo>
                  <a:lnTo>
                    <a:pt x="117546" y="1456415"/>
                  </a:lnTo>
                  <a:lnTo>
                    <a:pt x="155170" y="1479763"/>
                  </a:lnTo>
                  <a:lnTo>
                    <a:pt x="196372" y="1497172"/>
                  </a:lnTo>
                  <a:lnTo>
                    <a:pt x="240561" y="1508050"/>
                  </a:lnTo>
                  <a:lnTo>
                    <a:pt x="287146" y="1511807"/>
                  </a:lnTo>
                  <a:lnTo>
                    <a:pt x="3960240" y="1511807"/>
                  </a:lnTo>
                  <a:lnTo>
                    <a:pt x="4006826" y="1508050"/>
                  </a:lnTo>
                  <a:lnTo>
                    <a:pt x="4051015" y="1497172"/>
                  </a:lnTo>
                  <a:lnTo>
                    <a:pt x="4092217" y="1479763"/>
                  </a:lnTo>
                  <a:lnTo>
                    <a:pt x="4129841" y="1456415"/>
                  </a:lnTo>
                  <a:lnTo>
                    <a:pt x="4163298" y="1427718"/>
                  </a:lnTo>
                  <a:lnTo>
                    <a:pt x="4191995" y="1394261"/>
                  </a:lnTo>
                  <a:lnTo>
                    <a:pt x="4215343" y="1356637"/>
                  </a:lnTo>
                  <a:lnTo>
                    <a:pt x="4232752" y="1315435"/>
                  </a:lnTo>
                  <a:lnTo>
                    <a:pt x="4243630" y="1271246"/>
                  </a:lnTo>
                  <a:lnTo>
                    <a:pt x="4247387" y="1224661"/>
                  </a:lnTo>
                  <a:lnTo>
                    <a:pt x="4247387" y="287146"/>
                  </a:lnTo>
                  <a:lnTo>
                    <a:pt x="4243630" y="240561"/>
                  </a:lnTo>
                  <a:lnTo>
                    <a:pt x="4232752" y="196372"/>
                  </a:lnTo>
                  <a:lnTo>
                    <a:pt x="4215343" y="155170"/>
                  </a:lnTo>
                  <a:lnTo>
                    <a:pt x="4191995" y="117546"/>
                  </a:lnTo>
                  <a:lnTo>
                    <a:pt x="4163298" y="84089"/>
                  </a:lnTo>
                  <a:lnTo>
                    <a:pt x="4129841" y="55392"/>
                  </a:lnTo>
                  <a:lnTo>
                    <a:pt x="4092217" y="32044"/>
                  </a:lnTo>
                  <a:lnTo>
                    <a:pt x="4051015" y="14635"/>
                  </a:lnTo>
                  <a:lnTo>
                    <a:pt x="4006826" y="3757"/>
                  </a:lnTo>
                  <a:lnTo>
                    <a:pt x="3960240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 sz="1803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825005" y="254217"/>
            <a:ext cx="1756488" cy="636178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spc="-5">
                <a:solidFill>
                  <a:schemeClr val="bg1"/>
                </a:solidFill>
              </a:rPr>
              <a:t>He</a:t>
            </a:r>
            <a:r>
              <a:rPr spc="-90">
                <a:solidFill>
                  <a:schemeClr val="bg1"/>
                </a:solidFill>
              </a:rPr>
              <a:t>r</a:t>
            </a:r>
            <a:r>
              <a:rPr spc="-5">
                <a:solidFill>
                  <a:schemeClr val="bg1"/>
                </a:solidFill>
              </a:rPr>
              <a:t>an</a:t>
            </a:r>
            <a:r>
              <a:rPr spc="-40">
                <a:solidFill>
                  <a:schemeClr val="bg1"/>
                </a:solidFill>
              </a:rPr>
              <a:t>ç</a:t>
            </a:r>
            <a:r>
              <a:rPr spc="-5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04171" y="533243"/>
            <a:ext cx="3897227" cy="514032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288838" marR="5090" indent="-276750">
              <a:spcBef>
                <a:spcPts val="95"/>
              </a:spcBef>
            </a:pPr>
            <a:r>
              <a:rPr sz="1603" i="1" spc="-5">
                <a:latin typeface="Calibri"/>
                <a:cs typeface="Calibri"/>
              </a:rPr>
              <a:t>Aqui,</a:t>
            </a:r>
            <a:r>
              <a:rPr sz="1603" i="1"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o</a:t>
            </a:r>
            <a:r>
              <a:rPr sz="1603" i="1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uso</a:t>
            </a:r>
            <a:r>
              <a:rPr sz="1603" i="1" spc="15"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do</a:t>
            </a:r>
            <a:r>
              <a:rPr sz="1603" i="1" spc="5"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operador</a:t>
            </a:r>
            <a:r>
              <a:rPr sz="1603" i="1" spc="35">
                <a:latin typeface="Calibri"/>
                <a:cs typeface="Calibri"/>
              </a:rPr>
              <a:t> </a:t>
            </a:r>
            <a:r>
              <a:rPr sz="1603" b="1" i="1" spc="-10">
                <a:solidFill>
                  <a:srgbClr val="FF0000"/>
                </a:solidFill>
                <a:latin typeface="Calibri"/>
                <a:cs typeface="Calibri"/>
              </a:rPr>
              <a:t>super</a:t>
            </a:r>
            <a:r>
              <a:rPr sz="1603" b="1" i="1" spc="20"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é</a:t>
            </a:r>
            <a:r>
              <a:rPr sz="1603" i="1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desnecessário, </a:t>
            </a:r>
            <a:r>
              <a:rPr sz="1603" i="1" spc="-351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pois</a:t>
            </a:r>
            <a:r>
              <a:rPr sz="1603" i="1" spc="10"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a</a:t>
            </a:r>
            <a:r>
              <a:rPr sz="1603" i="1"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classe</a:t>
            </a:r>
            <a:r>
              <a:rPr sz="1603" i="1" spc="10">
                <a:latin typeface="Calibri"/>
                <a:cs typeface="Calibri"/>
              </a:rPr>
              <a:t> </a:t>
            </a:r>
            <a:r>
              <a:rPr sz="1603" b="1" i="1" spc="-5">
                <a:solidFill>
                  <a:srgbClr val="FF0000"/>
                </a:solidFill>
                <a:latin typeface="Calibri"/>
                <a:cs typeface="Calibri"/>
              </a:rPr>
              <a:t>Casa</a:t>
            </a:r>
            <a:r>
              <a:rPr sz="1603" b="1" i="1" spc="20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não</a:t>
            </a:r>
            <a:r>
              <a:rPr sz="1603" i="1" spc="15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sobrescreve</a:t>
            </a:r>
            <a:r>
              <a:rPr sz="1603" i="1" spc="10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estes</a:t>
            </a:r>
            <a:endParaRPr sz="1603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31654" y="1021828"/>
            <a:ext cx="3842516" cy="758324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 marR="5090" indent="43898" algn="just">
              <a:spcBef>
                <a:spcPts val="95"/>
              </a:spcBef>
            </a:pPr>
            <a:r>
              <a:rPr sz="1603" i="1" spc="-10">
                <a:latin typeface="Calibri"/>
                <a:cs typeface="Calibri"/>
              </a:rPr>
              <a:t>métodos. </a:t>
            </a:r>
            <a:r>
              <a:rPr sz="1603" i="1" spc="-25">
                <a:latin typeface="Calibri"/>
                <a:cs typeface="Calibri"/>
              </a:rPr>
              <a:t>Até </a:t>
            </a:r>
            <a:r>
              <a:rPr sz="1603" i="1" spc="-5">
                <a:latin typeface="Calibri"/>
                <a:cs typeface="Calibri"/>
              </a:rPr>
              <a:t>mesmo o operador </a:t>
            </a:r>
            <a:r>
              <a:rPr sz="1603" b="1" i="1" spc="-5">
                <a:solidFill>
                  <a:srgbClr val="FF0000"/>
                </a:solidFill>
                <a:latin typeface="Calibri"/>
                <a:cs typeface="Calibri"/>
              </a:rPr>
              <a:t>this</a:t>
            </a:r>
            <a:r>
              <a:rPr sz="1603" b="1" i="1" spc="-5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poderia </a:t>
            </a:r>
            <a:r>
              <a:rPr sz="1603" i="1" spc="-5">
                <a:latin typeface="Calibri"/>
                <a:cs typeface="Calibri"/>
              </a:rPr>
              <a:t> ser </a:t>
            </a:r>
            <a:r>
              <a:rPr sz="1603" i="1" spc="-15">
                <a:latin typeface="Calibri"/>
                <a:cs typeface="Calibri"/>
              </a:rPr>
              <a:t>usado, </a:t>
            </a:r>
            <a:r>
              <a:rPr sz="1603" i="1" spc="-5">
                <a:latin typeface="Calibri"/>
                <a:cs typeface="Calibri"/>
              </a:rPr>
              <a:t>já </a:t>
            </a:r>
            <a:r>
              <a:rPr sz="1603" i="1" spc="-10">
                <a:latin typeface="Calibri"/>
                <a:cs typeface="Calibri"/>
              </a:rPr>
              <a:t>que </a:t>
            </a:r>
            <a:r>
              <a:rPr sz="1603" i="1" spc="-5">
                <a:latin typeface="Calibri"/>
                <a:cs typeface="Calibri"/>
              </a:rPr>
              <a:t>os </a:t>
            </a:r>
            <a:r>
              <a:rPr sz="1603" i="1" spc="-10">
                <a:latin typeface="Calibri"/>
                <a:cs typeface="Calibri"/>
              </a:rPr>
              <a:t>métodos foram herdados </a:t>
            </a:r>
            <a:r>
              <a:rPr sz="1603" i="1" spc="-5">
                <a:latin typeface="Calibri"/>
                <a:cs typeface="Calibri"/>
              </a:rPr>
              <a:t> e,</a:t>
            </a:r>
            <a:r>
              <a:rPr sz="1603" i="1" spc="-10">
                <a:latin typeface="Calibri"/>
                <a:cs typeface="Calibri"/>
              </a:rPr>
              <a:t> </a:t>
            </a:r>
            <a:r>
              <a:rPr sz="1603" i="1" spc="-15">
                <a:latin typeface="Calibri"/>
                <a:cs typeface="Calibri"/>
              </a:rPr>
              <a:t>portanto,</a:t>
            </a:r>
            <a:r>
              <a:rPr sz="1603" i="1" spc="35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também</a:t>
            </a:r>
            <a:r>
              <a:rPr sz="1603" i="1" spc="-5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pertencem </a:t>
            </a:r>
            <a:r>
              <a:rPr sz="1603" i="1" spc="-5">
                <a:latin typeface="Calibri"/>
                <a:cs typeface="Calibri"/>
              </a:rPr>
              <a:t>à</a:t>
            </a:r>
            <a:r>
              <a:rPr sz="1603" i="1" spc="-10"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classe</a:t>
            </a:r>
            <a:r>
              <a:rPr sz="1603" i="1" spc="20">
                <a:latin typeface="Calibri"/>
                <a:cs typeface="Calibri"/>
              </a:rPr>
              <a:t> </a:t>
            </a:r>
            <a:r>
              <a:rPr sz="1603" b="1" i="1" spc="-5">
                <a:solidFill>
                  <a:srgbClr val="FF0000"/>
                </a:solidFill>
                <a:latin typeface="Calibri"/>
                <a:cs typeface="Calibri"/>
              </a:rPr>
              <a:t>Casa</a:t>
            </a:r>
            <a:r>
              <a:rPr sz="1603" i="1" spc="-5">
                <a:latin typeface="Calibri"/>
                <a:cs typeface="Calibri"/>
              </a:rPr>
              <a:t>.</a:t>
            </a:r>
            <a:endParaRPr sz="1603">
              <a:latin typeface="Calibri"/>
              <a:cs typeface="Calibri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54549C8-98D3-9E8D-D82D-545741071234}"/>
              </a:ext>
            </a:extLst>
          </p:cNvPr>
          <p:cNvCxnSpPr/>
          <p:nvPr/>
        </p:nvCxnSpPr>
        <p:spPr>
          <a:xfrm flipH="1">
            <a:off x="5424256" y="1944210"/>
            <a:ext cx="3630967" cy="256564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22172" y="6594138"/>
            <a:ext cx="792678" cy="1787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8"/>
              </a:lnSpc>
            </a:pPr>
            <a:r>
              <a:rPr sz="1403" i="1">
                <a:solidFill>
                  <a:srgbClr val="5F5F5F"/>
                </a:solidFill>
                <a:latin typeface="Calibri"/>
                <a:cs typeface="Calibri"/>
              </a:rPr>
              <a:t>l</a:t>
            </a:r>
            <a:r>
              <a:rPr sz="1403" i="1" spc="5">
                <a:solidFill>
                  <a:srgbClr val="5F5F5F"/>
                </a:solidFill>
                <a:latin typeface="Calibri"/>
                <a:cs typeface="Calibri"/>
              </a:rPr>
              <a:t>.</a:t>
            </a:r>
            <a:r>
              <a:rPr sz="1403" i="1" spc="-5">
                <a:solidFill>
                  <a:srgbClr val="5F5F5F"/>
                </a:solidFill>
                <a:latin typeface="Calibri"/>
                <a:cs typeface="Calibri"/>
              </a:rPr>
              <a:t>bertholdo</a:t>
            </a:r>
            <a:endParaRPr sz="1403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26325" y="688281"/>
            <a:ext cx="9366450" cy="6074865"/>
            <a:chOff x="184022" y="687006"/>
            <a:chExt cx="9349105" cy="60636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3547" y="1088134"/>
              <a:ext cx="8555736" cy="565251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8785" y="1083373"/>
              <a:ext cx="8565515" cy="5662295"/>
            </a:xfrm>
            <a:custGeom>
              <a:avLst/>
              <a:gdLst/>
              <a:ahLst/>
              <a:cxnLst/>
              <a:rect l="l" t="t" r="r" b="b"/>
              <a:pathLst>
                <a:path w="8565515" h="5662295">
                  <a:moveTo>
                    <a:pt x="0" y="5662041"/>
                  </a:moveTo>
                  <a:lnTo>
                    <a:pt x="8565261" y="5662041"/>
                  </a:lnTo>
                  <a:lnTo>
                    <a:pt x="8565261" y="0"/>
                  </a:lnTo>
                  <a:lnTo>
                    <a:pt x="0" y="0"/>
                  </a:lnTo>
                  <a:lnTo>
                    <a:pt x="0" y="566204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7" name="object 7"/>
            <p:cNvSpPr/>
            <p:nvPr/>
          </p:nvSpPr>
          <p:spPr>
            <a:xfrm>
              <a:off x="1296161" y="1131569"/>
              <a:ext cx="4281170" cy="2649220"/>
            </a:xfrm>
            <a:custGeom>
              <a:avLst/>
              <a:gdLst/>
              <a:ahLst/>
              <a:cxnLst/>
              <a:rect l="l" t="t" r="r" b="b"/>
              <a:pathLst>
                <a:path w="4281170" h="2649220">
                  <a:moveTo>
                    <a:pt x="2299716" y="47751"/>
                  </a:moveTo>
                  <a:lnTo>
                    <a:pt x="2303462" y="29146"/>
                  </a:lnTo>
                  <a:lnTo>
                    <a:pt x="2313686" y="13970"/>
                  </a:lnTo>
                  <a:lnTo>
                    <a:pt x="2328862" y="3746"/>
                  </a:lnTo>
                  <a:lnTo>
                    <a:pt x="2347467" y="0"/>
                  </a:lnTo>
                  <a:lnTo>
                    <a:pt x="4233164" y="0"/>
                  </a:lnTo>
                  <a:lnTo>
                    <a:pt x="4251769" y="3746"/>
                  </a:lnTo>
                  <a:lnTo>
                    <a:pt x="4266945" y="13970"/>
                  </a:lnTo>
                  <a:lnTo>
                    <a:pt x="4277169" y="29146"/>
                  </a:lnTo>
                  <a:lnTo>
                    <a:pt x="4280916" y="47751"/>
                  </a:lnTo>
                  <a:lnTo>
                    <a:pt x="4280916" y="238760"/>
                  </a:lnTo>
                  <a:lnTo>
                    <a:pt x="4277169" y="257365"/>
                  </a:lnTo>
                  <a:lnTo>
                    <a:pt x="4266945" y="272541"/>
                  </a:lnTo>
                  <a:lnTo>
                    <a:pt x="4251769" y="282765"/>
                  </a:lnTo>
                  <a:lnTo>
                    <a:pt x="4233164" y="286512"/>
                  </a:lnTo>
                  <a:lnTo>
                    <a:pt x="2347467" y="286512"/>
                  </a:lnTo>
                  <a:lnTo>
                    <a:pt x="2328862" y="282765"/>
                  </a:lnTo>
                  <a:lnTo>
                    <a:pt x="2313686" y="272541"/>
                  </a:lnTo>
                  <a:lnTo>
                    <a:pt x="2303462" y="257365"/>
                  </a:lnTo>
                  <a:lnTo>
                    <a:pt x="2299716" y="238760"/>
                  </a:lnTo>
                  <a:lnTo>
                    <a:pt x="2299716" y="47751"/>
                  </a:lnTo>
                  <a:close/>
                </a:path>
                <a:path w="4281170" h="2649220">
                  <a:moveTo>
                    <a:pt x="0" y="1529079"/>
                  </a:moveTo>
                  <a:lnTo>
                    <a:pt x="3746" y="1510474"/>
                  </a:lnTo>
                  <a:lnTo>
                    <a:pt x="13969" y="1495298"/>
                  </a:lnTo>
                  <a:lnTo>
                    <a:pt x="29146" y="1485074"/>
                  </a:lnTo>
                  <a:lnTo>
                    <a:pt x="47751" y="1481327"/>
                  </a:lnTo>
                  <a:lnTo>
                    <a:pt x="781304" y="1481327"/>
                  </a:lnTo>
                  <a:lnTo>
                    <a:pt x="799909" y="1485074"/>
                  </a:lnTo>
                  <a:lnTo>
                    <a:pt x="815086" y="1495298"/>
                  </a:lnTo>
                  <a:lnTo>
                    <a:pt x="825309" y="1510474"/>
                  </a:lnTo>
                  <a:lnTo>
                    <a:pt x="829056" y="1529079"/>
                  </a:lnTo>
                  <a:lnTo>
                    <a:pt x="829056" y="1720088"/>
                  </a:lnTo>
                  <a:lnTo>
                    <a:pt x="825309" y="1738693"/>
                  </a:lnTo>
                  <a:lnTo>
                    <a:pt x="815086" y="1753869"/>
                  </a:lnTo>
                  <a:lnTo>
                    <a:pt x="799909" y="1764093"/>
                  </a:lnTo>
                  <a:lnTo>
                    <a:pt x="781304" y="1767839"/>
                  </a:lnTo>
                  <a:lnTo>
                    <a:pt x="47751" y="1767839"/>
                  </a:lnTo>
                  <a:lnTo>
                    <a:pt x="29146" y="1764093"/>
                  </a:lnTo>
                  <a:lnTo>
                    <a:pt x="13969" y="1753869"/>
                  </a:lnTo>
                  <a:lnTo>
                    <a:pt x="3746" y="1738693"/>
                  </a:lnTo>
                  <a:lnTo>
                    <a:pt x="0" y="1720088"/>
                  </a:lnTo>
                  <a:lnTo>
                    <a:pt x="0" y="1529079"/>
                  </a:lnTo>
                  <a:close/>
                </a:path>
                <a:path w="4281170" h="2649220">
                  <a:moveTo>
                    <a:pt x="0" y="2409952"/>
                  </a:moveTo>
                  <a:lnTo>
                    <a:pt x="3746" y="2391346"/>
                  </a:lnTo>
                  <a:lnTo>
                    <a:pt x="13969" y="2376170"/>
                  </a:lnTo>
                  <a:lnTo>
                    <a:pt x="29146" y="2365946"/>
                  </a:lnTo>
                  <a:lnTo>
                    <a:pt x="47751" y="2362200"/>
                  </a:lnTo>
                  <a:lnTo>
                    <a:pt x="781304" y="2362200"/>
                  </a:lnTo>
                  <a:lnTo>
                    <a:pt x="799909" y="2365946"/>
                  </a:lnTo>
                  <a:lnTo>
                    <a:pt x="815086" y="2376170"/>
                  </a:lnTo>
                  <a:lnTo>
                    <a:pt x="825309" y="2391346"/>
                  </a:lnTo>
                  <a:lnTo>
                    <a:pt x="829056" y="2409952"/>
                  </a:lnTo>
                  <a:lnTo>
                    <a:pt x="829056" y="2600960"/>
                  </a:lnTo>
                  <a:lnTo>
                    <a:pt x="825309" y="2619565"/>
                  </a:lnTo>
                  <a:lnTo>
                    <a:pt x="815086" y="2634741"/>
                  </a:lnTo>
                  <a:lnTo>
                    <a:pt x="799909" y="2644965"/>
                  </a:lnTo>
                  <a:lnTo>
                    <a:pt x="781304" y="2648711"/>
                  </a:lnTo>
                  <a:lnTo>
                    <a:pt x="47751" y="2648711"/>
                  </a:lnTo>
                  <a:lnTo>
                    <a:pt x="29146" y="2644965"/>
                  </a:lnTo>
                  <a:lnTo>
                    <a:pt x="13969" y="2634741"/>
                  </a:lnTo>
                  <a:lnTo>
                    <a:pt x="3746" y="2619565"/>
                  </a:lnTo>
                  <a:lnTo>
                    <a:pt x="0" y="2600960"/>
                  </a:lnTo>
                  <a:lnTo>
                    <a:pt x="0" y="2409952"/>
                  </a:lnTo>
                  <a:close/>
                </a:path>
              </a:pathLst>
            </a:custGeom>
            <a:ln w="317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22263" y="696467"/>
              <a:ext cx="3601212" cy="128320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917438" y="691768"/>
              <a:ext cx="3611245" cy="1292860"/>
            </a:xfrm>
            <a:custGeom>
              <a:avLst/>
              <a:gdLst/>
              <a:ahLst/>
              <a:cxnLst/>
              <a:rect l="l" t="t" r="r" b="b"/>
              <a:pathLst>
                <a:path w="3611245" h="1292860">
                  <a:moveTo>
                    <a:pt x="0" y="1292733"/>
                  </a:moveTo>
                  <a:lnTo>
                    <a:pt x="3610737" y="1292733"/>
                  </a:lnTo>
                  <a:lnTo>
                    <a:pt x="3610737" y="0"/>
                  </a:lnTo>
                  <a:lnTo>
                    <a:pt x="0" y="0"/>
                  </a:lnTo>
                  <a:lnTo>
                    <a:pt x="0" y="129273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3"/>
            </a:p>
          </p:txBody>
        </p:sp>
        <p:sp>
          <p:nvSpPr>
            <p:cNvPr id="10" name="object 10"/>
            <p:cNvSpPr/>
            <p:nvPr/>
          </p:nvSpPr>
          <p:spPr>
            <a:xfrm>
              <a:off x="5228844" y="4415028"/>
              <a:ext cx="4285615" cy="1295400"/>
            </a:xfrm>
            <a:custGeom>
              <a:avLst/>
              <a:gdLst/>
              <a:ahLst/>
              <a:cxnLst/>
              <a:rect l="l" t="t" r="r" b="b"/>
              <a:pathLst>
                <a:path w="4285615" h="1295400">
                  <a:moveTo>
                    <a:pt x="3915155" y="0"/>
                  </a:moveTo>
                  <a:lnTo>
                    <a:pt x="370331" y="0"/>
                  </a:lnTo>
                  <a:lnTo>
                    <a:pt x="323889" y="2886"/>
                  </a:lnTo>
                  <a:lnTo>
                    <a:pt x="279166" y="11313"/>
                  </a:lnTo>
                  <a:lnTo>
                    <a:pt x="236507" y="24934"/>
                  </a:lnTo>
                  <a:lnTo>
                    <a:pt x="196263" y="43401"/>
                  </a:lnTo>
                  <a:lnTo>
                    <a:pt x="158779" y="66367"/>
                  </a:lnTo>
                  <a:lnTo>
                    <a:pt x="124403" y="93483"/>
                  </a:lnTo>
                  <a:lnTo>
                    <a:pt x="93483" y="124403"/>
                  </a:lnTo>
                  <a:lnTo>
                    <a:pt x="66367" y="158779"/>
                  </a:lnTo>
                  <a:lnTo>
                    <a:pt x="43401" y="196263"/>
                  </a:lnTo>
                  <a:lnTo>
                    <a:pt x="24934" y="236507"/>
                  </a:lnTo>
                  <a:lnTo>
                    <a:pt x="11313" y="279166"/>
                  </a:lnTo>
                  <a:lnTo>
                    <a:pt x="2886" y="323889"/>
                  </a:lnTo>
                  <a:lnTo>
                    <a:pt x="0" y="370331"/>
                  </a:lnTo>
                  <a:lnTo>
                    <a:pt x="0" y="925067"/>
                  </a:lnTo>
                  <a:lnTo>
                    <a:pt x="2886" y="971510"/>
                  </a:lnTo>
                  <a:lnTo>
                    <a:pt x="11313" y="1016233"/>
                  </a:lnTo>
                  <a:lnTo>
                    <a:pt x="24934" y="1058892"/>
                  </a:lnTo>
                  <a:lnTo>
                    <a:pt x="43401" y="1099136"/>
                  </a:lnTo>
                  <a:lnTo>
                    <a:pt x="66367" y="1136620"/>
                  </a:lnTo>
                  <a:lnTo>
                    <a:pt x="93483" y="1170996"/>
                  </a:lnTo>
                  <a:lnTo>
                    <a:pt x="124403" y="1201916"/>
                  </a:lnTo>
                  <a:lnTo>
                    <a:pt x="158779" y="1229032"/>
                  </a:lnTo>
                  <a:lnTo>
                    <a:pt x="196263" y="1251998"/>
                  </a:lnTo>
                  <a:lnTo>
                    <a:pt x="236507" y="1270465"/>
                  </a:lnTo>
                  <a:lnTo>
                    <a:pt x="279166" y="1284086"/>
                  </a:lnTo>
                  <a:lnTo>
                    <a:pt x="323889" y="1292513"/>
                  </a:lnTo>
                  <a:lnTo>
                    <a:pt x="370331" y="1295399"/>
                  </a:lnTo>
                  <a:lnTo>
                    <a:pt x="3915155" y="1295399"/>
                  </a:lnTo>
                  <a:lnTo>
                    <a:pt x="3961598" y="1292513"/>
                  </a:lnTo>
                  <a:lnTo>
                    <a:pt x="4006321" y="1284086"/>
                  </a:lnTo>
                  <a:lnTo>
                    <a:pt x="4048980" y="1270465"/>
                  </a:lnTo>
                  <a:lnTo>
                    <a:pt x="4089224" y="1251998"/>
                  </a:lnTo>
                  <a:lnTo>
                    <a:pt x="4126708" y="1229032"/>
                  </a:lnTo>
                  <a:lnTo>
                    <a:pt x="4161084" y="1201916"/>
                  </a:lnTo>
                  <a:lnTo>
                    <a:pt x="4192004" y="1170996"/>
                  </a:lnTo>
                  <a:lnTo>
                    <a:pt x="4219120" y="1136620"/>
                  </a:lnTo>
                  <a:lnTo>
                    <a:pt x="4242086" y="1099136"/>
                  </a:lnTo>
                  <a:lnTo>
                    <a:pt x="4260553" y="1058892"/>
                  </a:lnTo>
                  <a:lnTo>
                    <a:pt x="4274174" y="1016233"/>
                  </a:lnTo>
                  <a:lnTo>
                    <a:pt x="4282601" y="971510"/>
                  </a:lnTo>
                  <a:lnTo>
                    <a:pt x="4285487" y="925067"/>
                  </a:lnTo>
                  <a:lnTo>
                    <a:pt x="4285487" y="370331"/>
                  </a:lnTo>
                  <a:lnTo>
                    <a:pt x="4282601" y="323889"/>
                  </a:lnTo>
                  <a:lnTo>
                    <a:pt x="4274174" y="279166"/>
                  </a:lnTo>
                  <a:lnTo>
                    <a:pt x="4260553" y="236507"/>
                  </a:lnTo>
                  <a:lnTo>
                    <a:pt x="4242086" y="196263"/>
                  </a:lnTo>
                  <a:lnTo>
                    <a:pt x="4219120" y="158779"/>
                  </a:lnTo>
                  <a:lnTo>
                    <a:pt x="4192004" y="124403"/>
                  </a:lnTo>
                  <a:lnTo>
                    <a:pt x="4161084" y="93483"/>
                  </a:lnTo>
                  <a:lnTo>
                    <a:pt x="4126708" y="66367"/>
                  </a:lnTo>
                  <a:lnTo>
                    <a:pt x="4089224" y="43401"/>
                  </a:lnTo>
                  <a:lnTo>
                    <a:pt x="4048980" y="24934"/>
                  </a:lnTo>
                  <a:lnTo>
                    <a:pt x="4006321" y="11313"/>
                  </a:lnTo>
                  <a:lnTo>
                    <a:pt x="3961598" y="2886"/>
                  </a:lnTo>
                  <a:lnTo>
                    <a:pt x="391515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 sz="1803"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825005" y="254217"/>
            <a:ext cx="1756488" cy="636178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spc="-5">
                <a:solidFill>
                  <a:schemeClr val="bg1"/>
                </a:solidFill>
              </a:rPr>
              <a:t>He</a:t>
            </a:r>
            <a:r>
              <a:rPr spc="-90">
                <a:solidFill>
                  <a:schemeClr val="bg1"/>
                </a:solidFill>
              </a:rPr>
              <a:t>r</a:t>
            </a:r>
            <a:r>
              <a:rPr spc="-5">
                <a:solidFill>
                  <a:schemeClr val="bg1"/>
                </a:solidFill>
              </a:rPr>
              <a:t>an</a:t>
            </a:r>
            <a:r>
              <a:rPr spc="-40">
                <a:solidFill>
                  <a:schemeClr val="bg1"/>
                </a:solidFill>
              </a:rPr>
              <a:t>ç</a:t>
            </a:r>
            <a:r>
              <a:rPr spc="-5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83065" y="4553762"/>
            <a:ext cx="3889593" cy="1002617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088" marR="5090" indent="-1909" algn="ctr">
              <a:spcBef>
                <a:spcPts val="95"/>
              </a:spcBef>
            </a:pPr>
            <a:r>
              <a:rPr sz="1603" i="1" spc="-5">
                <a:latin typeface="Calibri"/>
                <a:cs typeface="Calibri"/>
              </a:rPr>
              <a:t>O</a:t>
            </a:r>
            <a:r>
              <a:rPr sz="1603" i="1"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ideal</a:t>
            </a:r>
            <a:r>
              <a:rPr sz="1603" i="1" spc="-15"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é</a:t>
            </a:r>
            <a:r>
              <a:rPr sz="1603" i="1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que</a:t>
            </a:r>
            <a:r>
              <a:rPr sz="1603" i="1" spc="5"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classes</a:t>
            </a:r>
            <a:r>
              <a:rPr sz="1603" i="1" spc="10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mãe</a:t>
            </a:r>
            <a:r>
              <a:rPr sz="1603" i="1"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e</a:t>
            </a:r>
            <a:r>
              <a:rPr sz="1603" i="1"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filhas</a:t>
            </a:r>
            <a:r>
              <a:rPr sz="1603" i="1" spc="-10"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fiquem em </a:t>
            </a:r>
            <a:r>
              <a:rPr sz="1603" i="1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um</a:t>
            </a:r>
            <a:r>
              <a:rPr sz="1603" i="1">
                <a:latin typeface="Calibri"/>
                <a:cs typeface="Calibri"/>
              </a:rPr>
              <a:t> </a:t>
            </a:r>
            <a:r>
              <a:rPr sz="1603" b="1" i="1" spc="-10">
                <a:solidFill>
                  <a:srgbClr val="FF0000"/>
                </a:solidFill>
                <a:latin typeface="Calibri"/>
                <a:cs typeface="Calibri"/>
              </a:rPr>
              <a:t>pacote</a:t>
            </a:r>
            <a:r>
              <a:rPr sz="1603" b="1" i="1" spc="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3" b="1" i="1" spc="-10">
                <a:solidFill>
                  <a:srgbClr val="FF0000"/>
                </a:solidFill>
                <a:latin typeface="Calibri"/>
                <a:cs typeface="Calibri"/>
              </a:rPr>
              <a:t>separado</a:t>
            </a:r>
            <a:r>
              <a:rPr sz="1603" b="1" i="1" spc="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de</a:t>
            </a:r>
            <a:r>
              <a:rPr sz="1603" i="1" spc="5"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outras</a:t>
            </a:r>
            <a:r>
              <a:rPr sz="1603" i="1" spc="25"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classes, de </a:t>
            </a:r>
            <a:r>
              <a:rPr sz="1603" i="1"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modo</a:t>
            </a:r>
            <a:r>
              <a:rPr sz="1603" i="1" spc="20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que</a:t>
            </a:r>
            <a:r>
              <a:rPr sz="1603" i="1" spc="10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estas </a:t>
            </a:r>
            <a:r>
              <a:rPr sz="1603" i="1" spc="-5">
                <a:latin typeface="Calibri"/>
                <a:cs typeface="Calibri"/>
              </a:rPr>
              <a:t>outras</a:t>
            </a:r>
            <a:r>
              <a:rPr sz="1603" i="1" spc="25"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classes </a:t>
            </a:r>
            <a:r>
              <a:rPr sz="1603" i="1" spc="-10">
                <a:latin typeface="Calibri"/>
                <a:cs typeface="Calibri"/>
              </a:rPr>
              <a:t>não</a:t>
            </a:r>
            <a:r>
              <a:rPr sz="1603" i="1" spc="20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possam </a:t>
            </a:r>
            <a:r>
              <a:rPr sz="1603" i="1" spc="-5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acessar</a:t>
            </a:r>
            <a:r>
              <a:rPr sz="1603" i="1" spc="15"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os</a:t>
            </a:r>
            <a:r>
              <a:rPr sz="1603" i="1" spc="5">
                <a:latin typeface="Calibri"/>
                <a:cs typeface="Calibri"/>
              </a:rPr>
              <a:t> </a:t>
            </a:r>
            <a:r>
              <a:rPr sz="1603" i="1" spc="-10">
                <a:latin typeface="Calibri"/>
                <a:cs typeface="Calibri"/>
              </a:rPr>
              <a:t>elementos</a:t>
            </a:r>
            <a:r>
              <a:rPr sz="1603" i="1" spc="5">
                <a:latin typeface="Calibri"/>
                <a:cs typeface="Calibri"/>
              </a:rPr>
              <a:t> </a:t>
            </a:r>
            <a:r>
              <a:rPr sz="1603" b="1" i="1" spc="-10">
                <a:solidFill>
                  <a:srgbClr val="FF0000"/>
                </a:solidFill>
                <a:latin typeface="Calibri"/>
                <a:cs typeface="Calibri"/>
              </a:rPr>
              <a:t>protected</a:t>
            </a:r>
            <a:r>
              <a:rPr sz="1603" b="1" i="1" spc="40"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da</a:t>
            </a:r>
            <a:r>
              <a:rPr sz="1603" i="1"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classe</a:t>
            </a:r>
            <a:r>
              <a:rPr sz="1603" i="1" spc="10">
                <a:latin typeface="Calibri"/>
                <a:cs typeface="Calibri"/>
              </a:rPr>
              <a:t> </a:t>
            </a:r>
            <a:r>
              <a:rPr sz="1603" i="1" spc="-5">
                <a:latin typeface="Calibri"/>
                <a:cs typeface="Calibri"/>
              </a:rPr>
              <a:t>mãe.</a:t>
            </a:r>
            <a:endParaRPr sz="1603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38F0F-F086-4095-A228-339D6DD11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005" y="396796"/>
            <a:ext cx="8469771" cy="616695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Exemplo Diagrama de Classes Herança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2A70BED-B715-454B-9140-25A7E828B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538" y="1596807"/>
            <a:ext cx="5401779" cy="48717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5F066C3-8629-4179-822E-32005242A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162" y="1589454"/>
            <a:ext cx="5536851" cy="487175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95FC8E2-FFB1-3085-002E-29D7F645D207}"/>
              </a:ext>
            </a:extLst>
          </p:cNvPr>
          <p:cNvSpPr/>
          <p:nvPr/>
        </p:nvSpPr>
        <p:spPr>
          <a:xfrm>
            <a:off x="8001000" y="2926080"/>
            <a:ext cx="708660" cy="74295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44BBB74-435E-C656-9975-8BF867F830B0}"/>
              </a:ext>
            </a:extLst>
          </p:cNvPr>
          <p:cNvCxnSpPr/>
          <p:nvPr/>
        </p:nvCxnSpPr>
        <p:spPr>
          <a:xfrm flipV="1">
            <a:off x="8709660" y="2754630"/>
            <a:ext cx="1211580" cy="674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7C817DB-9FEF-3F9A-952F-EA38C4606841}"/>
              </a:ext>
            </a:extLst>
          </p:cNvPr>
          <p:cNvSpPr txBox="1"/>
          <p:nvPr/>
        </p:nvSpPr>
        <p:spPr>
          <a:xfrm>
            <a:off x="9921240" y="2468880"/>
            <a:ext cx="14630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Indica que Funcionario é heranca de pessoa</a:t>
            </a:r>
          </a:p>
        </p:txBody>
      </p:sp>
    </p:spTree>
    <p:extLst>
      <p:ext uri="{BB962C8B-B14F-4D97-AF65-F5344CB8AC3E}">
        <p14:creationId xmlns:p14="http://schemas.microsoft.com/office/powerpoint/2010/main" val="33209781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38F0F-F086-4095-A228-339D6DD11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005" y="396796"/>
            <a:ext cx="8469771" cy="616695"/>
          </a:xfrm>
        </p:spPr>
        <p:txBody>
          <a:bodyPr/>
          <a:lstStyle/>
          <a:p>
            <a:r>
              <a:rPr lang="pt-BR">
                <a:solidFill>
                  <a:schemeClr val="bg1"/>
                </a:solidFill>
              </a:rPr>
              <a:t>Exercício Herança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2A70BED-B715-454B-9140-25A7E828B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538" y="1596807"/>
            <a:ext cx="5401779" cy="48717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5F066C3-8629-4179-822E-32005242A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162" y="1589454"/>
            <a:ext cx="5536851" cy="487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9340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38F0F-F086-4095-A228-339D6DD11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005" y="396796"/>
            <a:ext cx="8469771" cy="616695"/>
          </a:xfrm>
        </p:spPr>
        <p:txBody>
          <a:bodyPr/>
          <a:lstStyle/>
          <a:p>
            <a:r>
              <a:rPr lang="pt-BR">
                <a:solidFill>
                  <a:schemeClr val="bg1"/>
                </a:solidFill>
              </a:rPr>
              <a:t>Exercício Herança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36FD85-D416-EA00-BC16-B9860945C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1352550"/>
            <a:ext cx="9673590" cy="481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8272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38F0F-F086-4095-A228-339D6DD11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005" y="396796"/>
            <a:ext cx="8469771" cy="616695"/>
          </a:xfrm>
        </p:spPr>
        <p:txBody>
          <a:bodyPr/>
          <a:lstStyle/>
          <a:p>
            <a:r>
              <a:rPr lang="pt-BR">
                <a:solidFill>
                  <a:schemeClr val="bg1"/>
                </a:solidFill>
              </a:rPr>
              <a:t>Exercício Herança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2314DA-905E-A418-A2DE-90523E9D1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62037"/>
            <a:ext cx="9227820" cy="499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0344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38F0F-F086-4095-A228-339D6DD11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005" y="396796"/>
            <a:ext cx="8469771" cy="616695"/>
          </a:xfrm>
        </p:spPr>
        <p:txBody>
          <a:bodyPr/>
          <a:lstStyle/>
          <a:p>
            <a:r>
              <a:rPr lang="pt-BR">
                <a:solidFill>
                  <a:schemeClr val="bg1"/>
                </a:solidFill>
              </a:rPr>
              <a:t>Exercício Herança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1A7050-3917-C27A-3BF5-ADE505A4E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160" y="1091564"/>
            <a:ext cx="9250680" cy="492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2332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38F0F-F086-4095-A228-339D6DD11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005" y="396796"/>
            <a:ext cx="8469771" cy="616695"/>
          </a:xfrm>
        </p:spPr>
        <p:txBody>
          <a:bodyPr/>
          <a:lstStyle/>
          <a:p>
            <a:r>
              <a:rPr lang="pt-BR">
                <a:solidFill>
                  <a:schemeClr val="bg1"/>
                </a:solidFill>
              </a:rPr>
              <a:t>Exercício Herança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15278B-2EF1-4A1F-021F-2A3792D63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580" y="1522094"/>
            <a:ext cx="9715499" cy="456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7188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38F0F-F086-4095-A228-339D6DD11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005" y="396796"/>
            <a:ext cx="8469771" cy="616695"/>
          </a:xfrm>
        </p:spPr>
        <p:txBody>
          <a:bodyPr/>
          <a:lstStyle/>
          <a:p>
            <a:r>
              <a:rPr lang="pt-BR">
                <a:solidFill>
                  <a:schemeClr val="bg1"/>
                </a:solidFill>
              </a:rPr>
              <a:t>Exercício Herança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DCE8E1-FE40-5B0C-7EBB-D64AAD4C7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660" y="1447799"/>
            <a:ext cx="9745980" cy="478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1210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38F0F-F086-4095-A228-339D6DD11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005" y="396796"/>
            <a:ext cx="8469771" cy="616695"/>
          </a:xfrm>
        </p:spPr>
        <p:txBody>
          <a:bodyPr/>
          <a:lstStyle/>
          <a:p>
            <a:r>
              <a:rPr lang="pt-BR">
                <a:solidFill>
                  <a:schemeClr val="bg1"/>
                </a:solidFill>
              </a:rPr>
              <a:t>Exercício Herança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EA1A69-1134-0379-920B-72448990D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440" y="1495424"/>
            <a:ext cx="9532619" cy="469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4839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38F0F-F086-4095-A228-339D6DD11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005" y="396796"/>
            <a:ext cx="8469771" cy="616695"/>
          </a:xfrm>
        </p:spPr>
        <p:txBody>
          <a:bodyPr/>
          <a:lstStyle/>
          <a:p>
            <a:r>
              <a:rPr lang="pt-BR">
                <a:solidFill>
                  <a:schemeClr val="bg1"/>
                </a:solidFill>
              </a:rPr>
              <a:t>Exercício Herança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ED34D4-1FEB-C529-0110-77107A124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277" y="1666874"/>
            <a:ext cx="9858967" cy="183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3344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38F0F-F086-4095-A228-339D6DD11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005" y="396796"/>
            <a:ext cx="8469771" cy="616695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Exercicio 2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93C3DE2-D44D-4316-8AAC-442D827F8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9650" y="1520466"/>
            <a:ext cx="10534650" cy="1110052"/>
          </a:xfrm>
        </p:spPr>
        <p:txBody>
          <a:bodyPr/>
          <a:lstStyle/>
          <a:p>
            <a:pPr algn="l"/>
            <a:r>
              <a:rPr lang="pt-BR" sz="2400" b="0" i="0" u="none" strike="noStrike" baseline="0">
                <a:solidFill>
                  <a:schemeClr val="bg1"/>
                </a:solidFill>
                <a:latin typeface="Helvetica" panose="020B0604020202020204" pitchFamily="34" charset="0"/>
              </a:rPr>
              <a:t>Imagine que uma empresa tenha produtos dos quais precisa armazenar o código, o nome e o preço.</a:t>
            </a:r>
          </a:p>
          <a:p>
            <a:pPr algn="l"/>
            <a:endParaRPr lang="pt-BR" sz="2400" b="0">
              <a:solidFill>
                <a:schemeClr val="bg1"/>
              </a:solidFill>
              <a:latin typeface="Helvetica" panose="020B0604020202020204" pitchFamily="34" charset="0"/>
            </a:endParaRPr>
          </a:p>
          <a:p>
            <a:pPr algn="l"/>
            <a:r>
              <a:rPr lang="pt-BR" sz="2400" b="0" i="0" u="none" strike="noStrike" baseline="0">
                <a:solidFill>
                  <a:schemeClr val="bg1"/>
                </a:solidFill>
                <a:latin typeface="Helvetica" panose="020B0604020202020204" pitchFamily="34" charset="0"/>
              </a:rPr>
              <a:t> No entanto, os produtos perecíveis exigem que sejam armazenadas também a data de validade (por enquanto use um número inteiro) e o nome do último fornecedor (String).</a:t>
            </a:r>
          </a:p>
          <a:p>
            <a:pPr algn="l"/>
            <a:endParaRPr lang="pt-BR" sz="2400" b="0" i="0" u="none" strike="noStrike" baseline="0">
              <a:solidFill>
                <a:schemeClr val="bg1"/>
              </a:solidFill>
              <a:latin typeface="Helvetica" panose="020B0604020202020204" pitchFamily="34" charset="0"/>
            </a:endParaRPr>
          </a:p>
          <a:p>
            <a:pPr algn="l"/>
            <a:r>
              <a:rPr lang="pt-BR" sz="2400" b="0" i="0" u="none" strike="noStrike" baseline="0">
                <a:solidFill>
                  <a:schemeClr val="bg1"/>
                </a:solidFill>
                <a:latin typeface="Helvetica" panose="020B0604020202020204" pitchFamily="34" charset="0"/>
              </a:rPr>
              <a:t>Faça uma hierarquia de classes (com atributos e métodos </a:t>
            </a:r>
            <a:r>
              <a:rPr lang="pt-BR" sz="2400" b="0" i="1" u="none" strike="noStrike" baseline="0">
                <a:solidFill>
                  <a:schemeClr val="bg1"/>
                </a:solidFill>
                <a:latin typeface="Helvetica-Oblique"/>
              </a:rPr>
              <a:t>get </a:t>
            </a:r>
            <a:r>
              <a:rPr lang="pt-BR" sz="2400" b="0" i="0" u="none" strike="noStrike" baseline="0">
                <a:solidFill>
                  <a:schemeClr val="bg1"/>
                </a:solidFill>
                <a:latin typeface="Helvetica" panose="020B0604020202020204" pitchFamily="34" charset="0"/>
              </a:rPr>
              <a:t>e </a:t>
            </a:r>
            <a:r>
              <a:rPr lang="pt-BR" sz="2400" b="0" i="1" u="none" strike="noStrike" baseline="0">
                <a:solidFill>
                  <a:schemeClr val="bg1"/>
                </a:solidFill>
                <a:latin typeface="Helvetica-Oblique"/>
              </a:rPr>
              <a:t>set) </a:t>
            </a:r>
            <a:r>
              <a:rPr lang="pt-BR" sz="2400" b="0" i="0" u="none" strike="noStrike" baseline="0">
                <a:solidFill>
                  <a:schemeClr val="bg1"/>
                </a:solidFill>
                <a:latin typeface="Helvetica" panose="020B0604020202020204" pitchFamily="34" charset="0"/>
              </a:rPr>
              <a:t>para essas classes. </a:t>
            </a:r>
          </a:p>
          <a:p>
            <a:pPr algn="l"/>
            <a:endParaRPr lang="pt-BR" sz="2400" b="0">
              <a:solidFill>
                <a:schemeClr val="bg1"/>
              </a:solidFill>
              <a:latin typeface="Helvetica" panose="020B0604020202020204" pitchFamily="34" charset="0"/>
            </a:endParaRPr>
          </a:p>
          <a:p>
            <a:pPr algn="l"/>
            <a:r>
              <a:rPr lang="pt-BR" sz="2400" b="0" i="0" u="none" strike="noStrike" baseline="0">
                <a:solidFill>
                  <a:schemeClr val="bg1"/>
                </a:solidFill>
                <a:latin typeface="Helvetica" panose="020B0604020202020204" pitchFamily="34" charset="0"/>
              </a:rPr>
              <a:t>Os dados do produto devem ser fornecidos quando o objeto for criado (o mesmo ocorre para produtos perecíveis). As classes criadas devem ter métodos para imprimir dados, exercitando o reuso de código.</a:t>
            </a:r>
            <a:endParaRPr lang="pt-BR" sz="4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3581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38F0F-F086-4095-A228-339D6DD11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005" y="396796"/>
            <a:ext cx="8469771" cy="616695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Exercicio 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A59D14-2209-EA6D-2616-90E0EF3B7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94B861-DF36-77C7-5F9B-75B42D3CC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401" y="1081087"/>
            <a:ext cx="7191375" cy="46958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BF77E03-6A7F-2E81-D228-5D5CA7108FCC}"/>
              </a:ext>
            </a:extLst>
          </p:cNvPr>
          <p:cNvSpPr/>
          <p:nvPr/>
        </p:nvSpPr>
        <p:spPr>
          <a:xfrm>
            <a:off x="4819650" y="1814513"/>
            <a:ext cx="90488" cy="9525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#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F07EE7-C246-D166-6190-64F71856AF9D}"/>
              </a:ext>
            </a:extLst>
          </p:cNvPr>
          <p:cNvSpPr/>
          <p:nvPr/>
        </p:nvSpPr>
        <p:spPr>
          <a:xfrm>
            <a:off x="4819650" y="2028825"/>
            <a:ext cx="90488" cy="9525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#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279AC6-1E7D-7AAF-FE0B-4496EA40EB25}"/>
              </a:ext>
            </a:extLst>
          </p:cNvPr>
          <p:cNvSpPr/>
          <p:nvPr/>
        </p:nvSpPr>
        <p:spPr>
          <a:xfrm>
            <a:off x="4819650" y="2243137"/>
            <a:ext cx="90488" cy="9525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#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748940-B203-D338-D04D-FECB860DA19F}"/>
              </a:ext>
            </a:extLst>
          </p:cNvPr>
          <p:cNvSpPr/>
          <p:nvPr/>
        </p:nvSpPr>
        <p:spPr>
          <a:xfrm>
            <a:off x="3272790" y="4847273"/>
            <a:ext cx="90488" cy="9525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#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D90061-CA7A-D7EA-9020-9DD9B1E2DC8A}"/>
              </a:ext>
            </a:extLst>
          </p:cNvPr>
          <p:cNvSpPr/>
          <p:nvPr/>
        </p:nvSpPr>
        <p:spPr>
          <a:xfrm>
            <a:off x="5695950" y="4847273"/>
            <a:ext cx="90488" cy="9525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#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177FCD-3707-FFC0-17E8-CB36641840BF}"/>
              </a:ext>
            </a:extLst>
          </p:cNvPr>
          <p:cNvSpPr/>
          <p:nvPr/>
        </p:nvSpPr>
        <p:spPr>
          <a:xfrm>
            <a:off x="8195310" y="4752023"/>
            <a:ext cx="90488" cy="9525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#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106DB8-DBA7-16CE-4A80-909D8C5C6D4F}"/>
              </a:ext>
            </a:extLst>
          </p:cNvPr>
          <p:cNvSpPr/>
          <p:nvPr/>
        </p:nvSpPr>
        <p:spPr>
          <a:xfrm>
            <a:off x="8195310" y="4942523"/>
            <a:ext cx="90488" cy="9525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#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B92198-6BDC-4942-48C1-EEE28E118AC8}"/>
              </a:ext>
            </a:extLst>
          </p:cNvPr>
          <p:cNvSpPr/>
          <p:nvPr/>
        </p:nvSpPr>
        <p:spPr>
          <a:xfrm>
            <a:off x="4819650" y="2702273"/>
            <a:ext cx="90488" cy="9525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2656524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38F0F-F086-4095-A228-339D6DD11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005" y="396796"/>
            <a:ext cx="8469771" cy="616695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Exercicio 3 continuação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A59D14-2209-EA6D-2616-90E0EF3B7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75ADBF-9660-AF30-315D-D6B6AA76E109}"/>
              </a:ext>
            </a:extLst>
          </p:cNvPr>
          <p:cNvSpPr txBox="1"/>
          <p:nvPr/>
        </p:nvSpPr>
        <p:spPr>
          <a:xfrm>
            <a:off x="1497806" y="1374339"/>
            <a:ext cx="623411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Adicione uma classe Reptil que:</a:t>
            </a:r>
          </a:p>
          <a:p>
            <a:endParaRPr lang="pt-BR" sz="2400" dirty="0">
              <a:solidFill>
                <a:schemeClr val="bg1"/>
              </a:solidFill>
            </a:endParaRPr>
          </a:p>
          <a:p>
            <a:r>
              <a:rPr lang="pt-BR" sz="2400" dirty="0">
                <a:solidFill>
                  <a:schemeClr val="bg1"/>
                </a:solidFill>
              </a:rPr>
              <a:t>Herda de Animal</a:t>
            </a:r>
          </a:p>
          <a:p>
            <a:endParaRPr lang="pt-BR" sz="2400" dirty="0">
              <a:solidFill>
                <a:schemeClr val="bg1"/>
              </a:solidFill>
            </a:endParaRPr>
          </a:p>
          <a:p>
            <a:r>
              <a:rPr lang="pt-BR" sz="2400" dirty="0">
                <a:solidFill>
                  <a:schemeClr val="bg1"/>
                </a:solidFill>
              </a:rPr>
              <a:t>Tem atributo boolean venenoso</a:t>
            </a:r>
          </a:p>
          <a:p>
            <a:endParaRPr lang="pt-BR" sz="2400" dirty="0">
              <a:solidFill>
                <a:schemeClr val="bg1"/>
              </a:solidFill>
            </a:endParaRPr>
          </a:p>
          <a:p>
            <a:r>
              <a:rPr lang="pt-BR" sz="2400" dirty="0">
                <a:solidFill>
                  <a:schemeClr val="bg1"/>
                </a:solidFill>
              </a:rPr>
              <a:t>Sobrescreve emitirSom() para exibir "Sssss..."</a:t>
            </a:r>
          </a:p>
          <a:p>
            <a:endParaRPr lang="pt-BR" sz="2400" dirty="0">
              <a:solidFill>
                <a:schemeClr val="bg1"/>
              </a:solidFill>
            </a:endParaRPr>
          </a:p>
          <a:p>
            <a:r>
              <a:rPr lang="pt-BR" sz="2400" dirty="0">
                <a:solidFill>
                  <a:schemeClr val="bg1"/>
                </a:solidFill>
              </a:rPr>
              <a:t>Adicione um método mudarPele()</a:t>
            </a:r>
          </a:p>
        </p:txBody>
      </p:sp>
    </p:spTree>
    <p:extLst>
      <p:ext uri="{BB962C8B-B14F-4D97-AF65-F5344CB8AC3E}">
        <p14:creationId xmlns:p14="http://schemas.microsoft.com/office/powerpoint/2010/main" val="29699992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38F0F-F086-4095-A228-339D6DD11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443" y="109289"/>
            <a:ext cx="8469771" cy="616695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Exercicio 3 continuação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A59D14-2209-EA6D-2616-90E0EF3B7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A72928-AEF0-9B2B-BB04-9C6370C8B4A7}"/>
              </a:ext>
            </a:extLst>
          </p:cNvPr>
          <p:cNvSpPr txBox="1"/>
          <p:nvPr/>
        </p:nvSpPr>
        <p:spPr>
          <a:xfrm>
            <a:off x="6330329" y="1392257"/>
            <a:ext cx="741424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Saída:</a:t>
            </a:r>
          </a:p>
          <a:p>
            <a:r>
              <a:rPr lang="pt-BR" dirty="0">
                <a:solidFill>
                  <a:schemeClr val="bg1"/>
                </a:solidFill>
              </a:rPr>
              <a:t>=== Informações ===</a:t>
            </a:r>
          </a:p>
          <a:p>
            <a:r>
              <a:rPr lang="pt-BR" dirty="0">
                <a:solidFill>
                  <a:schemeClr val="bg1"/>
                </a:solidFill>
              </a:rPr>
              <a:t>Genérico (2 anos) - Habitat: Savana (300.0m²) </a:t>
            </a:r>
          </a:p>
          <a:p>
            <a:r>
              <a:rPr lang="pt-BR" dirty="0">
                <a:solidFill>
                  <a:schemeClr val="bg1"/>
                </a:solidFill>
              </a:rPr>
              <a:t>Leão (5 anos) - Habitat: Savana (300.0m²)</a:t>
            </a:r>
          </a:p>
          <a:p>
            <a:r>
              <a:rPr lang="pt-BR" dirty="0">
                <a:solidFill>
                  <a:schemeClr val="bg1"/>
                </a:solidFill>
              </a:rPr>
              <a:t>Arara (3 anos) - Habitat: Floresta (150.5m²)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=== Sons ===</a:t>
            </a:r>
          </a:p>
          <a:p>
            <a:r>
              <a:rPr lang="pt-BR" dirty="0">
                <a:solidFill>
                  <a:schemeClr val="bg1"/>
                </a:solidFill>
              </a:rPr>
              <a:t>Genérico faz um som genérico.</a:t>
            </a:r>
          </a:p>
          <a:p>
            <a:r>
              <a:rPr lang="pt-BR" dirty="0">
                <a:solidFill>
                  <a:schemeClr val="bg1"/>
                </a:solidFill>
              </a:rPr>
              <a:t>Leão ruge: Grrrr!</a:t>
            </a:r>
          </a:p>
          <a:p>
            <a:r>
              <a:rPr lang="pt-BR" dirty="0">
                <a:solidFill>
                  <a:schemeClr val="bg1"/>
                </a:solidFill>
              </a:rPr>
              <a:t>Arara canta: Piu piu!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=== Ações Específicas ===</a:t>
            </a:r>
          </a:p>
          <a:p>
            <a:r>
              <a:rPr lang="pt-BR" dirty="0">
                <a:solidFill>
                  <a:schemeClr val="bg1"/>
                </a:solidFill>
              </a:rPr>
              <a:t>Leão está amamentando.</a:t>
            </a:r>
          </a:p>
          <a:p>
            <a:r>
              <a:rPr lang="pt-BR" dirty="0">
                <a:solidFill>
                  <a:schemeClr val="bg1"/>
                </a:solidFill>
              </a:rPr>
              <a:t>Arara voa com asas de 1.2m de envergadura.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8198BB5-DBA7-6149-02E3-E7C296C87965}"/>
              </a:ext>
            </a:extLst>
          </p:cNvPr>
          <p:cNvCxnSpPr>
            <a:cxnSpLocks/>
          </p:cNvCxnSpPr>
          <p:nvPr/>
        </p:nvCxnSpPr>
        <p:spPr>
          <a:xfrm flipV="1">
            <a:off x="3714750" y="1952625"/>
            <a:ext cx="4543425" cy="1476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2">
            <a:extLst>
              <a:ext uri="{FF2B5EF4-FFF2-40B4-BE49-F238E27FC236}">
                <a16:creationId xmlns:a16="http://schemas.microsoft.com/office/drawing/2014/main" id="{ACA29126-9642-7DA9-ED6B-D9C1EF9AC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" y="1069092"/>
            <a:ext cx="5705475" cy="5386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public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static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void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main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String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[]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args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 Cria habitats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Habitat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savana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Habitat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"Savana"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300.0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Habitat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floresta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Habitat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"Floresta"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150.5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);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 Cria animais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Animal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animalGenerico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Animal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"Genérico"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2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savana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Mamifero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leao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Mamifero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"Leão"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5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savana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110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Ave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arara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Menlo"/>
              </a:rPr>
              <a:t>new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Ave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"Arara"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3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floresta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1.2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);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 Testa métodos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System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out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println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"=== Informações ==="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);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System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out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println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animalGenerico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getInfo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());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System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out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println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leao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getInfo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());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System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out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println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arara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getInfo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());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System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out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println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"\n=== Sons ==="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animalGenerico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emitirSom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 Usa implementação padrão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leao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emitirSom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 Sobrescrito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arara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emitirSom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 Sobrescrito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Menlo"/>
              </a:rPr>
              <a:t>System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out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println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Menlo"/>
              </a:rPr>
              <a:t>"\n=== Ações Específicas ==="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);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leao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amamentar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();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 Exclusivo </a:t>
            </a:r>
            <a:r>
              <a:rPr kumimoji="0" lang="pt-BR" altLang="pt-BR" sz="1400" b="0" i="1" u="none" strike="noStrike" cap="none" normalizeH="0" baseline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de Mamifero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arara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Menlo"/>
              </a:rPr>
              <a:t>voar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();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1" u="none" strike="noStrike" cap="none" normalizeH="0" baseline="0" dirty="0">
                <a:ln>
                  <a:noFill/>
                </a:ln>
                <a:solidFill>
                  <a:srgbClr val="A0A1A7"/>
                </a:solidFill>
                <a:effectLst/>
                <a:latin typeface="Menlo"/>
              </a:rPr>
              <a:t>// Exclusivo de Ave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Menlo"/>
              </a:rPr>
              <a:t>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altLang="pt-B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51A95E-530D-4A28-07E4-3EED9235B0E4}"/>
              </a:ext>
            </a:extLst>
          </p:cNvPr>
          <p:cNvSpPr txBox="1"/>
          <p:nvPr/>
        </p:nvSpPr>
        <p:spPr>
          <a:xfrm>
            <a:off x="390525" y="604242"/>
            <a:ext cx="360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Classe testes implementada abaixo:</a:t>
            </a:r>
          </a:p>
        </p:txBody>
      </p:sp>
    </p:spTree>
    <p:extLst>
      <p:ext uri="{BB962C8B-B14F-4D97-AF65-F5344CB8AC3E}">
        <p14:creationId xmlns:p14="http://schemas.microsoft.com/office/powerpoint/2010/main" val="19113957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38F0F-F086-4095-A228-339D6DD11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443" y="109289"/>
            <a:ext cx="8469771" cy="616695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Exercicio 4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A59D14-2209-EA6D-2616-90E0EF3B7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31F2D2-9745-B5D5-DA64-D5B718091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690" y="1326696"/>
            <a:ext cx="9565596" cy="4754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8677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38F0F-F086-4095-A228-339D6DD11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443" y="109289"/>
            <a:ext cx="8469771" cy="616695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Exercicio 4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A59D14-2209-EA6D-2616-90E0EF3B7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2EE772-3BB0-04D1-A8C0-87BDE4914F8C}"/>
              </a:ext>
            </a:extLst>
          </p:cNvPr>
          <p:cNvSpPr txBox="1"/>
          <p:nvPr/>
        </p:nvSpPr>
        <p:spPr>
          <a:xfrm>
            <a:off x="1320800" y="2136337"/>
            <a:ext cx="834571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=== Informações ===</a:t>
            </a:r>
          </a:p>
          <a:p>
            <a:r>
              <a:rPr lang="pt-BR" dirty="0">
                <a:solidFill>
                  <a:schemeClr val="bg1"/>
                </a:solidFill>
              </a:rPr>
              <a:t>Dom Casmurro (1899) - Autor: Machado de Assis (Brasileiro) - Páginas: 256</a:t>
            </a:r>
          </a:p>
          <a:p>
            <a:r>
              <a:rPr lang="pt-BR" dirty="0">
                <a:solidFill>
                  <a:schemeClr val="bg1"/>
                </a:solidFill>
              </a:rPr>
              <a:t>National Geographic (2023) - Autor: Stephen King (Americano) - Edição: 150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=== Ações ===</a:t>
            </a:r>
          </a:p>
          <a:p>
            <a:r>
              <a:rPr lang="pt-BR" dirty="0">
                <a:solidFill>
                  <a:schemeClr val="bg1"/>
                </a:solidFill>
              </a:rPr>
              <a:t>Lendo o livro: Dom Casmurro</a:t>
            </a:r>
          </a:p>
          <a:p>
            <a:r>
              <a:rPr lang="pt-BR" dirty="0">
                <a:solidFill>
                  <a:schemeClr val="bg1"/>
                </a:solidFill>
              </a:rPr>
              <a:t>Folheando a revista: National Geographic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4F3E43-BEC5-2BE1-4D4E-2B648E18E879}"/>
              </a:ext>
            </a:extLst>
          </p:cNvPr>
          <p:cNvSpPr txBox="1"/>
          <p:nvPr/>
        </p:nvSpPr>
        <p:spPr>
          <a:xfrm>
            <a:off x="1074057" y="1015662"/>
            <a:ext cx="9826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FFC000"/>
                </a:solidFill>
              </a:rPr>
              <a:t>Implementar o exercício anterior e criar uma classe testes que exiba as informações abaixo:</a:t>
            </a:r>
          </a:p>
        </p:txBody>
      </p:sp>
    </p:spTree>
    <p:extLst>
      <p:ext uri="{BB962C8B-B14F-4D97-AF65-F5344CB8AC3E}">
        <p14:creationId xmlns:p14="http://schemas.microsoft.com/office/powerpoint/2010/main" val="34710335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38F0F-F086-4095-A228-339D6DD11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005" y="396796"/>
            <a:ext cx="8469771" cy="616695"/>
          </a:xfrm>
        </p:spPr>
        <p:txBody>
          <a:bodyPr/>
          <a:lstStyle/>
          <a:p>
            <a:r>
              <a:rPr lang="pt-BR">
                <a:solidFill>
                  <a:schemeClr val="bg1"/>
                </a:solidFill>
              </a:rPr>
              <a:t>Links para Exemplo de Herança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93C3DE2-D44D-4316-8AAC-442D827F8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75156" y="1520466"/>
            <a:ext cx="8240415" cy="1110052"/>
          </a:xfrm>
        </p:spPr>
        <p:txBody>
          <a:bodyPr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AFD9933-75ED-407A-95B1-382ABD832885}"/>
              </a:ext>
            </a:extLst>
          </p:cNvPr>
          <p:cNvSpPr txBox="1"/>
          <p:nvPr/>
        </p:nvSpPr>
        <p:spPr>
          <a:xfrm>
            <a:off x="1975156" y="3429000"/>
            <a:ext cx="8319620" cy="1202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7">
                <a:solidFill>
                  <a:schemeClr val="bg1"/>
                </a:solidFill>
              </a:rPr>
              <a:t>https://saulo.arisa.com.br/wiki/index.php/Heran%C3%A7a_-_Exemplo_2</a:t>
            </a:r>
          </a:p>
        </p:txBody>
      </p:sp>
    </p:spTree>
    <p:extLst>
      <p:ext uri="{BB962C8B-B14F-4D97-AF65-F5344CB8AC3E}">
        <p14:creationId xmlns:p14="http://schemas.microsoft.com/office/powerpoint/2010/main" val="5063242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5005" y="209556"/>
            <a:ext cx="4785968" cy="636178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spc="-20">
                <a:solidFill>
                  <a:schemeClr val="bg1"/>
                </a:solidFill>
              </a:rPr>
              <a:t>Herança</a:t>
            </a:r>
            <a:r>
              <a:rPr spc="-15">
                <a:solidFill>
                  <a:schemeClr val="bg1"/>
                </a:solidFill>
              </a:rPr>
              <a:t> </a:t>
            </a:r>
            <a:r>
              <a:rPr spc="-5">
                <a:solidFill>
                  <a:schemeClr val="bg1"/>
                </a:solidFill>
              </a:rPr>
              <a:t>x</a:t>
            </a:r>
            <a:r>
              <a:rPr spc="-40">
                <a:solidFill>
                  <a:schemeClr val="bg1"/>
                </a:solidFill>
              </a:rPr>
              <a:t> </a:t>
            </a:r>
            <a:r>
              <a:rPr spc="-10">
                <a:solidFill>
                  <a:schemeClr val="bg1"/>
                </a:solidFill>
              </a:rPr>
              <a:t>Composição</a:t>
            </a:r>
          </a:p>
        </p:txBody>
      </p:sp>
      <p:sp>
        <p:nvSpPr>
          <p:cNvPr id="3" name="object 3"/>
          <p:cNvSpPr/>
          <p:nvPr/>
        </p:nvSpPr>
        <p:spPr>
          <a:xfrm>
            <a:off x="1863380" y="4662931"/>
            <a:ext cx="8477073" cy="2055491"/>
          </a:xfrm>
          <a:custGeom>
            <a:avLst/>
            <a:gdLst/>
            <a:ahLst/>
            <a:cxnLst/>
            <a:rect l="l" t="t" r="r" b="b"/>
            <a:pathLst>
              <a:path w="8461375" h="2051684">
                <a:moveTo>
                  <a:pt x="8042021" y="0"/>
                </a:moveTo>
                <a:lnTo>
                  <a:pt x="419188" y="0"/>
                </a:lnTo>
                <a:lnTo>
                  <a:pt x="370303" y="2820"/>
                </a:lnTo>
                <a:lnTo>
                  <a:pt x="323073" y="11072"/>
                </a:lnTo>
                <a:lnTo>
                  <a:pt x="277815" y="24441"/>
                </a:lnTo>
                <a:lnTo>
                  <a:pt x="234841" y="42612"/>
                </a:lnTo>
                <a:lnTo>
                  <a:pt x="194468" y="65271"/>
                </a:lnTo>
                <a:lnTo>
                  <a:pt x="157009" y="92103"/>
                </a:lnTo>
                <a:lnTo>
                  <a:pt x="122778" y="122793"/>
                </a:lnTo>
                <a:lnTo>
                  <a:pt x="92092" y="157026"/>
                </a:lnTo>
                <a:lnTo>
                  <a:pt x="65263" y="194489"/>
                </a:lnTo>
                <a:lnTo>
                  <a:pt x="42607" y="234866"/>
                </a:lnTo>
                <a:lnTo>
                  <a:pt x="24438" y="277843"/>
                </a:lnTo>
                <a:lnTo>
                  <a:pt x="11071" y="323105"/>
                </a:lnTo>
                <a:lnTo>
                  <a:pt x="2820" y="370338"/>
                </a:lnTo>
                <a:lnTo>
                  <a:pt x="0" y="419226"/>
                </a:lnTo>
                <a:lnTo>
                  <a:pt x="0" y="1632115"/>
                </a:lnTo>
                <a:lnTo>
                  <a:pt x="2820" y="1681000"/>
                </a:lnTo>
                <a:lnTo>
                  <a:pt x="11071" y="1728230"/>
                </a:lnTo>
                <a:lnTo>
                  <a:pt x="24438" y="1773488"/>
                </a:lnTo>
                <a:lnTo>
                  <a:pt x="42607" y="1816462"/>
                </a:lnTo>
                <a:lnTo>
                  <a:pt x="65263" y="1856835"/>
                </a:lnTo>
                <a:lnTo>
                  <a:pt x="92092" y="1894294"/>
                </a:lnTo>
                <a:lnTo>
                  <a:pt x="122778" y="1928525"/>
                </a:lnTo>
                <a:lnTo>
                  <a:pt x="157009" y="1959211"/>
                </a:lnTo>
                <a:lnTo>
                  <a:pt x="194468" y="1986040"/>
                </a:lnTo>
                <a:lnTo>
                  <a:pt x="234841" y="2008696"/>
                </a:lnTo>
                <a:lnTo>
                  <a:pt x="277815" y="2026865"/>
                </a:lnTo>
                <a:lnTo>
                  <a:pt x="323073" y="2040232"/>
                </a:lnTo>
                <a:lnTo>
                  <a:pt x="370303" y="2048483"/>
                </a:lnTo>
                <a:lnTo>
                  <a:pt x="419188" y="2051303"/>
                </a:lnTo>
                <a:lnTo>
                  <a:pt x="8042021" y="2051303"/>
                </a:lnTo>
                <a:lnTo>
                  <a:pt x="8090909" y="2048483"/>
                </a:lnTo>
                <a:lnTo>
                  <a:pt x="8138142" y="2040232"/>
                </a:lnTo>
                <a:lnTo>
                  <a:pt x="8183404" y="2026865"/>
                </a:lnTo>
                <a:lnTo>
                  <a:pt x="8226381" y="2008696"/>
                </a:lnTo>
                <a:lnTo>
                  <a:pt x="8266758" y="1986040"/>
                </a:lnTo>
                <a:lnTo>
                  <a:pt x="8304221" y="1959211"/>
                </a:lnTo>
                <a:lnTo>
                  <a:pt x="8338454" y="1928525"/>
                </a:lnTo>
                <a:lnTo>
                  <a:pt x="8369144" y="1894294"/>
                </a:lnTo>
                <a:lnTo>
                  <a:pt x="8395976" y="1856835"/>
                </a:lnTo>
                <a:lnTo>
                  <a:pt x="8418635" y="1816462"/>
                </a:lnTo>
                <a:lnTo>
                  <a:pt x="8436806" y="1773488"/>
                </a:lnTo>
                <a:lnTo>
                  <a:pt x="8450175" y="1728230"/>
                </a:lnTo>
                <a:lnTo>
                  <a:pt x="8458427" y="1681000"/>
                </a:lnTo>
                <a:lnTo>
                  <a:pt x="8461248" y="1632115"/>
                </a:lnTo>
                <a:lnTo>
                  <a:pt x="8461248" y="419226"/>
                </a:lnTo>
                <a:lnTo>
                  <a:pt x="8458427" y="370338"/>
                </a:lnTo>
                <a:lnTo>
                  <a:pt x="8450175" y="323105"/>
                </a:lnTo>
                <a:lnTo>
                  <a:pt x="8436806" y="277843"/>
                </a:lnTo>
                <a:lnTo>
                  <a:pt x="8418635" y="234866"/>
                </a:lnTo>
                <a:lnTo>
                  <a:pt x="8395976" y="194489"/>
                </a:lnTo>
                <a:lnTo>
                  <a:pt x="8369144" y="157026"/>
                </a:lnTo>
                <a:lnTo>
                  <a:pt x="8338454" y="122793"/>
                </a:lnTo>
                <a:lnTo>
                  <a:pt x="8304221" y="92103"/>
                </a:lnTo>
                <a:lnTo>
                  <a:pt x="8266758" y="65271"/>
                </a:lnTo>
                <a:lnTo>
                  <a:pt x="8226381" y="42612"/>
                </a:lnTo>
                <a:lnTo>
                  <a:pt x="8183404" y="24441"/>
                </a:lnTo>
                <a:lnTo>
                  <a:pt x="8138142" y="11072"/>
                </a:lnTo>
                <a:lnTo>
                  <a:pt x="8090909" y="2820"/>
                </a:lnTo>
                <a:lnTo>
                  <a:pt x="80420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4" name="object 4"/>
          <p:cNvSpPr txBox="1"/>
          <p:nvPr/>
        </p:nvSpPr>
        <p:spPr>
          <a:xfrm>
            <a:off x="1825005" y="991675"/>
            <a:ext cx="8697827" cy="5551290"/>
          </a:xfrm>
          <a:prstGeom prst="rect">
            <a:avLst/>
          </a:prstGeom>
        </p:spPr>
        <p:txBody>
          <a:bodyPr vert="horz" wrap="square" lIns="0" tIns="12724" rIns="0" bIns="0" rtlCol="0">
            <a:spAutoFit/>
          </a:bodyPr>
          <a:lstStyle/>
          <a:p>
            <a:pPr marL="365183" marR="239214" indent="-353095" algn="just">
              <a:spcBef>
                <a:spcPts val="100"/>
              </a:spcBef>
              <a:buClr>
                <a:srgbClr val="204F52"/>
              </a:buClr>
              <a:buFont typeface="Symbol"/>
              <a:buChar char=""/>
              <a:tabLst>
                <a:tab pos="365819" algn="l"/>
              </a:tabLst>
            </a:pPr>
            <a:r>
              <a:rPr sz="2405" spc="-50">
                <a:solidFill>
                  <a:schemeClr val="bg1"/>
                </a:solidFill>
                <a:latin typeface="Calibri"/>
                <a:cs typeface="Calibri"/>
              </a:rPr>
              <a:t>Tanto </a:t>
            </a:r>
            <a:r>
              <a:rPr sz="2405">
                <a:solidFill>
                  <a:schemeClr val="bg1"/>
                </a:solidFill>
                <a:latin typeface="Calibri"/>
                <a:cs typeface="Calibri"/>
              </a:rPr>
              <a:t>a </a:t>
            </a:r>
            <a:r>
              <a:rPr sz="2405" spc="-15">
                <a:solidFill>
                  <a:schemeClr val="bg1"/>
                </a:solidFill>
                <a:latin typeface="Calibri"/>
                <a:cs typeface="Calibri"/>
              </a:rPr>
              <a:t>herança quanto </a:t>
            </a:r>
            <a:r>
              <a:rPr sz="2405">
                <a:solidFill>
                  <a:schemeClr val="bg1"/>
                </a:solidFill>
                <a:latin typeface="Calibri"/>
                <a:cs typeface="Calibri"/>
              </a:rPr>
              <a:t>a </a:t>
            </a:r>
            <a:r>
              <a:rPr sz="2405" spc="-10">
                <a:solidFill>
                  <a:schemeClr val="bg1"/>
                </a:solidFill>
                <a:latin typeface="Calibri"/>
                <a:cs typeface="Calibri"/>
              </a:rPr>
              <a:t>composição </a:t>
            </a:r>
            <a:r>
              <a:rPr sz="2405" spc="-5">
                <a:solidFill>
                  <a:schemeClr val="bg1"/>
                </a:solidFill>
                <a:latin typeface="Calibri"/>
                <a:cs typeface="Calibri"/>
              </a:rPr>
              <a:t>possuem suas </a:t>
            </a:r>
            <a:r>
              <a:rPr sz="2405" spc="-15">
                <a:solidFill>
                  <a:schemeClr val="bg1"/>
                </a:solidFill>
                <a:latin typeface="Calibri"/>
                <a:cs typeface="Calibri"/>
              </a:rPr>
              <a:t>vantagens </a:t>
            </a:r>
            <a:r>
              <a:rPr sz="2405">
                <a:solidFill>
                  <a:schemeClr val="bg1"/>
                </a:solidFill>
                <a:latin typeface="Calibri"/>
                <a:cs typeface="Calibri"/>
              </a:rPr>
              <a:t>e </a:t>
            </a:r>
            <a:r>
              <a:rPr sz="2405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5" spc="-15">
                <a:solidFill>
                  <a:schemeClr val="bg1"/>
                </a:solidFill>
                <a:latin typeface="Calibri"/>
                <a:cs typeface="Calibri"/>
              </a:rPr>
              <a:t>desvantagens. </a:t>
            </a:r>
            <a:r>
              <a:rPr sz="2405" spc="-20">
                <a:solidFill>
                  <a:schemeClr val="bg1"/>
                </a:solidFill>
                <a:latin typeface="Calibri"/>
                <a:cs typeface="Calibri"/>
              </a:rPr>
              <a:t>Porém, </a:t>
            </a:r>
            <a:r>
              <a:rPr sz="2405" spc="-5">
                <a:solidFill>
                  <a:schemeClr val="bg1"/>
                </a:solidFill>
                <a:latin typeface="Calibri"/>
                <a:cs typeface="Calibri"/>
              </a:rPr>
              <a:t>na </a:t>
            </a:r>
            <a:r>
              <a:rPr sz="2405">
                <a:solidFill>
                  <a:schemeClr val="bg1"/>
                </a:solidFill>
                <a:latin typeface="Calibri"/>
                <a:cs typeface="Calibri"/>
              </a:rPr>
              <a:t>maioria </a:t>
            </a:r>
            <a:r>
              <a:rPr sz="2405" spc="-5">
                <a:solidFill>
                  <a:schemeClr val="bg1"/>
                </a:solidFill>
                <a:latin typeface="Calibri"/>
                <a:cs typeface="Calibri"/>
              </a:rPr>
              <a:t>dos casos, </a:t>
            </a:r>
            <a:r>
              <a:rPr sz="2405">
                <a:solidFill>
                  <a:schemeClr val="bg1"/>
                </a:solidFill>
                <a:latin typeface="Calibri"/>
                <a:cs typeface="Calibri"/>
              </a:rPr>
              <a:t>a </a:t>
            </a:r>
            <a:r>
              <a:rPr sz="2405" b="1" spc="-5">
                <a:solidFill>
                  <a:srgbClr val="FF0000"/>
                </a:solidFill>
                <a:latin typeface="Calibri"/>
                <a:cs typeface="Calibri"/>
              </a:rPr>
              <a:t>composição</a:t>
            </a:r>
            <a:r>
              <a:rPr sz="2405" b="1" spc="-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5">
                <a:solidFill>
                  <a:schemeClr val="bg1"/>
                </a:solidFill>
                <a:latin typeface="Calibri"/>
                <a:cs typeface="Calibri"/>
              </a:rPr>
              <a:t>é mais </a:t>
            </a:r>
            <a:r>
              <a:rPr sz="2405" spc="-531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5" spc="-15">
                <a:solidFill>
                  <a:schemeClr val="bg1"/>
                </a:solidFill>
                <a:latin typeface="Calibri"/>
                <a:cs typeface="Calibri"/>
              </a:rPr>
              <a:t>interessante,</a:t>
            </a:r>
            <a:r>
              <a:rPr sz="2405" spc="-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5" spc="-10">
                <a:solidFill>
                  <a:schemeClr val="bg1"/>
                </a:solidFill>
                <a:latin typeface="Calibri"/>
                <a:cs typeface="Calibri"/>
              </a:rPr>
              <a:t>porque:</a:t>
            </a:r>
            <a:endParaRPr sz="2405">
              <a:solidFill>
                <a:schemeClr val="bg1"/>
              </a:solidFill>
              <a:latin typeface="Calibri"/>
              <a:cs typeface="Calibri"/>
            </a:endParaRPr>
          </a:p>
          <a:p>
            <a:pPr marL="737363" marR="153326" lvl="1" indent="-369636">
              <a:spcBef>
                <a:spcPts val="1017"/>
              </a:spcBef>
              <a:buClr>
                <a:srgbClr val="204F52"/>
              </a:buClr>
              <a:buFont typeface="Symbol"/>
              <a:buChar char=""/>
              <a:tabLst>
                <a:tab pos="737363" algn="l"/>
                <a:tab pos="738000" algn="l"/>
              </a:tabLst>
            </a:pP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Apresenta</a:t>
            </a:r>
            <a:r>
              <a:rPr sz="220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um</a:t>
            </a:r>
            <a:r>
              <a:rPr sz="220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b="1" spc="-15">
                <a:solidFill>
                  <a:srgbClr val="FF0000"/>
                </a:solidFill>
                <a:latin typeface="Calibri"/>
                <a:cs typeface="Calibri"/>
              </a:rPr>
              <a:t>encapsulamento</a:t>
            </a:r>
            <a:r>
              <a:rPr sz="2204" b="1" spc="6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mais</a:t>
            </a:r>
            <a:r>
              <a:rPr sz="2204" spc="1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5">
                <a:solidFill>
                  <a:schemeClr val="bg1"/>
                </a:solidFill>
                <a:latin typeface="Calibri"/>
                <a:cs typeface="Calibri"/>
              </a:rPr>
              <a:t>forte,</a:t>
            </a:r>
            <a:r>
              <a:rPr sz="220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5">
                <a:solidFill>
                  <a:schemeClr val="bg1"/>
                </a:solidFill>
                <a:latin typeface="Calibri"/>
                <a:cs typeface="Calibri"/>
              </a:rPr>
              <a:t>visto</a:t>
            </a:r>
            <a:r>
              <a:rPr sz="220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que</a:t>
            </a:r>
            <a:r>
              <a:rPr sz="220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na </a:t>
            </a:r>
            <a:r>
              <a:rPr sz="2204" spc="-15">
                <a:solidFill>
                  <a:schemeClr val="bg1"/>
                </a:solidFill>
                <a:latin typeface="Calibri"/>
                <a:cs typeface="Calibri"/>
              </a:rPr>
              <a:t>herança,</a:t>
            </a:r>
            <a:r>
              <a:rPr sz="220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as </a:t>
            </a:r>
            <a:r>
              <a:rPr sz="220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superclasses</a:t>
            </a:r>
            <a:r>
              <a:rPr sz="220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compartilham</a:t>
            </a:r>
            <a:r>
              <a:rPr sz="2204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sua</a:t>
            </a:r>
            <a:r>
              <a:rPr sz="220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implementação</a:t>
            </a:r>
            <a:r>
              <a:rPr sz="2204" spc="4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5">
                <a:solidFill>
                  <a:schemeClr val="bg1"/>
                </a:solidFill>
                <a:latin typeface="Calibri"/>
                <a:cs typeface="Calibri"/>
              </a:rPr>
              <a:t>com</a:t>
            </a:r>
            <a:r>
              <a:rPr sz="2204" spc="2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suas subclasses.</a:t>
            </a:r>
            <a:endParaRPr sz="2204">
              <a:solidFill>
                <a:schemeClr val="bg1"/>
              </a:solidFill>
              <a:latin typeface="Calibri"/>
              <a:cs typeface="Calibri"/>
            </a:endParaRPr>
          </a:p>
          <a:p>
            <a:pPr marL="737363" marR="122788" lvl="1" indent="-369636">
              <a:spcBef>
                <a:spcPts val="996"/>
              </a:spcBef>
              <a:buClr>
                <a:srgbClr val="204F52"/>
              </a:buClr>
              <a:buFont typeface="Symbol"/>
              <a:buChar char=""/>
              <a:tabLst>
                <a:tab pos="737363" algn="l"/>
                <a:tab pos="738000" algn="l"/>
              </a:tabLst>
            </a:pP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Proporciona</a:t>
            </a:r>
            <a:r>
              <a:rPr sz="2204" spc="-2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menor</a:t>
            </a:r>
            <a:r>
              <a:rPr sz="220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b="1" spc="-10">
                <a:solidFill>
                  <a:srgbClr val="FF0000"/>
                </a:solidFill>
                <a:latin typeface="Calibri"/>
                <a:cs typeface="Calibri"/>
              </a:rPr>
              <a:t>acoplamento</a:t>
            </a:r>
            <a:r>
              <a:rPr sz="2204" b="1" spc="4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5">
                <a:solidFill>
                  <a:schemeClr val="bg1"/>
                </a:solidFill>
                <a:latin typeface="Calibri"/>
                <a:cs typeface="Calibri"/>
              </a:rPr>
              <a:t>entre</a:t>
            </a:r>
            <a:r>
              <a:rPr sz="2204" spc="1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as</a:t>
            </a:r>
            <a:r>
              <a:rPr sz="2204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classes,</a:t>
            </a:r>
            <a:r>
              <a:rPr sz="220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já 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que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 na</a:t>
            </a:r>
            <a:r>
              <a:rPr sz="220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5">
                <a:solidFill>
                  <a:schemeClr val="bg1"/>
                </a:solidFill>
                <a:latin typeface="Calibri"/>
                <a:cs typeface="Calibri"/>
              </a:rPr>
              <a:t>herança, </a:t>
            </a:r>
            <a:r>
              <a:rPr sz="2204" spc="-48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mudar a superclasse</a:t>
            </a:r>
            <a:r>
              <a:rPr sz="220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pode</a:t>
            </a:r>
            <a:r>
              <a:rPr sz="220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20">
                <a:solidFill>
                  <a:schemeClr val="bg1"/>
                </a:solidFill>
                <a:latin typeface="Calibri"/>
                <a:cs typeface="Calibri"/>
              </a:rPr>
              <a:t>afetar</a:t>
            </a:r>
            <a:r>
              <a:rPr sz="220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todas</a:t>
            </a:r>
            <a:r>
              <a:rPr sz="220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as</a:t>
            </a:r>
            <a:r>
              <a:rPr sz="220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suas subclasses.</a:t>
            </a:r>
            <a:endParaRPr sz="2204">
              <a:solidFill>
                <a:schemeClr val="bg1"/>
              </a:solidFill>
              <a:latin typeface="Calibri"/>
              <a:cs typeface="Calibri"/>
            </a:endParaRPr>
          </a:p>
          <a:p>
            <a:pPr marL="737363" marR="5090" lvl="1" indent="-369636">
              <a:spcBef>
                <a:spcPts val="1012"/>
              </a:spcBef>
              <a:buClr>
                <a:srgbClr val="204F52"/>
              </a:buClr>
              <a:buFont typeface="Symbol"/>
              <a:buChar char=""/>
              <a:tabLst>
                <a:tab pos="737363" algn="l"/>
                <a:tab pos="738000" algn="l"/>
              </a:tabLst>
            </a:pP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Melhora</a:t>
            </a:r>
            <a:r>
              <a:rPr sz="220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a </a:t>
            </a:r>
            <a:r>
              <a:rPr sz="2204" b="1" spc="-10">
                <a:solidFill>
                  <a:srgbClr val="FF0000"/>
                </a:solidFill>
                <a:latin typeface="Calibri"/>
                <a:cs typeface="Calibri"/>
              </a:rPr>
              <a:t>coesão</a:t>
            </a:r>
            <a:r>
              <a:rPr sz="2204" b="1" spc="4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5">
                <a:solidFill>
                  <a:schemeClr val="bg1"/>
                </a:solidFill>
                <a:latin typeface="Calibri"/>
                <a:cs typeface="Calibri"/>
              </a:rPr>
              <a:t>entre</a:t>
            </a:r>
            <a:r>
              <a:rPr sz="2204" spc="2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as</a:t>
            </a:r>
            <a:r>
              <a:rPr sz="2204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classes,</a:t>
            </a:r>
            <a:r>
              <a:rPr sz="220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pois</a:t>
            </a:r>
            <a:r>
              <a:rPr sz="220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5">
                <a:solidFill>
                  <a:schemeClr val="bg1"/>
                </a:solidFill>
                <a:latin typeface="Calibri"/>
                <a:cs typeface="Calibri"/>
              </a:rPr>
              <a:t>cada</a:t>
            </a:r>
            <a:r>
              <a:rPr sz="220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classe</a:t>
            </a:r>
            <a:r>
              <a:rPr sz="2204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5">
                <a:solidFill>
                  <a:schemeClr val="bg1"/>
                </a:solidFill>
                <a:latin typeface="Calibri"/>
                <a:cs typeface="Calibri"/>
              </a:rPr>
              <a:t>fica</a:t>
            </a:r>
            <a:r>
              <a:rPr sz="220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20">
                <a:solidFill>
                  <a:schemeClr val="bg1"/>
                </a:solidFill>
                <a:latin typeface="Calibri"/>
                <a:cs typeface="Calibri"/>
              </a:rPr>
              <a:t>focada</a:t>
            </a:r>
            <a:r>
              <a:rPr sz="2204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apenas </a:t>
            </a:r>
            <a:r>
              <a:rPr sz="2204" spc="-481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em</a:t>
            </a:r>
            <a:r>
              <a:rPr sz="2204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suas</a:t>
            </a:r>
            <a:r>
              <a:rPr sz="220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próprias</a:t>
            </a:r>
            <a:r>
              <a:rPr sz="2204" spc="-2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responsabilidades.</a:t>
            </a:r>
            <a:endParaRPr sz="2204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spcBef>
                <a:spcPts val="45"/>
              </a:spcBef>
            </a:pPr>
            <a:endParaRPr sz="2004">
              <a:latin typeface="Calibri"/>
              <a:cs typeface="Calibri"/>
            </a:endParaRPr>
          </a:p>
          <a:p>
            <a:pPr marL="326374" marR="463158" algn="ctr"/>
            <a:r>
              <a:rPr sz="1703" b="1" i="1" spc="-10">
                <a:latin typeface="Calibri"/>
                <a:cs typeface="Calibri"/>
              </a:rPr>
              <a:t>Encapsulamento:</a:t>
            </a:r>
            <a:r>
              <a:rPr sz="1703" b="1" i="1" spc="10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Diz</a:t>
            </a:r>
            <a:r>
              <a:rPr sz="1703" i="1" spc="15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respeito </a:t>
            </a:r>
            <a:r>
              <a:rPr sz="1703" i="1">
                <a:latin typeface="Calibri"/>
                <a:cs typeface="Calibri"/>
              </a:rPr>
              <a:t>à</a:t>
            </a:r>
            <a:r>
              <a:rPr sz="1703" i="1" spc="15">
                <a:latin typeface="Calibri"/>
                <a:cs typeface="Calibri"/>
              </a:rPr>
              <a:t> </a:t>
            </a:r>
            <a:r>
              <a:rPr sz="1703" b="1" i="1">
                <a:solidFill>
                  <a:srgbClr val="FF0000"/>
                </a:solidFill>
                <a:latin typeface="Calibri"/>
                <a:cs typeface="Calibri"/>
              </a:rPr>
              <a:t>privacidade</a:t>
            </a:r>
            <a:r>
              <a:rPr sz="1703" b="1" i="1" spc="5">
                <a:latin typeface="Calibri"/>
                <a:cs typeface="Calibri"/>
              </a:rPr>
              <a:t> </a:t>
            </a:r>
            <a:r>
              <a:rPr sz="1703" i="1" spc="-15">
                <a:latin typeface="Calibri"/>
                <a:cs typeface="Calibri"/>
              </a:rPr>
              <a:t>existente</a:t>
            </a:r>
            <a:r>
              <a:rPr sz="1703" i="1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entre</a:t>
            </a:r>
            <a:r>
              <a:rPr sz="1703" i="1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as</a:t>
            </a:r>
            <a:r>
              <a:rPr sz="1703" i="1" spc="15">
                <a:latin typeface="Calibri"/>
                <a:cs typeface="Calibri"/>
              </a:rPr>
              <a:t> </a:t>
            </a:r>
            <a:r>
              <a:rPr sz="1703" i="1">
                <a:latin typeface="Calibri"/>
                <a:cs typeface="Calibri"/>
              </a:rPr>
              <a:t>classes, </a:t>
            </a:r>
            <a:r>
              <a:rPr sz="1703" i="1" spc="-5">
                <a:latin typeface="Calibri"/>
                <a:cs typeface="Calibri"/>
              </a:rPr>
              <a:t>ou</a:t>
            </a:r>
            <a:r>
              <a:rPr sz="1703" i="1" spc="15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seja,</a:t>
            </a:r>
            <a:r>
              <a:rPr sz="1703" i="1" spc="10">
                <a:latin typeface="Calibri"/>
                <a:cs typeface="Calibri"/>
              </a:rPr>
              <a:t> </a:t>
            </a:r>
            <a:r>
              <a:rPr sz="1703" i="1">
                <a:latin typeface="Calibri"/>
                <a:cs typeface="Calibri"/>
              </a:rPr>
              <a:t>o</a:t>
            </a:r>
            <a:r>
              <a:rPr sz="1703" i="1" spc="20">
                <a:latin typeface="Calibri"/>
                <a:cs typeface="Calibri"/>
              </a:rPr>
              <a:t> </a:t>
            </a:r>
            <a:r>
              <a:rPr sz="1703" i="1" spc="-10">
                <a:latin typeface="Calibri"/>
                <a:cs typeface="Calibri"/>
              </a:rPr>
              <a:t>quanto</a:t>
            </a:r>
            <a:r>
              <a:rPr sz="1703" i="1" spc="-5">
                <a:latin typeface="Calibri"/>
                <a:cs typeface="Calibri"/>
              </a:rPr>
              <a:t> </a:t>
            </a:r>
            <a:r>
              <a:rPr sz="1703" i="1">
                <a:latin typeface="Calibri"/>
                <a:cs typeface="Calibri"/>
              </a:rPr>
              <a:t>a </a:t>
            </a:r>
            <a:r>
              <a:rPr sz="1703" i="1" spc="-371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implementação</a:t>
            </a:r>
            <a:r>
              <a:rPr sz="1703" i="1" spc="-15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de</a:t>
            </a:r>
            <a:r>
              <a:rPr sz="1703" i="1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uma</a:t>
            </a:r>
            <a:r>
              <a:rPr sz="1703" i="1" spc="5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classe</a:t>
            </a:r>
            <a:r>
              <a:rPr sz="1703" i="1">
                <a:latin typeface="Calibri"/>
                <a:cs typeface="Calibri"/>
              </a:rPr>
              <a:t> </a:t>
            </a:r>
            <a:r>
              <a:rPr sz="1703" i="1" spc="-15">
                <a:latin typeface="Calibri"/>
                <a:cs typeface="Calibri"/>
              </a:rPr>
              <a:t>está</a:t>
            </a:r>
            <a:r>
              <a:rPr sz="1703" i="1">
                <a:latin typeface="Calibri"/>
                <a:cs typeface="Calibri"/>
              </a:rPr>
              <a:t> visível</a:t>
            </a:r>
            <a:r>
              <a:rPr sz="1703" i="1" spc="-15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para</a:t>
            </a:r>
            <a:r>
              <a:rPr sz="1703" i="1">
                <a:latin typeface="Calibri"/>
                <a:cs typeface="Calibri"/>
              </a:rPr>
              <a:t> outras classes.</a:t>
            </a:r>
            <a:endParaRPr sz="1703">
              <a:latin typeface="Calibri"/>
              <a:cs typeface="Calibri"/>
            </a:endParaRPr>
          </a:p>
          <a:p>
            <a:pPr marR="135512" algn="ctr">
              <a:spcBef>
                <a:spcPts val="601"/>
              </a:spcBef>
            </a:pPr>
            <a:r>
              <a:rPr sz="1703" b="1" i="1" spc="-10">
                <a:latin typeface="Calibri"/>
                <a:cs typeface="Calibri"/>
              </a:rPr>
              <a:t>Acoplamento:</a:t>
            </a:r>
            <a:r>
              <a:rPr sz="1703" b="1" i="1" spc="-5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Diz</a:t>
            </a:r>
            <a:r>
              <a:rPr sz="1703" i="1" spc="5">
                <a:latin typeface="Calibri"/>
                <a:cs typeface="Calibri"/>
              </a:rPr>
              <a:t> </a:t>
            </a:r>
            <a:r>
              <a:rPr sz="1703" i="1">
                <a:latin typeface="Calibri"/>
                <a:cs typeface="Calibri"/>
              </a:rPr>
              <a:t>respeito</a:t>
            </a:r>
            <a:r>
              <a:rPr sz="1703" i="1" spc="5">
                <a:latin typeface="Calibri"/>
                <a:cs typeface="Calibri"/>
              </a:rPr>
              <a:t> </a:t>
            </a:r>
            <a:r>
              <a:rPr sz="1703" i="1">
                <a:latin typeface="Calibri"/>
                <a:cs typeface="Calibri"/>
              </a:rPr>
              <a:t>à</a:t>
            </a:r>
            <a:r>
              <a:rPr sz="1703" i="1" spc="-5">
                <a:latin typeface="Calibri"/>
                <a:cs typeface="Calibri"/>
              </a:rPr>
              <a:t> </a:t>
            </a:r>
            <a:r>
              <a:rPr sz="1703" b="1" i="1">
                <a:solidFill>
                  <a:srgbClr val="FF0000"/>
                </a:solidFill>
                <a:latin typeface="Calibri"/>
                <a:cs typeface="Calibri"/>
              </a:rPr>
              <a:t>dependência</a:t>
            </a:r>
            <a:r>
              <a:rPr sz="1703" b="1" i="1" spc="-5">
                <a:latin typeface="Calibri"/>
                <a:cs typeface="Calibri"/>
              </a:rPr>
              <a:t> </a:t>
            </a:r>
            <a:r>
              <a:rPr sz="1703" i="1" spc="-15">
                <a:latin typeface="Calibri"/>
                <a:cs typeface="Calibri"/>
              </a:rPr>
              <a:t>existente</a:t>
            </a:r>
            <a:r>
              <a:rPr sz="1703" i="1" spc="-10">
                <a:latin typeface="Calibri"/>
                <a:cs typeface="Calibri"/>
              </a:rPr>
              <a:t> </a:t>
            </a:r>
            <a:r>
              <a:rPr sz="1703" i="1">
                <a:latin typeface="Calibri"/>
                <a:cs typeface="Calibri"/>
              </a:rPr>
              <a:t>entre</a:t>
            </a:r>
            <a:r>
              <a:rPr sz="1703" i="1" spc="-10">
                <a:latin typeface="Calibri"/>
                <a:cs typeface="Calibri"/>
              </a:rPr>
              <a:t> </a:t>
            </a:r>
            <a:r>
              <a:rPr sz="1703" i="1">
                <a:latin typeface="Calibri"/>
                <a:cs typeface="Calibri"/>
              </a:rPr>
              <a:t>as</a:t>
            </a:r>
            <a:r>
              <a:rPr sz="1703" i="1" spc="5">
                <a:latin typeface="Calibri"/>
                <a:cs typeface="Calibri"/>
              </a:rPr>
              <a:t> </a:t>
            </a:r>
            <a:r>
              <a:rPr sz="1703" i="1">
                <a:latin typeface="Calibri"/>
                <a:cs typeface="Calibri"/>
              </a:rPr>
              <a:t>classes,</a:t>
            </a:r>
            <a:r>
              <a:rPr sz="1703" i="1" spc="5">
                <a:latin typeface="Calibri"/>
                <a:cs typeface="Calibri"/>
              </a:rPr>
              <a:t> </a:t>
            </a:r>
            <a:r>
              <a:rPr sz="1703" i="1">
                <a:latin typeface="Calibri"/>
                <a:cs typeface="Calibri"/>
              </a:rPr>
              <a:t>ou</a:t>
            </a:r>
            <a:r>
              <a:rPr sz="1703" i="1" spc="10">
                <a:latin typeface="Calibri"/>
                <a:cs typeface="Calibri"/>
              </a:rPr>
              <a:t> </a:t>
            </a:r>
            <a:r>
              <a:rPr sz="1703" i="1">
                <a:latin typeface="Calibri"/>
                <a:cs typeface="Calibri"/>
              </a:rPr>
              <a:t>seja,</a:t>
            </a:r>
            <a:r>
              <a:rPr sz="1703" i="1" spc="5">
                <a:latin typeface="Calibri"/>
                <a:cs typeface="Calibri"/>
              </a:rPr>
              <a:t> </a:t>
            </a:r>
            <a:r>
              <a:rPr sz="1703" i="1">
                <a:latin typeface="Calibri"/>
                <a:cs typeface="Calibri"/>
              </a:rPr>
              <a:t>o</a:t>
            </a:r>
            <a:r>
              <a:rPr sz="1703" i="1" spc="5">
                <a:latin typeface="Calibri"/>
                <a:cs typeface="Calibri"/>
              </a:rPr>
              <a:t> </a:t>
            </a:r>
            <a:r>
              <a:rPr sz="1703" i="1" spc="-10">
                <a:latin typeface="Calibri"/>
                <a:cs typeface="Calibri"/>
              </a:rPr>
              <a:t>quanto </a:t>
            </a:r>
            <a:r>
              <a:rPr sz="1703" i="1" spc="-5">
                <a:latin typeface="Calibri"/>
                <a:cs typeface="Calibri"/>
              </a:rPr>
              <a:t>uma</a:t>
            </a:r>
            <a:endParaRPr sz="1703">
              <a:latin typeface="Calibri"/>
              <a:cs typeface="Calibri"/>
            </a:endParaRPr>
          </a:p>
          <a:p>
            <a:pPr marR="136148" algn="ctr"/>
            <a:r>
              <a:rPr sz="1703" i="1" spc="-5">
                <a:latin typeface="Calibri"/>
                <a:cs typeface="Calibri"/>
              </a:rPr>
              <a:t>classe</a:t>
            </a:r>
            <a:r>
              <a:rPr sz="1703" i="1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pode</a:t>
            </a:r>
            <a:r>
              <a:rPr sz="1703" i="1" spc="5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ser</a:t>
            </a:r>
            <a:r>
              <a:rPr sz="1703" i="1" spc="5">
                <a:latin typeface="Calibri"/>
                <a:cs typeface="Calibri"/>
              </a:rPr>
              <a:t> </a:t>
            </a:r>
            <a:r>
              <a:rPr sz="1703" i="1" spc="-10">
                <a:latin typeface="Calibri"/>
                <a:cs typeface="Calibri"/>
              </a:rPr>
              <a:t>afetada</a:t>
            </a:r>
            <a:r>
              <a:rPr sz="1703" i="1" spc="5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por</a:t>
            </a:r>
            <a:r>
              <a:rPr sz="1703" i="1" spc="5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mudanças</a:t>
            </a:r>
            <a:r>
              <a:rPr sz="1703" i="1" spc="20">
                <a:latin typeface="Calibri"/>
                <a:cs typeface="Calibri"/>
              </a:rPr>
              <a:t> </a:t>
            </a:r>
            <a:r>
              <a:rPr sz="1703" i="1">
                <a:latin typeface="Calibri"/>
                <a:cs typeface="Calibri"/>
              </a:rPr>
              <a:t>em </a:t>
            </a:r>
            <a:r>
              <a:rPr sz="1703" i="1" spc="-5">
                <a:latin typeface="Calibri"/>
                <a:cs typeface="Calibri"/>
              </a:rPr>
              <a:t>outras</a:t>
            </a:r>
            <a:r>
              <a:rPr sz="1703" i="1" spc="5">
                <a:latin typeface="Calibri"/>
                <a:cs typeface="Calibri"/>
              </a:rPr>
              <a:t> </a:t>
            </a:r>
            <a:r>
              <a:rPr sz="1703" i="1">
                <a:latin typeface="Calibri"/>
                <a:cs typeface="Calibri"/>
              </a:rPr>
              <a:t>classes</a:t>
            </a:r>
            <a:r>
              <a:rPr sz="1703" i="1" spc="5">
                <a:latin typeface="Calibri"/>
                <a:cs typeface="Calibri"/>
              </a:rPr>
              <a:t> às</a:t>
            </a:r>
            <a:r>
              <a:rPr sz="1703" i="1" spc="10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quais</a:t>
            </a:r>
            <a:r>
              <a:rPr sz="1703" i="1" spc="-10">
                <a:latin typeface="Calibri"/>
                <a:cs typeface="Calibri"/>
              </a:rPr>
              <a:t> </a:t>
            </a:r>
            <a:r>
              <a:rPr sz="1703" i="1">
                <a:latin typeface="Calibri"/>
                <a:cs typeface="Calibri"/>
              </a:rPr>
              <a:t>ela </a:t>
            </a:r>
            <a:r>
              <a:rPr sz="1703" i="1" spc="-10">
                <a:latin typeface="Calibri"/>
                <a:cs typeface="Calibri"/>
              </a:rPr>
              <a:t>está</a:t>
            </a:r>
            <a:r>
              <a:rPr sz="1703" i="1" spc="5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associada.</a:t>
            </a:r>
            <a:endParaRPr sz="1703">
              <a:latin typeface="Calibri"/>
              <a:cs typeface="Calibri"/>
            </a:endParaRPr>
          </a:p>
          <a:p>
            <a:pPr marL="318739" marR="455523" algn="ctr">
              <a:spcBef>
                <a:spcPts val="601"/>
              </a:spcBef>
            </a:pPr>
            <a:r>
              <a:rPr sz="1703" b="1" i="1" spc="-5">
                <a:latin typeface="Calibri"/>
                <a:cs typeface="Calibri"/>
              </a:rPr>
              <a:t>Coesão:</a:t>
            </a:r>
            <a:r>
              <a:rPr sz="1703" b="1" i="1" spc="15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Diz</a:t>
            </a:r>
            <a:r>
              <a:rPr sz="1703" i="1" spc="10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respeito </a:t>
            </a:r>
            <a:r>
              <a:rPr sz="1703" i="1">
                <a:latin typeface="Calibri"/>
                <a:cs typeface="Calibri"/>
              </a:rPr>
              <a:t>à</a:t>
            </a:r>
            <a:r>
              <a:rPr sz="1703" i="1" spc="20">
                <a:latin typeface="Calibri"/>
                <a:cs typeface="Calibri"/>
              </a:rPr>
              <a:t> </a:t>
            </a:r>
            <a:r>
              <a:rPr sz="1703" b="1" i="1" spc="-5">
                <a:solidFill>
                  <a:srgbClr val="FF0000"/>
                </a:solidFill>
                <a:latin typeface="Calibri"/>
                <a:cs typeface="Calibri"/>
              </a:rPr>
              <a:t>responsabilidade</a:t>
            </a:r>
            <a:r>
              <a:rPr sz="1703" b="1" i="1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de</a:t>
            </a:r>
            <a:r>
              <a:rPr sz="1703" i="1" spc="10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cada</a:t>
            </a:r>
            <a:r>
              <a:rPr sz="1703" i="1" spc="15">
                <a:latin typeface="Calibri"/>
                <a:cs typeface="Calibri"/>
              </a:rPr>
              <a:t> </a:t>
            </a:r>
            <a:r>
              <a:rPr sz="1703" i="1">
                <a:latin typeface="Calibri"/>
                <a:cs typeface="Calibri"/>
              </a:rPr>
              <a:t>classe, </a:t>
            </a:r>
            <a:r>
              <a:rPr sz="1703" i="1" spc="-5">
                <a:latin typeface="Calibri"/>
                <a:cs typeface="Calibri"/>
              </a:rPr>
              <a:t>ou</a:t>
            </a:r>
            <a:r>
              <a:rPr sz="1703" i="1" spc="10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seja,</a:t>
            </a:r>
            <a:r>
              <a:rPr sz="1703" i="1" spc="5">
                <a:latin typeface="Calibri"/>
                <a:cs typeface="Calibri"/>
              </a:rPr>
              <a:t> </a:t>
            </a:r>
            <a:r>
              <a:rPr sz="1703" i="1">
                <a:latin typeface="Calibri"/>
                <a:cs typeface="Calibri"/>
              </a:rPr>
              <a:t>o</a:t>
            </a:r>
            <a:r>
              <a:rPr sz="1703" i="1" spc="10">
                <a:latin typeface="Calibri"/>
                <a:cs typeface="Calibri"/>
              </a:rPr>
              <a:t> </a:t>
            </a:r>
            <a:r>
              <a:rPr sz="1703" i="1" spc="-10">
                <a:latin typeface="Calibri"/>
                <a:cs typeface="Calibri"/>
              </a:rPr>
              <a:t>quanto</a:t>
            </a:r>
            <a:r>
              <a:rPr sz="1703" i="1" spc="10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cada</a:t>
            </a:r>
            <a:r>
              <a:rPr sz="1703" i="1" spc="5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classe</a:t>
            </a:r>
            <a:r>
              <a:rPr sz="1703" i="1" spc="10">
                <a:latin typeface="Calibri"/>
                <a:cs typeface="Calibri"/>
              </a:rPr>
              <a:t> </a:t>
            </a:r>
            <a:r>
              <a:rPr sz="1703" i="1" spc="-15">
                <a:latin typeface="Calibri"/>
                <a:cs typeface="Calibri"/>
              </a:rPr>
              <a:t>está </a:t>
            </a:r>
            <a:r>
              <a:rPr sz="1703" i="1" spc="-371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assumindo</a:t>
            </a:r>
            <a:r>
              <a:rPr sz="1703" i="1" spc="5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apenas</a:t>
            </a:r>
            <a:r>
              <a:rPr sz="1703" i="1" spc="5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as</a:t>
            </a:r>
            <a:r>
              <a:rPr sz="1703" i="1" spc="5">
                <a:latin typeface="Calibri"/>
                <a:cs typeface="Calibri"/>
              </a:rPr>
              <a:t> </a:t>
            </a:r>
            <a:r>
              <a:rPr sz="1703" i="1">
                <a:latin typeface="Calibri"/>
                <a:cs typeface="Calibri"/>
              </a:rPr>
              <a:t>responsabilidades</a:t>
            </a:r>
            <a:r>
              <a:rPr sz="1703" i="1" spc="-25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que</a:t>
            </a:r>
            <a:r>
              <a:rPr sz="1703" i="1" spc="5">
                <a:latin typeface="Calibri"/>
                <a:cs typeface="Calibri"/>
              </a:rPr>
              <a:t> </a:t>
            </a:r>
            <a:r>
              <a:rPr sz="1703" i="1" spc="-10">
                <a:latin typeface="Calibri"/>
                <a:cs typeface="Calibri"/>
              </a:rPr>
              <a:t>estão</a:t>
            </a:r>
            <a:r>
              <a:rPr sz="1703" i="1" spc="5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dentro de</a:t>
            </a:r>
            <a:r>
              <a:rPr sz="1703" i="1" spc="5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seu</a:t>
            </a:r>
            <a:r>
              <a:rPr sz="1703" i="1" spc="5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limite de</a:t>
            </a:r>
            <a:r>
              <a:rPr sz="1703" i="1" spc="5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competência.</a:t>
            </a:r>
            <a:endParaRPr sz="1703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5005" y="325595"/>
            <a:ext cx="4785968" cy="636178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spc="-20">
                <a:solidFill>
                  <a:schemeClr val="bg1"/>
                </a:solidFill>
              </a:rPr>
              <a:t>Herança</a:t>
            </a:r>
            <a:r>
              <a:rPr spc="-15">
                <a:solidFill>
                  <a:schemeClr val="bg1"/>
                </a:solidFill>
              </a:rPr>
              <a:t> </a:t>
            </a:r>
            <a:r>
              <a:rPr spc="-5">
                <a:solidFill>
                  <a:schemeClr val="bg1"/>
                </a:solidFill>
              </a:rPr>
              <a:t>x</a:t>
            </a:r>
            <a:r>
              <a:rPr spc="-40">
                <a:solidFill>
                  <a:schemeClr val="bg1"/>
                </a:solidFill>
              </a:rPr>
              <a:t> </a:t>
            </a:r>
            <a:r>
              <a:rPr spc="-10">
                <a:solidFill>
                  <a:schemeClr val="bg1"/>
                </a:solidFill>
              </a:rPr>
              <a:t>Composição</a:t>
            </a:r>
          </a:p>
        </p:txBody>
      </p:sp>
      <p:sp>
        <p:nvSpPr>
          <p:cNvPr id="3" name="object 3"/>
          <p:cNvSpPr/>
          <p:nvPr/>
        </p:nvSpPr>
        <p:spPr>
          <a:xfrm>
            <a:off x="2307686" y="3673547"/>
            <a:ext cx="7609963" cy="1696687"/>
          </a:xfrm>
          <a:custGeom>
            <a:avLst/>
            <a:gdLst/>
            <a:ahLst/>
            <a:cxnLst/>
            <a:rect l="l" t="t" r="r" b="b"/>
            <a:pathLst>
              <a:path w="7595870" h="1693545">
                <a:moveTo>
                  <a:pt x="7212965" y="0"/>
                </a:moveTo>
                <a:lnTo>
                  <a:pt x="382650" y="0"/>
                </a:lnTo>
                <a:lnTo>
                  <a:pt x="334650" y="2981"/>
                </a:lnTo>
                <a:lnTo>
                  <a:pt x="288429" y="11686"/>
                </a:lnTo>
                <a:lnTo>
                  <a:pt x="244346" y="25757"/>
                </a:lnTo>
                <a:lnTo>
                  <a:pt x="202761" y="44834"/>
                </a:lnTo>
                <a:lnTo>
                  <a:pt x="164030" y="68559"/>
                </a:lnTo>
                <a:lnTo>
                  <a:pt x="128513" y="96573"/>
                </a:lnTo>
                <a:lnTo>
                  <a:pt x="96569" y="128518"/>
                </a:lnTo>
                <a:lnTo>
                  <a:pt x="68556" y="164036"/>
                </a:lnTo>
                <a:lnTo>
                  <a:pt x="44831" y="202766"/>
                </a:lnTo>
                <a:lnTo>
                  <a:pt x="25755" y="244352"/>
                </a:lnTo>
                <a:lnTo>
                  <a:pt x="11686" y="288433"/>
                </a:lnTo>
                <a:lnTo>
                  <a:pt x="2981" y="334652"/>
                </a:lnTo>
                <a:lnTo>
                  <a:pt x="0" y="382651"/>
                </a:lnTo>
                <a:lnTo>
                  <a:pt x="0" y="1310513"/>
                </a:lnTo>
                <a:lnTo>
                  <a:pt x="2981" y="1358511"/>
                </a:lnTo>
                <a:lnTo>
                  <a:pt x="11686" y="1404730"/>
                </a:lnTo>
                <a:lnTo>
                  <a:pt x="25755" y="1448811"/>
                </a:lnTo>
                <a:lnTo>
                  <a:pt x="44831" y="1490397"/>
                </a:lnTo>
                <a:lnTo>
                  <a:pt x="68556" y="1529127"/>
                </a:lnTo>
                <a:lnTo>
                  <a:pt x="96569" y="1564645"/>
                </a:lnTo>
                <a:lnTo>
                  <a:pt x="128513" y="1596590"/>
                </a:lnTo>
                <a:lnTo>
                  <a:pt x="164030" y="1624604"/>
                </a:lnTo>
                <a:lnTo>
                  <a:pt x="202761" y="1648329"/>
                </a:lnTo>
                <a:lnTo>
                  <a:pt x="244346" y="1667406"/>
                </a:lnTo>
                <a:lnTo>
                  <a:pt x="288429" y="1681477"/>
                </a:lnTo>
                <a:lnTo>
                  <a:pt x="334650" y="1690182"/>
                </a:lnTo>
                <a:lnTo>
                  <a:pt x="382650" y="1693164"/>
                </a:lnTo>
                <a:lnTo>
                  <a:pt x="7212965" y="1693164"/>
                </a:lnTo>
                <a:lnTo>
                  <a:pt x="7260963" y="1690182"/>
                </a:lnTo>
                <a:lnTo>
                  <a:pt x="7307182" y="1681477"/>
                </a:lnTo>
                <a:lnTo>
                  <a:pt x="7351263" y="1667406"/>
                </a:lnTo>
                <a:lnTo>
                  <a:pt x="7392849" y="1648329"/>
                </a:lnTo>
                <a:lnTo>
                  <a:pt x="7431579" y="1624604"/>
                </a:lnTo>
                <a:lnTo>
                  <a:pt x="7467097" y="1596590"/>
                </a:lnTo>
                <a:lnTo>
                  <a:pt x="7499042" y="1564645"/>
                </a:lnTo>
                <a:lnTo>
                  <a:pt x="7527056" y="1529127"/>
                </a:lnTo>
                <a:lnTo>
                  <a:pt x="7550781" y="1490397"/>
                </a:lnTo>
                <a:lnTo>
                  <a:pt x="7569858" y="1448811"/>
                </a:lnTo>
                <a:lnTo>
                  <a:pt x="7583929" y="1404730"/>
                </a:lnTo>
                <a:lnTo>
                  <a:pt x="7592634" y="1358511"/>
                </a:lnTo>
                <a:lnTo>
                  <a:pt x="7595616" y="1310513"/>
                </a:lnTo>
                <a:lnTo>
                  <a:pt x="7595616" y="382651"/>
                </a:lnTo>
                <a:lnTo>
                  <a:pt x="7592634" y="334652"/>
                </a:lnTo>
                <a:lnTo>
                  <a:pt x="7583929" y="288433"/>
                </a:lnTo>
                <a:lnTo>
                  <a:pt x="7569858" y="244352"/>
                </a:lnTo>
                <a:lnTo>
                  <a:pt x="7550781" y="202766"/>
                </a:lnTo>
                <a:lnTo>
                  <a:pt x="7527056" y="164036"/>
                </a:lnTo>
                <a:lnTo>
                  <a:pt x="7499042" y="128518"/>
                </a:lnTo>
                <a:lnTo>
                  <a:pt x="7467097" y="96573"/>
                </a:lnTo>
                <a:lnTo>
                  <a:pt x="7431579" y="68559"/>
                </a:lnTo>
                <a:lnTo>
                  <a:pt x="7392849" y="44834"/>
                </a:lnTo>
                <a:lnTo>
                  <a:pt x="7351263" y="25757"/>
                </a:lnTo>
                <a:lnTo>
                  <a:pt x="7307182" y="11686"/>
                </a:lnTo>
                <a:lnTo>
                  <a:pt x="7260963" y="2981"/>
                </a:lnTo>
                <a:lnTo>
                  <a:pt x="7212965" y="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 sz="1803"/>
          </a:p>
        </p:txBody>
      </p:sp>
      <p:sp>
        <p:nvSpPr>
          <p:cNvPr id="4" name="object 4"/>
          <p:cNvSpPr txBox="1"/>
          <p:nvPr/>
        </p:nvSpPr>
        <p:spPr>
          <a:xfrm>
            <a:off x="1825005" y="1201740"/>
            <a:ext cx="8785620" cy="5044256"/>
          </a:xfrm>
          <a:prstGeom prst="rect">
            <a:avLst/>
          </a:prstGeom>
        </p:spPr>
        <p:txBody>
          <a:bodyPr vert="horz" wrap="square" lIns="0" tIns="13360" rIns="0" bIns="0" rtlCol="0">
            <a:spAutoFit/>
          </a:bodyPr>
          <a:lstStyle/>
          <a:p>
            <a:pPr marL="365183" indent="-353095">
              <a:spcBef>
                <a:spcPts val="105"/>
              </a:spcBef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r>
              <a:rPr sz="2605">
                <a:solidFill>
                  <a:schemeClr val="bg1"/>
                </a:solidFill>
                <a:latin typeface="Calibri"/>
                <a:cs typeface="Calibri"/>
              </a:rPr>
              <a:t>Quando</a:t>
            </a:r>
            <a:r>
              <a:rPr sz="2605" spc="-2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605" spc="-5">
                <a:solidFill>
                  <a:schemeClr val="bg1"/>
                </a:solidFill>
                <a:latin typeface="Calibri"/>
                <a:cs typeface="Calibri"/>
              </a:rPr>
              <a:t>usar</a:t>
            </a:r>
            <a:r>
              <a:rPr sz="2605" spc="-15">
                <a:solidFill>
                  <a:schemeClr val="bg1"/>
                </a:solidFill>
                <a:latin typeface="Calibri"/>
                <a:cs typeface="Calibri"/>
              </a:rPr>
              <a:t> herança</a:t>
            </a:r>
            <a:r>
              <a:rPr sz="2605" spc="-3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605" spc="-10">
                <a:solidFill>
                  <a:schemeClr val="bg1"/>
                </a:solidFill>
                <a:latin typeface="Calibri"/>
                <a:cs typeface="Calibri"/>
              </a:rPr>
              <a:t>então?</a:t>
            </a:r>
            <a:endParaRPr sz="2605">
              <a:solidFill>
                <a:schemeClr val="bg1"/>
              </a:solidFill>
              <a:latin typeface="Calibri"/>
              <a:cs typeface="Calibri"/>
            </a:endParaRPr>
          </a:p>
          <a:p>
            <a:pPr marL="641296" lvl="1" indent="-279931">
              <a:spcBef>
                <a:spcPts val="1808"/>
              </a:spcBef>
              <a:buClr>
                <a:srgbClr val="204F52"/>
              </a:buClr>
              <a:buFont typeface="Symbol"/>
              <a:buChar char=""/>
              <a:tabLst>
                <a:tab pos="641296" algn="l"/>
                <a:tab pos="641932" algn="l"/>
              </a:tabLst>
            </a:pPr>
            <a:r>
              <a:rPr sz="2354">
                <a:solidFill>
                  <a:schemeClr val="bg1"/>
                </a:solidFill>
                <a:latin typeface="Calibri"/>
                <a:cs typeface="Calibri"/>
              </a:rPr>
              <a:t>Quando</a:t>
            </a:r>
            <a:r>
              <a:rPr sz="2354" spc="-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35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spc="-20">
                <a:solidFill>
                  <a:schemeClr val="bg1"/>
                </a:solidFill>
                <a:latin typeface="Calibri"/>
                <a:cs typeface="Calibri"/>
              </a:rPr>
              <a:t>provável</a:t>
            </a:r>
            <a:r>
              <a:rPr sz="235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spc="-5">
                <a:solidFill>
                  <a:schemeClr val="bg1"/>
                </a:solidFill>
                <a:latin typeface="Calibri"/>
                <a:cs typeface="Calibri"/>
              </a:rPr>
              <a:t>subclasse</a:t>
            </a:r>
            <a:r>
              <a:rPr sz="235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spc="-5">
                <a:solidFill>
                  <a:schemeClr val="bg1"/>
                </a:solidFill>
                <a:latin typeface="Calibri"/>
                <a:cs typeface="Calibri"/>
              </a:rPr>
              <a:t>tiver</a:t>
            </a:r>
            <a:r>
              <a:rPr sz="235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>
                <a:solidFill>
                  <a:schemeClr val="bg1"/>
                </a:solidFill>
                <a:latin typeface="Calibri"/>
                <a:cs typeface="Calibri"/>
              </a:rPr>
              <a:t>um</a:t>
            </a:r>
            <a:r>
              <a:rPr sz="235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spc="-5">
                <a:solidFill>
                  <a:schemeClr val="bg1"/>
                </a:solidFill>
                <a:latin typeface="Calibri"/>
                <a:cs typeface="Calibri"/>
              </a:rPr>
              <a:t>relacionamento</a:t>
            </a:r>
            <a:r>
              <a:rPr sz="235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spc="-5">
                <a:solidFill>
                  <a:schemeClr val="bg1"/>
                </a:solidFill>
                <a:latin typeface="Calibri"/>
                <a:cs typeface="Calibri"/>
              </a:rPr>
              <a:t>do </a:t>
            </a:r>
            <a:r>
              <a:rPr sz="2354">
                <a:solidFill>
                  <a:schemeClr val="bg1"/>
                </a:solidFill>
                <a:latin typeface="Calibri"/>
                <a:cs typeface="Calibri"/>
              </a:rPr>
              <a:t>tipo</a:t>
            </a:r>
            <a:r>
              <a:rPr sz="2354" spc="-4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b="1" spc="-50">
                <a:solidFill>
                  <a:schemeClr val="bg1"/>
                </a:solidFill>
                <a:latin typeface="Calibri"/>
                <a:cs typeface="Calibri"/>
              </a:rPr>
              <a:t>“é</a:t>
            </a:r>
            <a:endParaRPr sz="2354">
              <a:solidFill>
                <a:schemeClr val="bg1"/>
              </a:solidFill>
              <a:latin typeface="Calibri"/>
              <a:cs typeface="Calibri"/>
            </a:endParaRPr>
          </a:p>
          <a:p>
            <a:pPr marL="641296">
              <a:spcBef>
                <a:spcPts val="5"/>
              </a:spcBef>
            </a:pPr>
            <a:r>
              <a:rPr sz="2354" b="1" spc="-5">
                <a:solidFill>
                  <a:schemeClr val="bg1"/>
                </a:solidFill>
                <a:latin typeface="Calibri"/>
                <a:cs typeface="Calibri"/>
              </a:rPr>
              <a:t>um”</a:t>
            </a:r>
            <a:r>
              <a:rPr sz="2354" spc="-5">
                <a:solidFill>
                  <a:schemeClr val="bg1"/>
                </a:solidFill>
                <a:latin typeface="Calibri"/>
                <a:cs typeface="Calibri"/>
              </a:rPr>
              <a:t>,</a:t>
            </a:r>
            <a:r>
              <a:rPr sz="2354" spc="1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>
                <a:solidFill>
                  <a:schemeClr val="bg1"/>
                </a:solidFill>
                <a:latin typeface="Calibri"/>
                <a:cs typeface="Calibri"/>
              </a:rPr>
              <a:t>e </a:t>
            </a:r>
            <a:r>
              <a:rPr sz="2354" spc="-5">
                <a:solidFill>
                  <a:schemeClr val="bg1"/>
                </a:solidFill>
                <a:latin typeface="Calibri"/>
                <a:cs typeface="Calibri"/>
              </a:rPr>
              <a:t>não</a:t>
            </a:r>
            <a:r>
              <a:rPr sz="235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b="1" spc="-10">
                <a:solidFill>
                  <a:schemeClr val="bg1"/>
                </a:solidFill>
                <a:latin typeface="Calibri"/>
                <a:cs typeface="Calibri"/>
              </a:rPr>
              <a:t>“tem</a:t>
            </a:r>
            <a:r>
              <a:rPr sz="2354" b="1" spc="-5">
                <a:solidFill>
                  <a:schemeClr val="bg1"/>
                </a:solidFill>
                <a:latin typeface="Calibri"/>
                <a:cs typeface="Calibri"/>
              </a:rPr>
              <a:t> um”</a:t>
            </a:r>
            <a:r>
              <a:rPr sz="2354" spc="-5">
                <a:solidFill>
                  <a:schemeClr val="bg1"/>
                </a:solidFill>
                <a:latin typeface="Calibri"/>
                <a:cs typeface="Calibri"/>
              </a:rPr>
              <a:t>,</a:t>
            </a:r>
            <a:r>
              <a:rPr sz="2354" spc="2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spc="-10">
                <a:solidFill>
                  <a:schemeClr val="bg1"/>
                </a:solidFill>
                <a:latin typeface="Calibri"/>
                <a:cs typeface="Calibri"/>
              </a:rPr>
              <a:t>com </a:t>
            </a:r>
            <a:r>
              <a:rPr sz="2354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354" spc="-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spc="-5">
                <a:solidFill>
                  <a:schemeClr val="bg1"/>
                </a:solidFill>
                <a:latin typeface="Calibri"/>
                <a:cs typeface="Calibri"/>
              </a:rPr>
              <a:t>superclasse.</a:t>
            </a:r>
            <a:endParaRPr sz="2354">
              <a:solidFill>
                <a:schemeClr val="bg1"/>
              </a:solidFill>
              <a:latin typeface="Calibri"/>
              <a:cs typeface="Calibri"/>
            </a:endParaRPr>
          </a:p>
          <a:p>
            <a:pPr marL="641296" marR="421169" lvl="1" indent="-279931">
              <a:spcBef>
                <a:spcPts val="1803"/>
              </a:spcBef>
              <a:buClr>
                <a:srgbClr val="204F52"/>
              </a:buClr>
              <a:buFont typeface="Symbol"/>
              <a:buChar char=""/>
              <a:tabLst>
                <a:tab pos="641296" algn="l"/>
                <a:tab pos="641932" algn="l"/>
              </a:tabLst>
            </a:pPr>
            <a:r>
              <a:rPr sz="2354">
                <a:solidFill>
                  <a:schemeClr val="bg1"/>
                </a:solidFill>
                <a:latin typeface="Calibri"/>
                <a:cs typeface="Calibri"/>
              </a:rPr>
              <a:t>Quando</a:t>
            </a:r>
            <a:r>
              <a:rPr sz="2354" spc="-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35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spc="-20">
                <a:solidFill>
                  <a:schemeClr val="bg1"/>
                </a:solidFill>
                <a:latin typeface="Calibri"/>
                <a:cs typeface="Calibri"/>
              </a:rPr>
              <a:t>provável</a:t>
            </a:r>
            <a:r>
              <a:rPr sz="235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spc="-5">
                <a:solidFill>
                  <a:schemeClr val="bg1"/>
                </a:solidFill>
                <a:latin typeface="Calibri"/>
                <a:cs typeface="Calibri"/>
              </a:rPr>
              <a:t>subclasse</a:t>
            </a:r>
            <a:r>
              <a:rPr sz="235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spc="-20">
                <a:solidFill>
                  <a:schemeClr val="bg1"/>
                </a:solidFill>
                <a:latin typeface="Calibri"/>
                <a:cs typeface="Calibri"/>
              </a:rPr>
              <a:t>for</a:t>
            </a:r>
            <a:r>
              <a:rPr sz="2354" spc="-1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b="1" spc="-5">
                <a:solidFill>
                  <a:schemeClr val="bg1"/>
                </a:solidFill>
                <a:latin typeface="Calibri"/>
                <a:cs typeface="Calibri"/>
              </a:rPr>
              <a:t>“um</a:t>
            </a:r>
            <a:r>
              <a:rPr sz="2354" b="1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b="1">
                <a:solidFill>
                  <a:schemeClr val="bg1"/>
                </a:solidFill>
                <a:latin typeface="Calibri"/>
                <a:cs typeface="Calibri"/>
              </a:rPr>
              <a:t>tipo</a:t>
            </a:r>
            <a:r>
              <a:rPr sz="2354" b="1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b="1">
                <a:solidFill>
                  <a:schemeClr val="bg1"/>
                </a:solidFill>
                <a:latin typeface="Calibri"/>
                <a:cs typeface="Calibri"/>
              </a:rPr>
              <a:t>de”</a:t>
            </a:r>
            <a:r>
              <a:rPr sz="2354" b="1" spc="-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>
                <a:solidFill>
                  <a:schemeClr val="bg1"/>
                </a:solidFill>
                <a:latin typeface="Calibri"/>
                <a:cs typeface="Calibri"/>
              </a:rPr>
              <a:t>e</a:t>
            </a:r>
            <a:r>
              <a:rPr sz="2354" spc="1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spc="-5">
                <a:solidFill>
                  <a:schemeClr val="bg1"/>
                </a:solidFill>
                <a:latin typeface="Calibri"/>
                <a:cs typeface="Calibri"/>
              </a:rPr>
              <a:t>não</a:t>
            </a:r>
            <a:r>
              <a:rPr sz="2354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b="1" spc="-5">
                <a:solidFill>
                  <a:schemeClr val="bg1"/>
                </a:solidFill>
                <a:latin typeface="Calibri"/>
                <a:cs typeface="Calibri"/>
              </a:rPr>
              <a:t>“um</a:t>
            </a:r>
            <a:r>
              <a:rPr sz="2354" b="1">
                <a:solidFill>
                  <a:schemeClr val="bg1"/>
                </a:solidFill>
                <a:latin typeface="Calibri"/>
                <a:cs typeface="Calibri"/>
              </a:rPr>
              <a:t> papel </a:t>
            </a:r>
            <a:r>
              <a:rPr sz="2354" b="1" spc="-521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b="1" spc="-5">
                <a:solidFill>
                  <a:schemeClr val="bg1"/>
                </a:solidFill>
                <a:latin typeface="Calibri"/>
                <a:cs typeface="Calibri"/>
              </a:rPr>
              <a:t>desempenhado</a:t>
            </a:r>
            <a:r>
              <a:rPr sz="2354" b="1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b="1">
                <a:solidFill>
                  <a:schemeClr val="bg1"/>
                </a:solidFill>
                <a:latin typeface="Calibri"/>
                <a:cs typeface="Calibri"/>
              </a:rPr>
              <a:t>por“</a:t>
            </a:r>
            <a:r>
              <a:rPr sz="2354">
                <a:solidFill>
                  <a:schemeClr val="bg1"/>
                </a:solidFill>
                <a:latin typeface="Calibri"/>
                <a:cs typeface="Calibri"/>
              </a:rPr>
              <a:t>.</a:t>
            </a:r>
          </a:p>
          <a:p>
            <a:pPr lvl="1">
              <a:spcBef>
                <a:spcPts val="15"/>
              </a:spcBef>
              <a:buClr>
                <a:srgbClr val="204F52"/>
              </a:buClr>
              <a:buFont typeface="Symbol"/>
              <a:buChar char=""/>
            </a:pPr>
            <a:endParaRPr sz="2004">
              <a:latin typeface="Calibri"/>
              <a:cs typeface="Calibri"/>
            </a:endParaRPr>
          </a:p>
          <a:p>
            <a:pPr marL="720822" marR="921227" algn="ctr">
              <a:spcBef>
                <a:spcPts val="5"/>
              </a:spcBef>
            </a:pPr>
            <a:r>
              <a:rPr sz="1703" i="1" spc="-5">
                <a:latin typeface="Calibri"/>
                <a:cs typeface="Calibri"/>
              </a:rPr>
              <a:t>Automóvel</a:t>
            </a:r>
            <a:r>
              <a:rPr sz="1703" i="1" spc="10">
                <a:latin typeface="Calibri"/>
                <a:cs typeface="Calibri"/>
              </a:rPr>
              <a:t> </a:t>
            </a:r>
            <a:r>
              <a:rPr sz="1703" i="1">
                <a:latin typeface="Calibri"/>
                <a:cs typeface="Calibri"/>
              </a:rPr>
              <a:t>é</a:t>
            </a:r>
            <a:r>
              <a:rPr sz="1703" i="1" spc="5">
                <a:latin typeface="Calibri"/>
                <a:cs typeface="Calibri"/>
              </a:rPr>
              <a:t> </a:t>
            </a:r>
            <a:r>
              <a:rPr sz="1703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um</a:t>
            </a:r>
            <a:r>
              <a:rPr sz="1703" i="1" u="sng" spc="1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703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tipo</a:t>
            </a:r>
            <a:r>
              <a:rPr sz="1703" i="1" u="sng" spc="-5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de</a:t>
            </a:r>
            <a:r>
              <a:rPr sz="1703" i="1" spc="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veículo, </a:t>
            </a:r>
            <a:r>
              <a:rPr sz="1703" i="1">
                <a:latin typeface="Calibri"/>
                <a:cs typeface="Calibri"/>
              </a:rPr>
              <a:t>logo</a:t>
            </a:r>
            <a:r>
              <a:rPr sz="1703" i="1" spc="-5">
                <a:latin typeface="Calibri"/>
                <a:cs typeface="Calibri"/>
              </a:rPr>
              <a:t> se</a:t>
            </a:r>
            <a:r>
              <a:rPr sz="1703" i="1" spc="10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pressupõe uma</a:t>
            </a:r>
            <a:r>
              <a:rPr sz="1703" i="1" spc="10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relação</a:t>
            </a:r>
            <a:r>
              <a:rPr sz="1703" i="1" spc="-10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de</a:t>
            </a:r>
            <a:r>
              <a:rPr sz="1703" i="1" spc="25">
                <a:latin typeface="Calibri"/>
                <a:cs typeface="Calibri"/>
              </a:rPr>
              <a:t> </a:t>
            </a:r>
            <a:r>
              <a:rPr sz="1703" b="1" i="1" spc="-5">
                <a:solidFill>
                  <a:srgbClr val="FF0000"/>
                </a:solidFill>
                <a:latin typeface="Calibri"/>
                <a:cs typeface="Calibri"/>
              </a:rPr>
              <a:t>herança</a:t>
            </a:r>
            <a:r>
              <a:rPr sz="1703" i="1" spc="-5">
                <a:latin typeface="Calibri"/>
                <a:cs typeface="Calibri"/>
              </a:rPr>
              <a:t>.</a:t>
            </a:r>
            <a:r>
              <a:rPr sz="1703" i="1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Note </a:t>
            </a:r>
            <a:r>
              <a:rPr sz="1703" i="1" spc="-371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que</a:t>
            </a:r>
            <a:r>
              <a:rPr sz="1703" i="1">
                <a:latin typeface="Calibri"/>
                <a:cs typeface="Calibri"/>
              </a:rPr>
              <a:t> um</a:t>
            </a:r>
            <a:r>
              <a:rPr sz="1703" i="1" spc="5">
                <a:latin typeface="Calibri"/>
                <a:cs typeface="Calibri"/>
              </a:rPr>
              <a:t> </a:t>
            </a:r>
            <a:r>
              <a:rPr sz="1703" i="1">
                <a:latin typeface="Calibri"/>
                <a:cs typeface="Calibri"/>
              </a:rPr>
              <a:t>veículo</a:t>
            </a:r>
            <a:r>
              <a:rPr sz="1703" i="1" spc="-10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nunca</a:t>
            </a:r>
            <a:r>
              <a:rPr sz="1703" i="1" spc="5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poderá</a:t>
            </a:r>
            <a:r>
              <a:rPr sz="1703" i="1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ser</a:t>
            </a:r>
            <a:r>
              <a:rPr sz="1703" i="1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automóvel</a:t>
            </a:r>
            <a:r>
              <a:rPr sz="1703" i="1" spc="10">
                <a:latin typeface="Calibri"/>
                <a:cs typeface="Calibri"/>
              </a:rPr>
              <a:t> </a:t>
            </a:r>
            <a:r>
              <a:rPr sz="1703" i="1">
                <a:latin typeface="Calibri"/>
                <a:cs typeface="Calibri"/>
              </a:rPr>
              <a:t>e</a:t>
            </a:r>
            <a:r>
              <a:rPr sz="1703" i="1" spc="5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motocicleta</a:t>
            </a:r>
            <a:r>
              <a:rPr sz="1703" i="1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ao</a:t>
            </a:r>
            <a:r>
              <a:rPr sz="1703" i="1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mesmo</a:t>
            </a:r>
            <a:r>
              <a:rPr sz="1703" i="1" spc="5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tempo.</a:t>
            </a:r>
            <a:endParaRPr sz="1703">
              <a:latin typeface="Calibri"/>
              <a:cs typeface="Calibri"/>
            </a:endParaRPr>
          </a:p>
          <a:p>
            <a:pPr marL="703644" marR="907230" algn="ctr">
              <a:spcBef>
                <a:spcPts val="601"/>
              </a:spcBef>
            </a:pPr>
            <a:r>
              <a:rPr sz="1703" i="1">
                <a:latin typeface="Calibri"/>
                <a:cs typeface="Calibri"/>
              </a:rPr>
              <a:t>Já </a:t>
            </a:r>
            <a:r>
              <a:rPr sz="1703" i="1" spc="-5">
                <a:latin typeface="Calibri"/>
                <a:cs typeface="Calibri"/>
              </a:rPr>
              <a:t>funcionário</a:t>
            </a:r>
            <a:r>
              <a:rPr sz="1703" i="1" spc="-10">
                <a:latin typeface="Calibri"/>
                <a:cs typeface="Calibri"/>
              </a:rPr>
              <a:t> </a:t>
            </a:r>
            <a:r>
              <a:rPr sz="1703" i="1">
                <a:latin typeface="Calibri"/>
                <a:cs typeface="Calibri"/>
              </a:rPr>
              <a:t>e</a:t>
            </a:r>
            <a:r>
              <a:rPr sz="1703" i="1" spc="5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cliente são</a:t>
            </a:r>
            <a:r>
              <a:rPr sz="1703" i="1" spc="10">
                <a:latin typeface="Calibri"/>
                <a:cs typeface="Calibri"/>
              </a:rPr>
              <a:t> </a:t>
            </a:r>
            <a:r>
              <a:rPr sz="1703" i="1" u="sng" spc="-5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papéis</a:t>
            </a:r>
            <a:r>
              <a:rPr sz="1703" i="1" u="sng" spc="5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703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desempenhados</a:t>
            </a:r>
            <a:r>
              <a:rPr sz="1703" i="1" u="sng" spc="-1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703" i="1" u="sng" spc="-5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por</a:t>
            </a:r>
            <a:r>
              <a:rPr sz="1703" i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03" i="1" spc="-5">
                <a:solidFill>
                  <a:srgbClr val="FF0000"/>
                </a:solidFill>
                <a:latin typeface="Calibri"/>
                <a:cs typeface="Calibri"/>
              </a:rPr>
              <a:t>uma</a:t>
            </a:r>
            <a:r>
              <a:rPr sz="1703" i="1" spc="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03" i="1" spc="-5">
                <a:solidFill>
                  <a:srgbClr val="FF0000"/>
                </a:solidFill>
                <a:latin typeface="Calibri"/>
                <a:cs typeface="Calibri"/>
              </a:rPr>
              <a:t>pessoa</a:t>
            </a:r>
            <a:r>
              <a:rPr sz="1703" i="1" spc="-5">
                <a:latin typeface="Calibri"/>
                <a:cs typeface="Calibri"/>
              </a:rPr>
              <a:t>,</a:t>
            </a:r>
            <a:r>
              <a:rPr sz="1703" i="1">
                <a:latin typeface="Calibri"/>
                <a:cs typeface="Calibri"/>
              </a:rPr>
              <a:t> o</a:t>
            </a:r>
            <a:r>
              <a:rPr sz="1703" i="1" spc="5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que</a:t>
            </a:r>
            <a:r>
              <a:rPr sz="1703" i="1" spc="5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denota </a:t>
            </a:r>
            <a:r>
              <a:rPr sz="1703" i="1" spc="-371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uma</a:t>
            </a:r>
            <a:r>
              <a:rPr sz="1703" i="1" spc="30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relação</a:t>
            </a:r>
            <a:r>
              <a:rPr sz="1703" i="1" spc="10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de</a:t>
            </a:r>
            <a:r>
              <a:rPr sz="1703" i="1" spc="30">
                <a:latin typeface="Calibri"/>
                <a:cs typeface="Calibri"/>
              </a:rPr>
              <a:t> </a:t>
            </a:r>
            <a:r>
              <a:rPr sz="1703" b="1" i="1" spc="-5">
                <a:solidFill>
                  <a:srgbClr val="FF0000"/>
                </a:solidFill>
                <a:latin typeface="Calibri"/>
                <a:cs typeface="Calibri"/>
              </a:rPr>
              <a:t>composição</a:t>
            </a:r>
            <a:r>
              <a:rPr sz="1703" i="1" spc="-5">
                <a:latin typeface="Calibri"/>
                <a:cs typeface="Calibri"/>
              </a:rPr>
              <a:t>,</a:t>
            </a:r>
            <a:r>
              <a:rPr sz="1703" i="1" spc="15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pois</a:t>
            </a:r>
            <a:r>
              <a:rPr sz="1703" i="1" spc="30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os</a:t>
            </a:r>
            <a:r>
              <a:rPr sz="1703" i="1" spc="25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dados</a:t>
            </a:r>
            <a:r>
              <a:rPr sz="1703" i="1" spc="25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de</a:t>
            </a:r>
            <a:r>
              <a:rPr sz="1703" i="1" spc="25">
                <a:latin typeface="Calibri"/>
                <a:cs typeface="Calibri"/>
              </a:rPr>
              <a:t> </a:t>
            </a:r>
            <a:r>
              <a:rPr sz="1703" i="1">
                <a:latin typeface="Calibri"/>
                <a:cs typeface="Calibri"/>
              </a:rPr>
              <a:t>um</a:t>
            </a:r>
            <a:r>
              <a:rPr sz="1703" i="1" spc="30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funcionário</a:t>
            </a:r>
            <a:r>
              <a:rPr sz="1703" i="1" spc="15">
                <a:latin typeface="Calibri"/>
                <a:cs typeface="Calibri"/>
              </a:rPr>
              <a:t> </a:t>
            </a:r>
            <a:r>
              <a:rPr sz="1703" i="1" spc="-5">
                <a:solidFill>
                  <a:srgbClr val="FF0000"/>
                </a:solidFill>
                <a:latin typeface="Calibri"/>
                <a:cs typeface="Calibri"/>
              </a:rPr>
              <a:t>compõe</a:t>
            </a:r>
            <a:r>
              <a:rPr sz="1703" i="1" spc="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03" i="1" spc="-5">
                <a:solidFill>
                  <a:srgbClr val="FF0000"/>
                </a:solidFill>
                <a:latin typeface="Calibri"/>
                <a:cs typeface="Calibri"/>
              </a:rPr>
              <a:t>os</a:t>
            </a:r>
            <a:r>
              <a:rPr sz="1703" i="1" spc="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03" i="1" spc="-5">
                <a:solidFill>
                  <a:srgbClr val="FF0000"/>
                </a:solidFill>
                <a:latin typeface="Calibri"/>
                <a:cs typeface="Calibri"/>
              </a:rPr>
              <a:t>dados </a:t>
            </a:r>
            <a:r>
              <a:rPr sz="1703" i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03" i="1" spc="-5">
                <a:solidFill>
                  <a:srgbClr val="FF0000"/>
                </a:solidFill>
                <a:latin typeface="Calibri"/>
                <a:cs typeface="Calibri"/>
              </a:rPr>
              <a:t>de</a:t>
            </a:r>
            <a:r>
              <a:rPr sz="1703" i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03" i="1" spc="-5">
                <a:solidFill>
                  <a:srgbClr val="FF0000"/>
                </a:solidFill>
                <a:latin typeface="Calibri"/>
                <a:cs typeface="Calibri"/>
              </a:rPr>
              <a:t>uma</a:t>
            </a:r>
            <a:r>
              <a:rPr sz="1703" i="1" spc="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03" i="1" spc="-5">
                <a:solidFill>
                  <a:srgbClr val="FF0000"/>
                </a:solidFill>
                <a:latin typeface="Calibri"/>
                <a:cs typeface="Calibri"/>
              </a:rPr>
              <a:t>pessoa</a:t>
            </a:r>
            <a:r>
              <a:rPr sz="1703" i="1" spc="-5">
                <a:latin typeface="Calibri"/>
                <a:cs typeface="Calibri"/>
              </a:rPr>
              <a:t>,</a:t>
            </a:r>
            <a:r>
              <a:rPr sz="1703" i="1" spc="-10">
                <a:latin typeface="Calibri"/>
                <a:cs typeface="Calibri"/>
              </a:rPr>
              <a:t> </a:t>
            </a:r>
            <a:r>
              <a:rPr sz="1703" i="1">
                <a:latin typeface="Calibri"/>
                <a:cs typeface="Calibri"/>
              </a:rPr>
              <a:t>a</a:t>
            </a:r>
            <a:r>
              <a:rPr sz="1703" i="1" spc="5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qual</a:t>
            </a:r>
            <a:r>
              <a:rPr sz="1703" i="1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pode ser</a:t>
            </a:r>
            <a:r>
              <a:rPr sz="1703" i="1" spc="10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cliente</a:t>
            </a:r>
            <a:r>
              <a:rPr sz="1703" i="1" spc="-20">
                <a:latin typeface="Calibri"/>
                <a:cs typeface="Calibri"/>
              </a:rPr>
              <a:t> </a:t>
            </a:r>
            <a:r>
              <a:rPr sz="1703" i="1">
                <a:latin typeface="Calibri"/>
                <a:cs typeface="Calibri"/>
              </a:rPr>
              <a:t>e </a:t>
            </a:r>
            <a:r>
              <a:rPr sz="1703" i="1" spc="-5">
                <a:latin typeface="Calibri"/>
                <a:cs typeface="Calibri"/>
              </a:rPr>
              <a:t>funcionário</a:t>
            </a:r>
            <a:r>
              <a:rPr sz="1703" i="1" spc="10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ao</a:t>
            </a:r>
            <a:r>
              <a:rPr sz="1703" i="1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mesmo</a:t>
            </a:r>
            <a:r>
              <a:rPr sz="1703" i="1" spc="10">
                <a:latin typeface="Calibri"/>
                <a:cs typeface="Calibri"/>
              </a:rPr>
              <a:t> </a:t>
            </a:r>
            <a:r>
              <a:rPr sz="1703" i="1" spc="-5">
                <a:latin typeface="Calibri"/>
                <a:cs typeface="Calibri"/>
              </a:rPr>
              <a:t>tempo.</a:t>
            </a:r>
            <a:endParaRPr sz="1703">
              <a:latin typeface="Calibri"/>
              <a:cs typeface="Calibri"/>
            </a:endParaRPr>
          </a:p>
          <a:p>
            <a:pPr>
              <a:spcBef>
                <a:spcPts val="20"/>
              </a:spcBef>
            </a:pPr>
            <a:endParaRPr sz="2054">
              <a:latin typeface="Calibri"/>
              <a:cs typeface="Calibri"/>
            </a:endParaRPr>
          </a:p>
          <a:p>
            <a:pPr marL="641296" marR="5090" lvl="1" indent="-279931">
              <a:buClr>
                <a:srgbClr val="204F52"/>
              </a:buClr>
              <a:buFont typeface="Symbol"/>
              <a:buChar char=""/>
              <a:tabLst>
                <a:tab pos="641296" algn="l"/>
                <a:tab pos="641932" algn="l"/>
              </a:tabLst>
            </a:pPr>
            <a:r>
              <a:rPr sz="2354">
                <a:solidFill>
                  <a:schemeClr val="bg1"/>
                </a:solidFill>
                <a:latin typeface="Calibri"/>
                <a:cs typeface="Calibri"/>
              </a:rPr>
              <a:t>Quando</a:t>
            </a:r>
            <a:r>
              <a:rPr sz="2354" spc="-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spc="-20">
                <a:solidFill>
                  <a:schemeClr val="bg1"/>
                </a:solidFill>
                <a:latin typeface="Calibri"/>
                <a:cs typeface="Calibri"/>
              </a:rPr>
              <a:t>for</a:t>
            </a:r>
            <a:r>
              <a:rPr sz="2354" spc="-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spc="-10">
                <a:solidFill>
                  <a:schemeClr val="bg1"/>
                </a:solidFill>
                <a:latin typeface="Calibri"/>
                <a:cs typeface="Calibri"/>
              </a:rPr>
              <a:t>desejado,</a:t>
            </a:r>
            <a:r>
              <a:rPr sz="2354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spc="-5">
                <a:solidFill>
                  <a:schemeClr val="bg1"/>
                </a:solidFill>
                <a:latin typeface="Calibri"/>
                <a:cs typeface="Calibri"/>
              </a:rPr>
              <a:t>ou</a:t>
            </a:r>
            <a:r>
              <a:rPr sz="235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spc="-5">
                <a:solidFill>
                  <a:schemeClr val="bg1"/>
                </a:solidFill>
                <a:latin typeface="Calibri"/>
                <a:cs typeface="Calibri"/>
              </a:rPr>
              <a:t>necessário,</a:t>
            </a:r>
            <a:r>
              <a:rPr sz="235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spc="-10">
                <a:solidFill>
                  <a:schemeClr val="bg1"/>
                </a:solidFill>
                <a:latin typeface="Calibri"/>
                <a:cs typeface="Calibri"/>
              </a:rPr>
              <a:t>realizar</a:t>
            </a:r>
            <a:r>
              <a:rPr sz="2354" spc="2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spc="-10">
                <a:solidFill>
                  <a:schemeClr val="bg1"/>
                </a:solidFill>
                <a:latin typeface="Calibri"/>
                <a:cs typeface="Calibri"/>
              </a:rPr>
              <a:t>alterações</a:t>
            </a:r>
            <a:r>
              <a:rPr sz="235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>
                <a:solidFill>
                  <a:schemeClr val="bg1"/>
                </a:solidFill>
                <a:latin typeface="Calibri"/>
                <a:cs typeface="Calibri"/>
              </a:rPr>
              <a:t>globais</a:t>
            </a:r>
            <a:r>
              <a:rPr sz="235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spc="-5">
                <a:solidFill>
                  <a:schemeClr val="bg1"/>
                </a:solidFill>
                <a:latin typeface="Calibri"/>
                <a:cs typeface="Calibri"/>
              </a:rPr>
              <a:t>nas </a:t>
            </a:r>
            <a:r>
              <a:rPr sz="2354" spc="-521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spc="-15">
                <a:solidFill>
                  <a:schemeClr val="bg1"/>
                </a:solidFill>
                <a:latin typeface="Calibri"/>
                <a:cs typeface="Calibri"/>
              </a:rPr>
              <a:t>prováveis</a:t>
            </a:r>
            <a:r>
              <a:rPr sz="2354" spc="-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>
                <a:solidFill>
                  <a:schemeClr val="bg1"/>
                </a:solidFill>
                <a:latin typeface="Calibri"/>
                <a:cs typeface="Calibri"/>
              </a:rPr>
              <a:t>subclasses</a:t>
            </a:r>
            <a:r>
              <a:rPr sz="2354" spc="-5">
                <a:solidFill>
                  <a:schemeClr val="bg1"/>
                </a:solidFill>
                <a:latin typeface="Calibri"/>
                <a:cs typeface="Calibri"/>
              </a:rPr>
              <a:t> por</a:t>
            </a:r>
            <a:r>
              <a:rPr sz="2354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>
                <a:solidFill>
                  <a:schemeClr val="bg1"/>
                </a:solidFill>
                <a:latin typeface="Calibri"/>
                <a:cs typeface="Calibri"/>
              </a:rPr>
              <a:t>meio </a:t>
            </a:r>
            <a:r>
              <a:rPr sz="2354" spc="-5">
                <a:solidFill>
                  <a:schemeClr val="bg1"/>
                </a:solidFill>
                <a:latin typeface="Calibri"/>
                <a:cs typeface="Calibri"/>
              </a:rPr>
              <a:t>da</a:t>
            </a:r>
            <a:r>
              <a:rPr sz="235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spc="-10">
                <a:solidFill>
                  <a:schemeClr val="bg1"/>
                </a:solidFill>
                <a:latin typeface="Calibri"/>
                <a:cs typeface="Calibri"/>
              </a:rPr>
              <a:t>alteração</a:t>
            </a:r>
            <a:r>
              <a:rPr sz="235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spc="-5">
                <a:solidFill>
                  <a:schemeClr val="bg1"/>
                </a:solidFill>
                <a:latin typeface="Calibri"/>
                <a:cs typeface="Calibri"/>
              </a:rPr>
              <a:t>de</a:t>
            </a:r>
            <a:r>
              <a:rPr sz="235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spc="-5">
                <a:solidFill>
                  <a:schemeClr val="bg1"/>
                </a:solidFill>
                <a:latin typeface="Calibri"/>
                <a:cs typeface="Calibri"/>
              </a:rPr>
              <a:t>uma</a:t>
            </a:r>
            <a:r>
              <a:rPr sz="235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354" spc="-5">
                <a:solidFill>
                  <a:schemeClr val="bg1"/>
                </a:solidFill>
                <a:latin typeface="Calibri"/>
                <a:cs typeface="Calibri"/>
              </a:rPr>
              <a:t>superclasse.</a:t>
            </a:r>
            <a:endParaRPr sz="2354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25005" y="1206321"/>
            <a:ext cx="8863233" cy="5202028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365183" marR="5090" indent="-353095">
              <a:spcBef>
                <a:spcPts val="95"/>
              </a:spcBef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Caíque</a:t>
            </a:r>
            <a:r>
              <a:rPr sz="220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Cardoso;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5">
                <a:solidFill>
                  <a:schemeClr val="bg1"/>
                </a:solidFill>
                <a:latin typeface="Calibri"/>
                <a:cs typeface="Calibri"/>
              </a:rPr>
              <a:t>Orientação</a:t>
            </a:r>
            <a:r>
              <a:rPr sz="2204" spc="2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204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5">
                <a:solidFill>
                  <a:schemeClr val="bg1"/>
                </a:solidFill>
                <a:latin typeface="Calibri"/>
                <a:cs typeface="Calibri"/>
              </a:rPr>
              <a:t>Objetos</a:t>
            </a:r>
            <a:r>
              <a:rPr sz="2204" spc="3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na</a:t>
            </a:r>
            <a:r>
              <a:rPr sz="2204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20">
                <a:solidFill>
                  <a:schemeClr val="bg1"/>
                </a:solidFill>
                <a:latin typeface="Calibri"/>
                <a:cs typeface="Calibri"/>
              </a:rPr>
              <a:t>Prática</a:t>
            </a:r>
            <a:r>
              <a:rPr sz="2204" spc="3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–</a:t>
            </a:r>
            <a:r>
              <a:rPr sz="2204" spc="2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Aprendendo</a:t>
            </a:r>
            <a:r>
              <a:rPr sz="2204" spc="1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5">
                <a:solidFill>
                  <a:schemeClr val="bg1"/>
                </a:solidFill>
                <a:latin typeface="Calibri"/>
                <a:cs typeface="Calibri"/>
              </a:rPr>
              <a:t>Orientação </a:t>
            </a:r>
            <a:r>
              <a:rPr sz="2204" spc="-48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a </a:t>
            </a:r>
            <a:r>
              <a:rPr sz="2204" spc="-15">
                <a:solidFill>
                  <a:schemeClr val="bg1"/>
                </a:solidFill>
                <a:latin typeface="Calibri"/>
                <a:cs typeface="Calibri"/>
              </a:rPr>
              <a:t>Objetos</a:t>
            </a:r>
            <a:r>
              <a:rPr sz="2204" spc="2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5">
                <a:solidFill>
                  <a:schemeClr val="bg1"/>
                </a:solidFill>
                <a:latin typeface="Calibri"/>
                <a:cs typeface="Calibri"/>
              </a:rPr>
              <a:t>com</a:t>
            </a:r>
            <a:r>
              <a:rPr sz="2204" spc="2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20">
                <a:solidFill>
                  <a:schemeClr val="bg1"/>
                </a:solidFill>
                <a:latin typeface="Calibri"/>
                <a:cs typeface="Calibri"/>
              </a:rPr>
              <a:t>Java.</a:t>
            </a:r>
            <a:r>
              <a:rPr sz="220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Rio</a:t>
            </a:r>
            <a:r>
              <a:rPr sz="2204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de</a:t>
            </a:r>
            <a:r>
              <a:rPr sz="220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Janeiro:</a:t>
            </a:r>
            <a:r>
              <a:rPr sz="220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25">
                <a:solidFill>
                  <a:schemeClr val="bg1"/>
                </a:solidFill>
                <a:latin typeface="Calibri"/>
                <a:cs typeface="Calibri"/>
              </a:rPr>
              <a:t>Editora</a:t>
            </a:r>
            <a:r>
              <a:rPr sz="2204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Ciência</a:t>
            </a:r>
            <a:r>
              <a:rPr sz="220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Moderna,</a:t>
            </a:r>
            <a:r>
              <a:rPr sz="220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2006.</a:t>
            </a:r>
            <a:endParaRPr sz="2204">
              <a:solidFill>
                <a:schemeClr val="bg1"/>
              </a:solidFill>
              <a:latin typeface="Calibri"/>
              <a:cs typeface="Calibri"/>
            </a:endParaRPr>
          </a:p>
          <a:p>
            <a:pPr marL="365183" indent="-353095">
              <a:spcBef>
                <a:spcPts val="1803"/>
              </a:spcBef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Hélio</a:t>
            </a:r>
            <a:r>
              <a:rPr sz="220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Engholm</a:t>
            </a:r>
            <a:r>
              <a:rPr sz="2204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60">
                <a:solidFill>
                  <a:schemeClr val="bg1"/>
                </a:solidFill>
                <a:latin typeface="Calibri"/>
                <a:cs typeface="Calibri"/>
              </a:rPr>
              <a:t>Jr.;</a:t>
            </a:r>
            <a:r>
              <a:rPr sz="2204" spc="-1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Análise</a:t>
            </a:r>
            <a:r>
              <a:rPr sz="220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e Design 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Orientado</a:t>
            </a:r>
            <a:r>
              <a:rPr sz="2204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20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Objetos.</a:t>
            </a:r>
            <a:r>
              <a:rPr sz="2204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São</a:t>
            </a:r>
            <a:r>
              <a:rPr sz="220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Paulo:</a:t>
            </a:r>
            <a:endParaRPr sz="2204">
              <a:solidFill>
                <a:schemeClr val="bg1"/>
              </a:solidFill>
              <a:latin typeface="Calibri"/>
              <a:cs typeface="Calibri"/>
            </a:endParaRPr>
          </a:p>
          <a:p>
            <a:pPr marL="365183"/>
            <a:r>
              <a:rPr sz="2204" spc="-20">
                <a:solidFill>
                  <a:schemeClr val="bg1"/>
                </a:solidFill>
                <a:latin typeface="Calibri"/>
                <a:cs typeface="Calibri"/>
              </a:rPr>
              <a:t>Novatec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20">
                <a:solidFill>
                  <a:schemeClr val="bg1"/>
                </a:solidFill>
                <a:latin typeface="Calibri"/>
                <a:cs typeface="Calibri"/>
              </a:rPr>
              <a:t>Editora,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 2013.</a:t>
            </a:r>
            <a:endParaRPr sz="2204">
              <a:solidFill>
                <a:schemeClr val="bg1"/>
              </a:solidFill>
              <a:latin typeface="Calibri"/>
              <a:cs typeface="Calibri"/>
            </a:endParaRPr>
          </a:p>
          <a:p>
            <a:pPr marL="365183" marR="208675" indent="-353095">
              <a:spcBef>
                <a:spcPts val="1803"/>
              </a:spcBef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Martin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 Fowler;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UML</a:t>
            </a:r>
            <a:r>
              <a:rPr sz="220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Essencial</a:t>
            </a:r>
            <a:r>
              <a:rPr sz="2204" spc="2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–</a:t>
            </a:r>
            <a:r>
              <a:rPr sz="220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Um</a:t>
            </a:r>
            <a:r>
              <a:rPr sz="220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5">
                <a:solidFill>
                  <a:schemeClr val="bg1"/>
                </a:solidFill>
                <a:latin typeface="Calibri"/>
                <a:cs typeface="Calibri"/>
              </a:rPr>
              <a:t>Breve</a:t>
            </a:r>
            <a:r>
              <a:rPr sz="220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Guia </a:t>
            </a:r>
            <a:r>
              <a:rPr sz="2204" spc="-20">
                <a:solidFill>
                  <a:schemeClr val="bg1"/>
                </a:solidFill>
                <a:latin typeface="Calibri"/>
                <a:cs typeface="Calibri"/>
              </a:rPr>
              <a:t>para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 a 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Linguagem-padrão </a:t>
            </a:r>
            <a:r>
              <a:rPr sz="2204" spc="-481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de 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Modelagem</a:t>
            </a:r>
            <a:r>
              <a:rPr sz="2204" spc="3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de</a:t>
            </a:r>
            <a:r>
              <a:rPr sz="220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Objetos</a:t>
            </a:r>
            <a:r>
              <a:rPr sz="2204" spc="4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–</a:t>
            </a:r>
            <a:r>
              <a:rPr sz="2204" spc="1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3ª</a:t>
            </a:r>
            <a:r>
              <a:rPr sz="2204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5">
                <a:solidFill>
                  <a:schemeClr val="bg1"/>
                </a:solidFill>
                <a:latin typeface="Calibri"/>
                <a:cs typeface="Calibri"/>
              </a:rPr>
              <a:t>Edição.</a:t>
            </a:r>
            <a:r>
              <a:rPr sz="220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20">
                <a:solidFill>
                  <a:schemeClr val="bg1"/>
                </a:solidFill>
                <a:latin typeface="Calibri"/>
                <a:cs typeface="Calibri"/>
              </a:rPr>
              <a:t>Porto</a:t>
            </a:r>
            <a:r>
              <a:rPr sz="220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Alegre:</a:t>
            </a:r>
            <a:r>
              <a:rPr sz="220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Bookman:</a:t>
            </a:r>
            <a:r>
              <a:rPr sz="220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2005.</a:t>
            </a:r>
            <a:endParaRPr sz="2204">
              <a:solidFill>
                <a:schemeClr val="bg1"/>
              </a:solidFill>
              <a:latin typeface="Calibri"/>
              <a:cs typeface="Calibri"/>
            </a:endParaRPr>
          </a:p>
          <a:p>
            <a:pPr marL="365183" marR="765356" indent="-353095">
              <a:spcBef>
                <a:spcPts val="1808"/>
              </a:spcBef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r>
              <a:rPr sz="2204" spc="-15">
                <a:solidFill>
                  <a:schemeClr val="bg1"/>
                </a:solidFill>
                <a:latin typeface="Calibri"/>
                <a:cs typeface="Calibri"/>
              </a:rPr>
              <a:t>Pablo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5">
                <a:solidFill>
                  <a:schemeClr val="bg1"/>
                </a:solidFill>
                <a:latin typeface="Calibri"/>
                <a:cs typeface="Calibri"/>
              </a:rPr>
              <a:t>Dall’Oglio;</a:t>
            </a:r>
            <a:r>
              <a:rPr sz="220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PHP</a:t>
            </a:r>
            <a:r>
              <a:rPr sz="2204" spc="3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–</a:t>
            </a:r>
            <a:r>
              <a:rPr sz="220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Programando</a:t>
            </a:r>
            <a:r>
              <a:rPr sz="2204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5">
                <a:solidFill>
                  <a:schemeClr val="bg1"/>
                </a:solidFill>
                <a:latin typeface="Calibri"/>
                <a:cs typeface="Calibri"/>
              </a:rPr>
              <a:t>com</a:t>
            </a:r>
            <a:r>
              <a:rPr sz="2204" spc="2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5">
                <a:solidFill>
                  <a:schemeClr val="bg1"/>
                </a:solidFill>
                <a:latin typeface="Calibri"/>
                <a:cs typeface="Calibri"/>
              </a:rPr>
              <a:t>Orientação</a:t>
            </a:r>
            <a:r>
              <a:rPr sz="2204" spc="1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20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5">
                <a:solidFill>
                  <a:schemeClr val="bg1"/>
                </a:solidFill>
                <a:latin typeface="Calibri"/>
                <a:cs typeface="Calibri"/>
              </a:rPr>
              <a:t>Objetos</a:t>
            </a:r>
            <a:r>
              <a:rPr sz="2204" spc="5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–</a:t>
            </a:r>
            <a:r>
              <a:rPr sz="220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2ª </a:t>
            </a:r>
            <a:r>
              <a:rPr sz="2204" spc="-48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5">
                <a:solidFill>
                  <a:schemeClr val="bg1"/>
                </a:solidFill>
                <a:latin typeface="Calibri"/>
                <a:cs typeface="Calibri"/>
              </a:rPr>
              <a:t>Edição.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São</a:t>
            </a:r>
            <a:r>
              <a:rPr sz="220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Paulo:</a:t>
            </a:r>
            <a:r>
              <a:rPr sz="220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20">
                <a:solidFill>
                  <a:schemeClr val="bg1"/>
                </a:solidFill>
                <a:latin typeface="Calibri"/>
                <a:cs typeface="Calibri"/>
              </a:rPr>
              <a:t>Novatec</a:t>
            </a:r>
            <a:r>
              <a:rPr sz="2204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20">
                <a:solidFill>
                  <a:schemeClr val="bg1"/>
                </a:solidFill>
                <a:latin typeface="Calibri"/>
                <a:cs typeface="Calibri"/>
              </a:rPr>
              <a:t>Editora,</a:t>
            </a:r>
            <a:r>
              <a:rPr sz="220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2014.</a:t>
            </a:r>
            <a:endParaRPr sz="2204">
              <a:solidFill>
                <a:schemeClr val="bg1"/>
              </a:solidFill>
              <a:latin typeface="Calibri"/>
              <a:cs typeface="Calibri"/>
            </a:endParaRPr>
          </a:p>
          <a:p>
            <a:pPr marL="365183" indent="-353095">
              <a:spcBef>
                <a:spcPts val="1803"/>
              </a:spcBef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r>
              <a:rPr sz="2204" spc="-20">
                <a:solidFill>
                  <a:schemeClr val="bg1"/>
                </a:solidFill>
                <a:latin typeface="Calibri"/>
                <a:cs typeface="Calibri"/>
              </a:rPr>
              <a:t>Peter</a:t>
            </a:r>
            <a:r>
              <a:rPr sz="2204" spc="1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Jandl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Junior;</a:t>
            </a:r>
            <a:r>
              <a:rPr sz="220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25">
                <a:solidFill>
                  <a:schemeClr val="bg1"/>
                </a:solidFill>
                <a:latin typeface="Calibri"/>
                <a:cs typeface="Calibri"/>
              </a:rPr>
              <a:t>Java</a:t>
            </a:r>
            <a:r>
              <a:rPr sz="2204" spc="-1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–</a:t>
            </a:r>
            <a:r>
              <a:rPr sz="2204" spc="1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Guia do 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Programador</a:t>
            </a:r>
            <a:r>
              <a:rPr sz="220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–</a:t>
            </a:r>
            <a:r>
              <a:rPr sz="220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3ª</a:t>
            </a:r>
            <a:r>
              <a:rPr sz="220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5">
                <a:solidFill>
                  <a:schemeClr val="bg1"/>
                </a:solidFill>
                <a:latin typeface="Calibri"/>
                <a:cs typeface="Calibri"/>
              </a:rPr>
              <a:t>Edição.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 São</a:t>
            </a:r>
            <a:r>
              <a:rPr sz="220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Paulo:</a:t>
            </a:r>
            <a:endParaRPr sz="2204">
              <a:solidFill>
                <a:schemeClr val="bg1"/>
              </a:solidFill>
              <a:latin typeface="Calibri"/>
              <a:cs typeface="Calibri"/>
            </a:endParaRPr>
          </a:p>
          <a:p>
            <a:pPr marL="365183"/>
            <a:r>
              <a:rPr sz="2204" spc="-20">
                <a:solidFill>
                  <a:schemeClr val="bg1"/>
                </a:solidFill>
                <a:latin typeface="Calibri"/>
                <a:cs typeface="Calibri"/>
              </a:rPr>
              <a:t>Novatec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20">
                <a:solidFill>
                  <a:schemeClr val="bg1"/>
                </a:solidFill>
                <a:latin typeface="Calibri"/>
                <a:cs typeface="Calibri"/>
              </a:rPr>
              <a:t>Editora,</a:t>
            </a:r>
            <a:r>
              <a:rPr sz="220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2015.</a:t>
            </a:r>
            <a:endParaRPr sz="2204">
              <a:solidFill>
                <a:schemeClr val="bg1"/>
              </a:solidFill>
              <a:latin typeface="Calibri"/>
              <a:cs typeface="Calibri"/>
            </a:endParaRPr>
          </a:p>
          <a:p>
            <a:pPr marL="365183" indent="-353095">
              <a:spcBef>
                <a:spcPts val="1803"/>
              </a:spcBef>
              <a:buClr>
                <a:srgbClr val="204F52"/>
              </a:buClr>
              <a:buFont typeface="Symbol"/>
              <a:buChar char=""/>
              <a:tabLst>
                <a:tab pos="365183" algn="l"/>
                <a:tab pos="365819" algn="l"/>
              </a:tabLst>
            </a:pPr>
            <a:r>
              <a:rPr sz="2204" spc="-15">
                <a:solidFill>
                  <a:schemeClr val="bg1"/>
                </a:solidFill>
                <a:latin typeface="Calibri"/>
                <a:cs typeface="Calibri"/>
              </a:rPr>
              <a:t>Rafael</a:t>
            </a:r>
            <a:r>
              <a:rPr sz="2204" spc="2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5">
                <a:solidFill>
                  <a:schemeClr val="bg1"/>
                </a:solidFill>
                <a:latin typeface="Calibri"/>
                <a:cs typeface="Calibri"/>
              </a:rPr>
              <a:t>Santos;</a:t>
            </a:r>
            <a:r>
              <a:rPr sz="2204" spc="1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5">
                <a:solidFill>
                  <a:schemeClr val="bg1"/>
                </a:solidFill>
                <a:latin typeface="Calibri"/>
                <a:cs typeface="Calibri"/>
              </a:rPr>
              <a:t>Introdução</a:t>
            </a:r>
            <a:r>
              <a:rPr sz="2204" spc="1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à</a:t>
            </a:r>
            <a:r>
              <a:rPr sz="220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5">
                <a:solidFill>
                  <a:schemeClr val="bg1"/>
                </a:solidFill>
                <a:latin typeface="Calibri"/>
                <a:cs typeface="Calibri"/>
              </a:rPr>
              <a:t>Programação</a:t>
            </a:r>
            <a:r>
              <a:rPr sz="2204" spc="1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5">
                <a:solidFill>
                  <a:schemeClr val="bg1"/>
                </a:solidFill>
                <a:latin typeface="Calibri"/>
                <a:cs typeface="Calibri"/>
              </a:rPr>
              <a:t>Orientada</a:t>
            </a:r>
            <a:r>
              <a:rPr sz="220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204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5">
                <a:solidFill>
                  <a:schemeClr val="bg1"/>
                </a:solidFill>
                <a:latin typeface="Calibri"/>
                <a:cs typeface="Calibri"/>
              </a:rPr>
              <a:t>Objetos</a:t>
            </a:r>
            <a:r>
              <a:rPr sz="2204" spc="3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usando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25">
                <a:solidFill>
                  <a:schemeClr val="bg1"/>
                </a:solidFill>
                <a:latin typeface="Calibri"/>
                <a:cs typeface="Calibri"/>
              </a:rPr>
              <a:t>Java</a:t>
            </a:r>
            <a:endParaRPr sz="2204">
              <a:solidFill>
                <a:schemeClr val="bg1"/>
              </a:solidFill>
              <a:latin typeface="Calibri"/>
              <a:cs typeface="Calibri"/>
            </a:endParaRPr>
          </a:p>
          <a:p>
            <a:pPr marL="365183"/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– 2ª</a:t>
            </a:r>
            <a:r>
              <a:rPr sz="2204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edição.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Rio</a:t>
            </a:r>
            <a:r>
              <a:rPr sz="2204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de</a:t>
            </a:r>
            <a:r>
              <a:rPr sz="2204" spc="1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10">
                <a:solidFill>
                  <a:schemeClr val="bg1"/>
                </a:solidFill>
                <a:latin typeface="Calibri"/>
                <a:cs typeface="Calibri"/>
              </a:rPr>
              <a:t>Janeiro:</a:t>
            </a:r>
            <a:r>
              <a:rPr sz="2204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25">
                <a:solidFill>
                  <a:schemeClr val="bg1"/>
                </a:solidFill>
                <a:latin typeface="Calibri"/>
                <a:cs typeface="Calibri"/>
              </a:rPr>
              <a:t>Elsevier,</a:t>
            </a:r>
            <a:r>
              <a:rPr sz="2204" spc="5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4" spc="-5">
                <a:solidFill>
                  <a:schemeClr val="bg1"/>
                </a:solidFill>
                <a:latin typeface="Calibri"/>
                <a:cs typeface="Calibri"/>
              </a:rPr>
              <a:t>2013.</a:t>
            </a:r>
            <a:endParaRPr sz="2204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25005" y="325595"/>
            <a:ext cx="2457556" cy="636178"/>
          </a:xfrm>
          <a:prstGeom prst="rect">
            <a:avLst/>
          </a:prstGeom>
        </p:spPr>
        <p:txBody>
          <a:bodyPr vert="horz" wrap="square" lIns="0" tIns="12087" rIns="0" bIns="0" rtlCol="0">
            <a:spAutoFit/>
          </a:bodyPr>
          <a:lstStyle/>
          <a:p>
            <a:pPr marL="12724">
              <a:spcBef>
                <a:spcPts val="95"/>
              </a:spcBef>
            </a:pPr>
            <a:r>
              <a:rPr spc="-70">
                <a:solidFill>
                  <a:schemeClr val="bg1"/>
                </a:solidFill>
              </a:rPr>
              <a:t>R</a:t>
            </a:r>
            <a:r>
              <a:rPr spc="-30">
                <a:solidFill>
                  <a:schemeClr val="bg1"/>
                </a:solidFill>
              </a:rPr>
              <a:t>e</a:t>
            </a:r>
            <a:r>
              <a:rPr spc="-85">
                <a:solidFill>
                  <a:schemeClr val="bg1"/>
                </a:solidFill>
              </a:rPr>
              <a:t>f</a:t>
            </a:r>
            <a:r>
              <a:rPr spc="-10">
                <a:solidFill>
                  <a:schemeClr val="bg1"/>
                </a:solidFill>
              </a:rPr>
              <a:t>e</a:t>
            </a:r>
            <a:r>
              <a:rPr spc="-55">
                <a:solidFill>
                  <a:schemeClr val="bg1"/>
                </a:solidFill>
              </a:rPr>
              <a:t>r</a:t>
            </a:r>
            <a:r>
              <a:rPr spc="-10">
                <a:solidFill>
                  <a:schemeClr val="bg1"/>
                </a:solidFill>
              </a:rPr>
              <a:t>ências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0720DABF35F6F439F00D8FED6447939" ma:contentTypeVersion="3" ma:contentTypeDescription="Crie um novo documento." ma:contentTypeScope="" ma:versionID="cb15d42fa7c99a2cde485f0e0b870b78">
  <xsd:schema xmlns:xsd="http://www.w3.org/2001/XMLSchema" xmlns:xs="http://www.w3.org/2001/XMLSchema" xmlns:p="http://schemas.microsoft.com/office/2006/metadata/properties" xmlns:ns2="7c23e6d4-2c4c-42dd-a6bc-bcac175e7067" targetNamespace="http://schemas.microsoft.com/office/2006/metadata/properties" ma:root="true" ma:fieldsID="5d09c83bdf5a2d16e201273b2f51619e" ns2:_="">
    <xsd:import namespace="7c23e6d4-2c4c-42dd-a6bc-bcac175e70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23e6d4-2c4c-42dd-a6bc-bcac175e70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F3DCF67-0851-467D-B83E-64BF60982CB5}"/>
</file>

<file path=customXml/itemProps2.xml><?xml version="1.0" encoding="utf-8"?>
<ds:datastoreItem xmlns:ds="http://schemas.openxmlformats.org/officeDocument/2006/customXml" ds:itemID="{98C8EE30-3580-40EA-9F41-61E47E4E3C4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90E92F-1C9D-47A9-8532-4A99C74D8DDC}">
  <ds:schemaRefs>
    <ds:schemaRef ds:uri="6023cbf5-7a47-4e8d-916e-0b783c8dfd3a"/>
    <ds:schemaRef ds:uri="7bc641a7-997f-4048-a412-d593c6319208"/>
    <ds:schemaRef ds:uri="7e3d2bc7-1e8b-4412-b9e4-2111d76bd9c9"/>
    <ds:schemaRef ds:uri="c1029733-564d-4bfd-9b6f-6ff8339786f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1041</TotalTime>
  <Words>2467</Words>
  <Application>Microsoft Office PowerPoint</Application>
  <PresentationFormat>Widescreen</PresentationFormat>
  <Paragraphs>277</Paragraphs>
  <Slides>46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46</vt:i4>
      </vt:variant>
    </vt:vector>
  </HeadingPairs>
  <TitlesOfParts>
    <vt:vector size="47" baseType="lpstr">
      <vt:lpstr>Office Theme</vt:lpstr>
      <vt:lpstr>Apresentação do PowerPoint</vt:lpstr>
      <vt:lpstr>Relacionamentos entre Classes</vt:lpstr>
      <vt:lpstr>Composição</vt:lpstr>
      <vt:lpstr>Composição</vt:lpstr>
      <vt:lpstr>Composição</vt:lpstr>
      <vt:lpstr>Composição</vt:lpstr>
      <vt:lpstr>Composição</vt:lpstr>
      <vt:lpstr>Composição</vt:lpstr>
      <vt:lpstr>Exercício 1</vt:lpstr>
      <vt:lpstr>Exercício 2</vt:lpstr>
      <vt:lpstr>Exercício 3</vt:lpstr>
      <vt:lpstr>Herança</vt:lpstr>
      <vt:lpstr>Herança</vt:lpstr>
      <vt:lpstr>Herança</vt:lpstr>
      <vt:lpstr>Herança</vt:lpstr>
      <vt:lpstr>Herança</vt:lpstr>
      <vt:lpstr>Herança</vt:lpstr>
      <vt:lpstr>Herança</vt:lpstr>
      <vt:lpstr>Herança</vt:lpstr>
      <vt:lpstr>Herança</vt:lpstr>
      <vt:lpstr>Apresentação do PowerPoint</vt:lpstr>
      <vt:lpstr>Apresentação do PowerPoint</vt:lpstr>
      <vt:lpstr>Classes</vt:lpstr>
      <vt:lpstr>Final em classes  e métodos</vt:lpstr>
      <vt:lpstr>Herança</vt:lpstr>
      <vt:lpstr>Herança</vt:lpstr>
      <vt:lpstr>Herança</vt:lpstr>
      <vt:lpstr>Exemplo Diagrama de Classes Herança</vt:lpstr>
      <vt:lpstr>Exercício Herança</vt:lpstr>
      <vt:lpstr>Exercício Herança</vt:lpstr>
      <vt:lpstr>Exercício Herança</vt:lpstr>
      <vt:lpstr>Exercício Herança</vt:lpstr>
      <vt:lpstr>Exercício Herança</vt:lpstr>
      <vt:lpstr>Exercício Herança</vt:lpstr>
      <vt:lpstr>Exercício Herança</vt:lpstr>
      <vt:lpstr>Exercício Herança</vt:lpstr>
      <vt:lpstr>Exercicio 2</vt:lpstr>
      <vt:lpstr>Exercicio 3</vt:lpstr>
      <vt:lpstr>Exercicio 3 continuação </vt:lpstr>
      <vt:lpstr>Exercicio 3 continuação</vt:lpstr>
      <vt:lpstr>Exercicio 4</vt:lpstr>
      <vt:lpstr>Exercicio 4</vt:lpstr>
      <vt:lpstr>Links para Exemplo de Herança</vt:lpstr>
      <vt:lpstr>Herança x Composição</vt:lpstr>
      <vt:lpstr>Herança x Composição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Application &amp; Data Science</dc:title>
  <dc:creator>Logon PF Fiap</dc:creator>
  <cp:lastModifiedBy>Henrique Dias Pastor</cp:lastModifiedBy>
  <cp:revision>42</cp:revision>
  <dcterms:created xsi:type="dcterms:W3CDTF">2022-12-06T11:52:36Z</dcterms:created>
  <dcterms:modified xsi:type="dcterms:W3CDTF">2026-05-22T01:37:06Z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0x01010060720DABF35F6F439F00D8FED6447939</vt:lpwstr>
  </property>
  <property fmtid="{D5CDD505-2E9C-101B-9397-08002B2CF9AE}" pid="3" name="MediaServiceImageTags">
    <vt:lpwstr/>
  </property>
</Properties>
</file>